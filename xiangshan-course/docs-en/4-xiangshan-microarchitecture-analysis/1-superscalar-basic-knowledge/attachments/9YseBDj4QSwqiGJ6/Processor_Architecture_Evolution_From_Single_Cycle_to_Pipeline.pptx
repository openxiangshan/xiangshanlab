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7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带大家深入探讨处理器架构的演进历程。我们将从最基础的单周期处理器开始，逐步了解多周期和流水线架构，分析它们的原理、性能差异以及背后的设计权衡。希望通过这次分享，能帮助大家建立一个清晰的CPU工作模型认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9920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从指令执行的基础讲起，建立共识。然后，依次深入分析单周期、多周期和流水线这三种经典架构。接着，我们会探讨流水线带来的挑战及其解决方案。最后，进行总结对比，并展望现代高性能处理器的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00405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在深入探讨不同架构之前，我们必须先理解一个基础问题：CPU是如何执行一条指令的？这个看似简单的问题，是理解所有复杂架构的基石。接下来，我们将拆解一条指令的完整生命周期。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8571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何一条RISC-V指令，无论简单或复杂，其执行过程都可以被分解为五个标准阶段：取指、译码、执行、访存和写回。这个流程是固定的。而我们今天要讨论的单周期、多周期和流水线架构，它们的核心区别就在于如何调度这五个阶段的执行顺序和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99051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衡量CPU的性能，我们有一个黄金公式：程序执行总时间等于指令总数、CPI和时钟周期时间的乘积。其中，指令总数相对固定，而CPI和时钟周期时间则是处理器架构设计的核心优化目标。我们接下来的讨论，就是围绕如何通过架构创新来降低这两个值，从而提升整体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66293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现在，我们来看第一种架构——单周期处理器。这是所有处理器架构的起点，虽然它的性能不是最高的，但理解它的工作原理，对于我们掌握后续更复杂的架构至关重要。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330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周期处理器的定义非常直观：一条指令的所有五个阶段，从取指到写回，都在一个时钟周期内完成。就像工厂里的一条流水线，只有当一个产品从头到尾全部加工完成后，下一个产品才能进入流水线。这种设计非常简单，但也带来了明显的性能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21130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量化分析一下。假设每个阶段的延迟是0.5纳秒，那么一个完整的指令周期就需要2.5纳秒，这意味着CPU的主频上限只有400MHz。虽然它的CPI是理想的1，但极低的主频让它的实际性能非常有限。这就是单周期架构的“频率枷锁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88655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单周期架构的优缺点。它的优势在于简单，控制逻辑非常直观，几乎没有硬件冲突。但它的劣势也同样明显：主频太低，硬件资源大量闲置，性能浪费严重。因此，像香山这样的现代高性能处理器，绝不会采用这种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45762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为了解决单周期架构的频率瓶颈，工程师们提出了多周期处理器。它的核心思想是“分而治之”，通过拆分时钟周期来打破频率的枷锁。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40041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周期处理器的核心改变在于，它不再要求一个时钟周期完成所有工作。它把一个长周期拆成了多个短周期，每个周期只完成一个阶段的任务。同时，通过在阶段之间加入寄存器来保存中间结果，这使得ALU这样的核心硬件可以被复用，大大提高了资源利用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78066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上，多周期架构的优势立刻显现。时钟周期缩短到0.5纳秒，主频飙升至2GHz，是单周期的5倍。虽然CPI增加到了约4.2，但综合计算下来，执行100条指令的总时间从250纳秒减少到了210纳秒，性能提升了约16%。这是一个显著的进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1213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周期架构的优势在于主频和资源利用率的提升。但它的代价是控制逻辑变得更复杂，需要一个状态机来管理指令走到了哪个阶段。更重要的是，它本质上还是串行执行，同一时间只有一个阶段在工作，性能潜力仍未被完全挖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74803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接下来，我们将迎来性能的飞跃——流水线处理器。这是现代通用CPU的核心架构，它通过一个巧妙的设计，实现了性能的数量级提升。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06481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流水线的核心思想就像一条汽车装配线。当第一辆车完成了第一步装配，它会移动到第二步，同时第二辆车就可以进入第一步。这样，虽然单辆车的总装配时间没变，但整个工厂的产出效率大大提高。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CPU流水线也是如此，当第一条指令进入译码阶段，第二条指令就可以开始取指。一旦流水线填满，每个时钟周期就能完成一条指令，理想CPI接近1。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6078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性能提升是惊人的。同样执行100条指令，流水线架构只需要52纳秒，相比单周期提升了近5倍，相比多周期也提升了4倍。这证明了流水线设计的巨大成功。它完美地结合了高主频和低CPI，是现代CPU性能的基石。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53124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流水线的优势不言而喻，它带来了吞吐率的巨大提升。但它的代价也是最大的：控制逻辑极其复杂，因为并行执行不可避免地会产生各种冲突，也就是我们接下来要讲的“冒险”。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香山处理器正是在经典5级流水线的基础上，通过加深流水线、实现超标量和乱序执行等高级技术，将性能推向了新的高度。这也体现了我们在工程设计中对“权衡”二字的深刻理解。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84329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流水线虽然强大，但它并非完美。并行执行的背后，隐藏着各种潜在的冲突，我们称之为“冒险”。如何解决这些冒险，是衡量一个CPU设计水平的关键。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2025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水线冒险主要分为三类：结构冒险，即硬件资源冲突；数据冒险，即指令间的数据依赖；以及控制冒险，即分支跳转带来的不确定性。每一种冒险都有对应的解决方案，比如用哈佛架构解决结构冒险，用数据转发解决数据冒险，用分支预测解决控制冒险。理解这三种冒险及其应对策略，是掌握现代处理器架构性能优化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06102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工程实践中，这些解决方案是如何应用的呢？以香山为例，它采用哈佛架构来避免结构冒险；通过复杂的数据转发网络和乱序执行来解决数据冒险；并使用了业界顶尖的TAGE分支预测器来应对控制冒险，预测准确率高达99%以上，极大地减少了分支带来的性能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21102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最后，让我们对今天讨论的内容进行总结，回顾三类架构的核心差异，并看一看处理器架构未来的演进之路。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69266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总结了三种架构的核心差异。从单周期到多周期再到流水线，我们看到了一个清晰的演进路径：通过不断优化CPI和时钟周期时间，在硬件成本、复杂度和性能之间进行权衡，最终实现了性能的飞跃。流水线架构凭借其高主频和接近1的理想CPI，成为了现代高性能CPU的主流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93731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回顾整个演进之路，我们可以看到，每一步都在前人的基础上解决了核心痛点。从奠定基础的单周期，到提升主频上限的多周期，再到实现吞吐率飞跃的流水线，架构设计在不断进化。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以香山为代表的现代高性能处理器，则是站在经典流水线这个巨人的肩膀上，通过深度流水线、超标量、乱序执行等一系列先进技术，不断挑战性能的极限。这一切都印证了一个核心思想：架构设计的本质，就是在主频、CPI和硬件成本这三者之间，寻找最佳的平衡点。这不仅仅是技术的堆砌，更是精妙的工程权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12154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2805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5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3.sv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8.sv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4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32.svg"/><Relationship Id="rId4" Type="http://schemas.openxmlformats.org/officeDocument/2006/relationships/image" Target="../media/image18.png"/><Relationship Id="rId9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38.sv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1.svg"/><Relationship Id="rId3" Type="http://schemas.openxmlformats.org/officeDocument/2006/relationships/image" Target="../media/image2.jpeg"/><Relationship Id="rId7" Type="http://schemas.openxmlformats.org/officeDocument/2006/relationships/image" Target="../media/image45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5" Type="http://schemas.openxmlformats.org/officeDocument/2006/relationships/image" Target="../media/image53.sv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47.sv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32.svg"/><Relationship Id="rId4" Type="http://schemas.openxmlformats.org/officeDocument/2006/relationships/image" Target="../media/image18.png"/><Relationship Id="rId9" Type="http://schemas.openxmlformats.org/officeDocument/2006/relationships/image" Target="../media/image5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2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5.svg"/><Relationship Id="rId5" Type="http://schemas.openxmlformats.org/officeDocument/2006/relationships/image" Target="../media/image64.svg"/><Relationship Id="rId10" Type="http://schemas.openxmlformats.org/officeDocument/2006/relationships/image" Target="../media/image4.png"/><Relationship Id="rId4" Type="http://schemas.openxmlformats.org/officeDocument/2006/relationships/image" Target="../media/image35.png"/><Relationship Id="rId9" Type="http://schemas.openxmlformats.org/officeDocument/2006/relationships/image" Target="../media/image6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2.jpe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62.sv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svg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jpe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48.jpeg"/><Relationship Id="rId5" Type="http://schemas.openxmlformats.org/officeDocument/2006/relationships/image" Target="../media/image64.svg"/><Relationship Id="rId10" Type="http://schemas.openxmlformats.org/officeDocument/2006/relationships/image" Target="../media/image47.jpeg"/><Relationship Id="rId4" Type="http://schemas.openxmlformats.org/officeDocument/2006/relationships/image" Target="../media/image35.png"/><Relationship Id="rId9" Type="http://schemas.openxmlformats.org/officeDocument/2006/relationships/image" Target="../media/image8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处理器架构的演进：从单周期到流水线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单周期、多周期与流水线架构的原理、性能与设计权衡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48000" y="6096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 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1841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引言：指令执行的基石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一条RISC-V指令的完整旅程 | CPU性能的黄金公式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1841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单周期处理器：简单的起点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核心定义与执行逻辑 | 量化性能分析 | 设计权衡：优势与局限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3619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多周期处理器：时序的优化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核心定义与执行逻辑 | 量化性能分析 | 设计权衡：优势与局限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342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3683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66000" y="3619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流水线处理器：性能的飞跃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核心定义与执行逻辑 | 量化性能分析 | 设计权衡：优势与局限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270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5270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流水线的挑战：冒险与解决方案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结构/数据/控制冒险 | 工程解决方案与香山实践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5270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66000" y="5270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总结：核心对比与演进之路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三类架构核心差异对比 | 从经典流水线到高性能香山架构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引言：指令执行的基石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445000"/>
            <a:ext cx="990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理解CPU如何工作，是分析其架构的前提。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指令执行的五个标准阶段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CPU执行程序的本质，是将高级语言编译后的RISC-V指令，按固定流程完成执行。一条基础指令通常需依次完成5个标准阶段，共同构成了处理器的执行流水线。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032000" cy="266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6670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取指阶段</a:t>
            </a:r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从指令存储器中读取当前指令，并根据PC值计算下一条指令的地址。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2984500" y="2413000"/>
            <a:ext cx="2032000" cy="266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111500" y="26670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译码阶段</a:t>
            </a:r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解析指令的操作类型与操作数，并从寄存器文件中读取所需的源操作数。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207000" y="2413000"/>
            <a:ext cx="2032000" cy="266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334000" y="26670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EX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执行阶段</a:t>
            </a:r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通过算术逻辑单元(ALU)完成核心运算，如加减乘除、逻辑运算或有效地址计算。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29500" y="2413000"/>
            <a:ext cx="2032000" cy="266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556500" y="26670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MEM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访存阶段</a:t>
            </a:r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针对Load/Store类指令，访问数据存储器完成数据的读取(Load)或写入(Store)。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652000" y="2413000"/>
            <a:ext cx="2032000" cy="266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779000" y="26670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WB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写回阶段</a:t>
            </a:r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将指令的最终执行结果，写回到通用寄存器堆中，供后续指令使用。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5613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486400"/>
            <a:ext cx="9525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本文讲解的三类处理器架构（单周期、多周期、流水线），本质是</a:t>
            </a: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三种不同的指令执行调度模式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，直接决定了CPU的吞吐性能、硬件成本与设计复杂度。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衡量CPU性能的核心公式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程序执行总时间 =</a:t>
            </a:r>
            <a:r>
              <a:rPr lang="en-US" sz="28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指令总数</a:t>
            </a:r>
            <a:r>
              <a:rPr lang="en-US" sz="2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sz="28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CPI</a:t>
            </a:r>
            <a:r>
              <a:rPr lang="en-US" sz="2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sz="28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时钟周期时间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指令总数 (Instruction Count)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程序执行所需的RISC-V指令总条数。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决定因素：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由指令集架构（ISA）和编译器优化水平决定。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794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35500" y="298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CPI (Cycles Per Instruction)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556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单条指令的平均执行时钟周期数。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决定因素：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由指令执行的调度模式（即处理器架构）决定。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2794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18500" y="298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时钟周期时间 (Clock Cycle Time)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556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CPU的最小时序单位，与主频成反比（频率 = 1 / 时钟周期时间）。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决定因素：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由单周期内需要完成的最大逻辑延迟决定。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539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本章核心：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我们将探讨的三类架构，正是围绕</a:t>
            </a:r>
            <a:r>
              <a:rPr lang="en-US" sz="15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CPI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时钟周期时间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这两个核心变量展开的工程演进与设计权衡。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单周期处理器：简单的起点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最基础的架构，理解其原理是后续学习的基础。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核心定义：一次完成，简单直接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2200" y="15875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单周期处理器是最基础的架构，其核心特征是：</a:t>
            </a: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单条指令的所有有效执行阶段，在一个完整的时钟周期内串行完成。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3429000"/>
          </a:xfrm>
          <a:prstGeom prst="roundRect">
            <a:avLst>
              <a:gd name="adj" fmla="val 296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执行逻辑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93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指令执行流程：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IF (取指) → ID (译码) → EX (执行) → MEM (访存) → WB (写回)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953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执行特点：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严格串行，仅当前一条指令全流程执行完毕后，才启动下一条指令的取指与执行。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16000" y="584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84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硬件通路：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采用全串行通路，为每个阶段配置独立硬件单元。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921000"/>
            <a:ext cx="5207000" cy="3429000"/>
          </a:xfrm>
          <a:prstGeom prst="roundRect">
            <a:avLst>
              <a:gd name="adj" fmla="val 296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0"/>
          <a:srcRect l="-270" r="-68"/>
          <a:stretch/>
        </p:blipFill>
        <p:spPr>
          <a:xfrm>
            <a:off x="6322060" y="4254500"/>
            <a:ext cx="5008880" cy="744031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223000" y="584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图：单周期处理器指令执行时序与数据通路示意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性能分析：频率的枷锁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5748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49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假设前提：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我们设定处理器流水线中每个执行阶段的最大逻辑延迟均为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0.5ns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2667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603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时钟周期时间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需覆盖整条指令的最大逻辑延迟：5 × 0.5ns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= 2.5ns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477000" y="2667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2603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核心频率 (Frequency)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时钟频率是时钟周期的倒数：1 / 2.5ns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= 400 MHz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16000" y="4318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254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CPI (每指令周期数)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单周期架构中，每条指令固定占用一个时钟周期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CPI = 1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477000" y="4318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254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总执行时间 (100条指令)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指令数 × CPI × 时钟周期：100 × 1 × 2.5ns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= 250 ns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016000" y="5816600"/>
            <a:ext cx="558800" cy="558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57404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单周期架构的时钟周期必须由执行最慢的指令决定，导致CPU主频极低，严重限制了整体系统的性能潜力。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设计权衡：优势与局限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39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 · Pros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 控制逻辑极简：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无复杂状态机，电路结构简单，易于理解、实现与验证。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时序无冲突：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指令在单周期内完整执行，无中间结果缓存需求，天然规避指令间的数据冲突与控制冲突。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🎯 执行时序可预测：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 CPI = 1，执行时间完全确定，无动态执行波动。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739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核心局限 · Cons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🐢 频率上限极低：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处理器的时钟周期必须取所有指令中最长的延迟，无法独立优化高频指令，难以实现高性能。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📉 硬件资源利用率低：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取指、译码、执行、访存、写回各阶段的硬件单元，在同一周期内只有一个在工作，其他大量闲置。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💸 性能严重浪费：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简单指令（如算术运算）被强制拉长执行时间以对齐长延迟指令（如访存），造成严重的性能潜力浪费。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79500" y="54356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52705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香山工程视角：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香山系列高性能 RISC-V 处理器</a:t>
            </a:r>
            <a:r>
              <a:rPr lang="en-US" sz="14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未采用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单周期架构。其原因在于该架构无法满足现代处理器对主频、PPA（性能、功耗、面积）以及可扩展性的严苛要求，属于教学与入门级设计。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多周期处理器：时序的优化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通过拆分时钟周期，打破频率枷锁，提升性能潜力。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核心定义：分而治之，资源复用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多周期处理器是对单周期架构的时序优化，其核心特征是：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将单周期的长时钟周期拆分为多个短时钟周期，每个时钟周期仅完成指令的一个执行阶段。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6195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3810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引入流水线寄存器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在相邻阶段间插入寄存器，缓存中间结果与状态，确保每个周期只需完成单个阶段的逻辑。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1435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5461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5334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硬件资源复用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同一硬件单元（如ALU）可在不同周期为不同阶段服务，大幅降低芯片面积与成本。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889500"/>
          </a:xfrm>
          <a:prstGeom prst="roundRect">
            <a:avLst>
              <a:gd name="adj" fmla="val 20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rcRect l="58" t="-1295" r="325" b="1295"/>
          <a:stretch/>
        </p:blipFill>
        <p:spPr>
          <a:xfrm>
            <a:off x="6346830" y="3421380"/>
            <a:ext cx="4946010" cy="10210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413500" y="4572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多周期执行示意图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指令在不同时钟周期（Cycle）内，依次经过取指、译码、执行、访存、写回等阶段，实现硬件资源的分时复用。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性能分析：主频提升，CPI增加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549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524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沿用前提：单阶段最大逻辑延迟为</a:t>
            </a: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0.5ns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，以此为基准进行架构性能测算。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7686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仅需覆盖单阶段最大延迟，不再受最慢指令限制。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0.5 ns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67100" y="2540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721100" y="279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292600" y="27686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核心频率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42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基于单阶段延迟计算，较单周期架构提升显著。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2.0 GHz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(5倍速)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172200" y="2540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426200" y="279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97700" y="27686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平均 CPI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342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指令分阶段执行，不同指令消耗不同周期，平均约4.2。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≈ 4.2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77300" y="2540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131300" y="279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02800" y="27686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100条指令耗时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342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总时间 = 指令数 × CPI × 周期时间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210 ns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3000" y="53086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2032000" y="5207000"/>
            <a:ext cx="901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相比单周期架构，多周期架构通过“拆解得释放”，综合性能提升约</a:t>
            </a:r>
            <a:r>
              <a:rPr lang="en-US" sz="24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16%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。这种设计通过让指令按需消耗周期，有效避免了短延迟指令的性能浪费，大幅提升了系统吞吐量。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设计权衡：优势与局限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主频上限显著提升：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时钟周期大幅缩短，打破单周期的关键路径限制，具备更高的基础性能潜力。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硬件资源利用率高：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支持功能单元分时复用，在有限的面积内实现更均衡的 PPA（性能、功耗、面积）指标。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🧩 具备良好的可扩展性：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架构灵活，可方便地适配 RISC-V 乘除法等扩展指令集，适应不同场景需求。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核心局限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📉 平均 CPI 远高于 1：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指令执行需要多个周期，虽然提升了主频，但单条指令的执行耗时变长，抵消了部分收益。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🧠 控制逻辑复杂度激增：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必须引入复杂的状态机（Finite State Machine）来精确管理指令在不同阶段的流转。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🚦 执行效率仍有瓶颈：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本质上仍是串行执行，任何时刻只有一条指令在处理，硬件资源的并行潜力未被挖掘。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16000" y="5524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53975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香山工程视角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香山主流水线虽未采用纯多周期架构，但其核心设计思想——如对复杂指令的精细化拆分与执行、访存系统的多周期握手设计——已深度融入全流程，在追求高性能的同时兼顾了逻辑实现的工程可落地性。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流水线处理器：性能的飞跃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现代通用CPU的核心架构，通过指令重叠执行实现性能的数量级提升。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核心定义：重叠执行，并行之美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流水线处理器：现代CPU的效率引擎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将多个指令执行阶段拆分为独立的流水级并由寄存器隔离，实现“前一条指令进入下一级时，下一条指令即进入当前级”的操作模式，从而达成多条指令在硬件上的</a:t>
            </a:r>
            <a:r>
              <a:rPr lang="en-US" sz="13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重叠执行与并行处理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2117" r="2117"/>
          <a:stretch>
            <a:fillRect/>
          </a:stretch>
        </p:blipFill>
        <p:spPr>
          <a:xfrm>
            <a:off x="889000" y="2921000"/>
            <a:ext cx="4953000" cy="1905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223000" y="2794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0" y="2921000"/>
          <a:ext cx="4953000" cy="1960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812800"/>
                <a:gridCol w="812800"/>
                <a:gridCol w="812800"/>
                <a:gridCol w="812800"/>
                <a:gridCol w="812800"/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时钟周期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IF (取指)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 (译码)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 (执行)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MEM (访存)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WB (写回)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E40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478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5F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5F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In-1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5F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In-2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5F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In-3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65F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In-4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62000" y="520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39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延迟未变：单指令耗时恒定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单条指令走完5级流水依然需要5个完整的时钟周期，流水线技术并不能减少单条指令的绝对执行延迟。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520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477000" y="5461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539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吞吐倍增：理想CPI ≈ 1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一旦流水线“填满”，处理器在每个时钟周期都能完成一条指令的最终提交，吞吐量获得数倍提升。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性能分析：数量级的飞跃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47800" y="1879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沿用前提设定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单阶段最大逻辑延迟：</a:t>
            </a: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0.5ns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处理器时钟周期：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0.5ns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系统运行主频：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 GHz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990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30800" y="1879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总执行时间计算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540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执行100条指令耗时 (流水线深度 5):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(5 + 100 - 1) × 0.5ns = 104 × 0.5ns</a:t>
            </a: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最终耗时:</a:t>
            </a:r>
            <a:r>
              <a:rPr lang="en-US" sz="2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52 ns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82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13800" y="1879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架构性能对比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540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vs 单周期 (250ns):</a:t>
            </a: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↑ 4.8倍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vs 多周期 (210ns):</a:t>
            </a: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↑ 4.0倍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基于100条指令的平均吞吐率对比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699000"/>
            <a:ext cx="952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关键认知：流水线的本质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流水线架构并未缩短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单条指令的延迟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，但通过巧妙的并行设计，在保持极高主频的同时，将理想CPI无限逼近1，从而彻底释放了“时序拆分”带来的巨大主频红利，实现吞吐量的质的飞跃。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设计权衡：优势与局限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指令吞吐率数量级提升：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现代高性能CPU的核心基础，极大提升了单位时间内的指令处理能力。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硬件资源利用率接近最大化：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取指、译码、执行等各流水级硬件单元可并行工作，减少闲置。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架构可扩展性极强：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灵活支持加深流水线级数、拓宽发射宽度等方式来持续挖掘性能潜力。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核心局限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控制逻辑复杂度最高：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需精细处理数据、控制与结构冒险，增加了设计验证的难度与成本。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硬件面积与功耗开销：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需在流水级间插入大量流水线寄存器以切断时序路径，增加了额外开销。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流水线深度存在天花板：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级数过深会导致分支预测错误的代价增大，且对制造工艺提出更高要求。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l="4545" r="4545"/>
          <a:stretch>
            <a:fillRect/>
          </a:stretch>
        </p:blipFill>
        <p:spPr>
          <a:xfrm>
            <a:off x="1016000" y="4889500"/>
            <a:ext cx="2032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302000" y="4889500"/>
            <a:ext cx="774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香山工程视角：流水线的极致化实践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经典5级流水线是香山RISC-V处理器的基石。在此基础上，香山通过采用</a:t>
            </a:r>
            <a:r>
              <a:rPr lang="en-US" sz="13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11级深度流水线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提升单核主频至1.35GHz，引入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双发射超标量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设计大幅提升指令吞吐率，并结合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乱序执行架构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有效解决了数据冒险对流水线效率的影响，最终在平衡面积与性能中实现了最佳的工程设计。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流水线的挑战：冒险与解决方案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952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并行执行带来了新的冲突，需要精巧的工程手段来解决。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三大冒险：结构、数据与控制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494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多条指令在流水线内并行执行时，产生的资源、数据与控制层面的冲突，统称为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流水线冒险 (Pipeline Hazard)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。这三类问题直接制约了处理器的吞吐率与性能上限。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11383" r="11383"/>
          <a:stretch>
            <a:fillRect/>
          </a:stretch>
        </p:blipFill>
        <p:spPr>
          <a:xfrm>
            <a:off x="889000" y="2730500"/>
            <a:ext cx="3048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952500" y="419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结构冒险 (Structural Hazard)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核心原因：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多条指令在同一时钟周期内，同时争抢并试图占用同一个关键硬件资源。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典型场景：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IF级取指与MEM级访存同时需要访问单一的存储器。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解决方案：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资源冗余（如哈佛架构，分离指令与数据Cache）、插入气泡(Bubble)使流水线短暂停顿。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540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5566" b="25566"/>
          <a:stretch>
            <a:fillRect/>
          </a:stretch>
        </p:blipFill>
        <p:spPr>
          <a:xfrm>
            <a:off x="4572000" y="2730500"/>
            <a:ext cx="3048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635500" y="419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数据冒险 (Data Hazard)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核心原因：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后续指令依赖于前序指令的计算结果，但前序指令还未完成写回(WB)阶段，导致数据不可用。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典型场景：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`ADD R1, R2, R3` 计算结果未出，紧随其后的 `SUB R4, R1, R5` 即要读取R1。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解决方案：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数据转发(Forwarding)技术、软件重排指令顺序、流水线暂停或乱序执行(OOOE)。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2540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55000" y="27305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245600" y="3048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18500" y="419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控制冒险 (Control Hazard)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核心原因：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分支指令、中断或异常，改变了程序计数器(PC)的值，导致预取的后续指令全部失效。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典型场景：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程序中的 `if-else` 条件判断、函数调用与返回指令。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• 解决方案：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分支预测(Branch Prediction)、延迟分支槽(Delay Slot)、循环展开优化。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解决冒险的工程智慧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181" b="2181"/>
          <a:stretch>
            <a:fillRect/>
          </a:stretch>
        </p:blipFill>
        <p:spPr>
          <a:xfrm>
            <a:off x="952500" y="1841500"/>
            <a:ext cx="2921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结构冒险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445000"/>
            <a:ext cx="2921000" cy="508000"/>
          </a:xfrm>
          <a:prstGeom prst="roundRect">
            <a:avLst>
              <a:gd name="adj" fmla="val 15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450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核心方案：资源冗余设计 (哈佛架构)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香山工程实践：采用分离的I-Cache和D-Cache，配置多套功能单元，确保指令和数据通路并行不悖。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1841500"/>
            <a:ext cx="2921000" cy="1778000"/>
          </a:xfrm>
          <a:prstGeom prst="roundRect">
            <a:avLst>
              <a:gd name="adj" fmla="val 5714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461000" y="2222500"/>
            <a:ext cx="889000" cy="889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35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数据冒险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445000"/>
            <a:ext cx="2921000" cy="508000"/>
          </a:xfrm>
          <a:prstGeom prst="roundRect">
            <a:avLst>
              <a:gd name="adj" fmla="val 15000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762500" y="450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核心方案：数据转发 / 乱序执行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香山工程实践：实现全通路数据转发网络，结合乱序执行引擎与寄存器重命名技术，最大化数据利用率。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 l="6223" r="6223"/>
          <a:stretch>
            <a:fillRect/>
          </a:stretch>
        </p:blipFill>
        <p:spPr>
          <a:xfrm>
            <a:off x="8318500" y="1841500"/>
            <a:ext cx="2921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318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控制冒险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4445000"/>
            <a:ext cx="2921000" cy="508000"/>
          </a:xfrm>
          <a:prstGeom prst="roundRect">
            <a:avLst>
              <a:gd name="adj" fmla="val 15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445500" y="4508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核心方案：高精度分支预测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18500" y="5207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香山工程实践：采用业界领先的TAGE分支预测器，大幅降低流水线停顿，预测准确率高达99%以上。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总结：核心对比与演进之路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回顾三类架构的差异，展望未来的发展方向。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 vs. 多周期 vs. 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803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单周期处理器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921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核心逻辑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单指令在一个时钟周期内串行完成所有操作。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性能表现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CPI固定为1，但时钟周期受限于最慢指令，主频上限极低。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🏗️ 硬件特性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资源利用率极低，控制逻辑极简，但硬件成本与面积较高。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📍 适用场景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极简的嵌入式控制场景，教学模型。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803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多周期处理器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667000"/>
            <a:ext cx="2921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核心逻辑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单指令分拆到多个短周期内串行执行，各阶段分时复用硬件。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性能表现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CPI &gt; 1 (典型值 4-5)，时钟周期较短，主频中等。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🏗️ 硬件特性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资源利用率中等，控制逻辑复杂度中等，成本较低。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📍 适用场景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低功耗微控制器(MCU)，中端嵌入式控制。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803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流水线处理器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667000"/>
            <a:ext cx="2921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核心逻辑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多条指令在不同阶段重叠并行执行，空间换时间。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性能表现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CPI ≈ 1 (理想状态)，时钟周期极短，主频极高。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🏗️ 硬件特性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资源利用率极高，但控制逻辑最复杂，成本中等。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📍 适用场景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现代高性能通用CPU，RISC-V香山处理器等。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演进之路：从基础到巅峰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600200" cy="2413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82700" y="17145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413000"/>
            <a:ext cx="1346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单周期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奠定了指令执行流程的基础，确立了处理器最原始的运行范式。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2578100" y="1524000"/>
            <a:ext cx="1600200" cy="2413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098800" y="17145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705100" y="2413000"/>
            <a:ext cx="1346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多周期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拆分执行周期并实现硬件资源的分时复用，有效突破了单周期的主频限制。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94200" y="1524000"/>
            <a:ext cx="1600200" cy="2413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914900" y="17145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21200" y="2413000"/>
            <a:ext cx="1346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流水线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通过指令的“重叠执行”打破串行瓶颈，是实现吞吐率质的飞跃的关键。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32400" cy="2032000"/>
          </a:xfrm>
          <a:prstGeom prst="roundRect">
            <a:avLst>
              <a:gd name="adj" fmla="val 5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381500"/>
            <a:ext cx="4851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架构设计的本质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所有设计的底层逻辑，都是围绕</a:t>
            </a:r>
            <a:r>
              <a:rPr lang="en-US" sz="13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性能黄金公式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，在</a:t>
            </a:r>
            <a:r>
              <a:rPr lang="en-US" sz="13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主频 (Frequency)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CPI (每指令周期数)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300" b="1" i="0" u="none" strike="noStrike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硬件成本 (Cost)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三者之间寻找精妙的平衡点。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714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🏔 香山的继承与发展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经典5级流水线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为坚实基石，香山融合了</a:t>
            </a:r>
            <a:r>
              <a:rPr lang="en-US" sz="13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深度流水线、超标量多发射、乱序执行、高级分支预测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等一系列前沿技术，在经典架构之上完成了面向高性能场景的极致重构与优化。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 l="26567" r="26567"/>
          <a:stretch>
            <a:fillRect/>
          </a:stretch>
        </p:blipFill>
        <p:spPr>
          <a:xfrm>
            <a:off x="6477000" y="3302000"/>
            <a:ext cx="2222500" cy="2286000"/>
          </a:xfrm>
          <a:prstGeom prst="roundRect">
            <a:avLst>
              <a:gd name="adj" fmla="val 4571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 t="15059" b="15059"/>
          <a:stretch>
            <a:fillRect/>
          </a:stretch>
        </p:blipFill>
        <p:spPr>
          <a:xfrm>
            <a:off x="8953500" y="3302000"/>
            <a:ext cx="2222500" cy="2286000"/>
          </a:xfrm>
          <a:prstGeom prst="roundRect">
            <a:avLst>
              <a:gd name="adj" fmla="val 4571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477000" y="5715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超标量多发射架构示意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53500" y="5715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 (OOOE) 原理示意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0" y="2032000"/>
            <a:ext cx="635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0" y="3683000"/>
            <a:ext cx="635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5207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1925</Words>
  <Application>Microsoft Office PowerPoint</Application>
  <PresentationFormat>宽屏</PresentationFormat>
  <Paragraphs>343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KYTSJ-0043</cp:lastModifiedBy>
  <cp:revision>3</cp:revision>
  <dcterms:modified xsi:type="dcterms:W3CDTF">2026-05-11T10:26:23Z</dcterms:modified>
</cp:coreProperties>
</file>