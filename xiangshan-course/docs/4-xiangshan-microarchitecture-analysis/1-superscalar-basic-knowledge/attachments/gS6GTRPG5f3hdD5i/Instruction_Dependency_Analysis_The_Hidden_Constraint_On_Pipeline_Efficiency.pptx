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5" d="100"/>
          <a:sy n="155" d="100"/>
        </p:scale>
        <p:origin x="498" y="1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12.05.2026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将探讨一个决定处理器性能的核心概念——指令间的相关性。我们将深入分析数据相关、结构相关和控制相关是如何像隐形的枷锁一样，限制流水线效率的，并了解现代处理器是如何巧妙地解开这些枷锁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3963290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分享将分为三个部分。首先，我们会介绍什么是指令间的相关性，以及它和流水线冲突的关系。接着，我们将深入剖析四种数据相关性。最后，我们会总结现代处理器是如何应对这些相关性的，并展望未来的发展方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8089831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那么，什么是指令间的相关性呢？简单来说，就是指令之间存在依赖关系。一条指令可能需要另一条指令的结果，或者它们都需要使用同一个硬件资源。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这种相关性是限制处理器性能的根本原因，也是现代处理器架构设计的核心。如果我们处理不好，不仅程序会算错，CPU的性能也无法得到充分发挥。所以，理解相关性是我们学习现代微架构的基石。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2804382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之前讨论过流水线的三大冲突，其实它们都源于指令间的相关性。数据冲突源于数据相关，结构冲突源于资源相关，控制冲突源于控制相关。可以说，相关性是“因”，冲突是“果”。理解了相关性，我们才能真正掌握流水线优化的精髓。今天，我们将重点分析数据相关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3931278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相关性主要有四种形式，根据读写操作的顺序可以分为读后读、写后读、读后写和写后写。其中，写后读（RAW）是真正的数据依赖，是性能的主要瓶颈。而读后写（WAR）和写后写（WAW）是伪数据相关，主要在乱序执行中带来问题，但可以通过硬件技术优化。读后读（RAR）则是一种安全的、无冲突的相关，对性能无影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8857563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先看最简单的读后读，也就是RAR。这种情况是两条指令都读取同一个寄存器的值。因为它们都不修改数据，所以无论谁先谁后，结果都是一样的。因此，RAR不会引发任何冲突，对性能没有影响，是一种可以忽略的相关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7757089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看这个例子，两条指令都读取 t0 寄存器的值。它们之间没有任何依赖关系，所以在流水线中可以完全并行执行，处理器不需要做任何特殊处理。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9441277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写后读，也就是RAW。这是最核心的一种数据相关，我们称之为“真数据相关”。因为第二条指令的执行结果，完全依赖于第一条指令的写入结果。这种依赖是程序本身固有的，无法消除，是处理器性能优化必须面对的核心挑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141018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看这个例子，第二条加法指令需要用到第一条指令写入 t0 的值。在流水线中，当第二条指令需要这个值时，第一条指令可能还没完成写回操作。如果没有特殊处理，就会导致读取到错误的旧值，从而计算出错。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7543610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解决RAW冲突的主要方法是数据前推，也叫数据旁路。它的原理是把第一条指令在执行阶段产生的结果，直接“抄近道”送给第二条指令的执行单元，而不需要等它写回寄存器。这能解决绝大多数的RAW冲突。对于无法前推的情况，就只能暂停流水线，或者通过指令重排来隐藏延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928984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种是读后写，也就是WAR。这是一种“伪数据相关”。在严格按顺序执行的处理器中，它并不会造成问题。但在乱序执行处理器中，如果调度器把写操作提前到读操作之前，就会导致读操作读到错误的新值，从而引发冲突。所以说，它是乱序执行的一个“陷阱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3006176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看这个例子，按顺序执行时，第一条指令先读 t0 的旧值，第二条指令再写新值，结果正确。但如果处理器为了优化，把第二条写指令提前到第一条读指令之前执行，那么第一条指令就会错误地读到新值，导致结果出错。这就是读后写（WAR）冲突。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5395169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解决WAR冲突最有效的方法是寄存器重命名。处理器内部有很多物理寄存器，当检测到WAR冲突时，它会给写操作指令分配一个新的物理寄存器，而不是和读操作指令使用同一个。这样，读写操作就互不干扰了，从根本上消除了冲突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此外，乱序执行引擎中的调度器也可以发挥作用，通过主动检查指令间的依赖关系，在分发指令时避免将写操作指令调度到读操作指令之前，以此来规避冲突。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8921588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种是写后写，也就是WAW。这也是一种“伪数据相关”。按顺序执行时，最终寄存器的值是第二条指令的写入结果，符合预期。但在乱序执行中，如果第一条写指令因为某些原因被延迟，而第二条写指令先完成了，最后第一条指令的结果又覆盖了第二条的，就会导致最终结果错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4349034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看这个例子，两条指令都写 $t0 寄存器。按顺序执行，最终结果是20，正确。但如果第一条指令是个慢指令，第二条是个快指令，导致第二条先写完，然后第一条的结果又把它覆盖了，最终结果就变成了10，这就错了。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4037184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解决WAW冲突的方法和WAR类似，主要也是靠寄存器重命名。给两条写指令分配不同的物理寄存器，它们就不会冲突了。另外，重排序缓冲区（ROB）也起到了关键作用。它保证了即使指令乱序执行，最终的写回操作仍然是按程序顺序进行的，从而自然避免了WAW冲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5787910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来总结一下这四种数据相关性。RAW是真正的数据依赖，是性能的最大挑战。WAR和WAW是伪相关，主要在乱序执行中出现，可以通过寄存器重命名来解决。而RAR则完全没有影响。理解这四种相关性的区别和解决方法，是理解现代处理器工作原理的关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981385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代高性能处理器就是一部驾驭相关性的精密机器。从前端的分支预测，到乱序执行核心的寄存器重命名、调度器和ROB，再到后端的数据前推网络和丰富的执行单元，这些组件协同工作，共同解决了各种相关性带来的挑战，从而实现了高性能的并行执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4296536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想说，相关性分析是理解乱序执行的钥匙。正是因为有WAR和WAW这些伪相关的存在，才催生了寄存器重命名和ROB这些强大的硬件机制。希望今天的分享能帮助大家更好地理解处理器的内部工作原理。后续我们还会深入探讨流水线冲突和乱序执行的更多细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7483581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我的分享到此结束，感谢大家的聆听。现在是问答环节，欢迎大家提问交流。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827398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jpe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10.svg"/><Relationship Id="rId4" Type="http://schemas.openxmlformats.org/officeDocument/2006/relationships/image" Target="../media/image6.png"/><Relationship Id="rId9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2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svg"/><Relationship Id="rId5" Type="http://schemas.openxmlformats.org/officeDocument/2006/relationships/image" Target="../media/image10.png"/><Relationship Id="rId10" Type="http://schemas.openxmlformats.org/officeDocument/2006/relationships/image" Target="../media/image21.svg"/><Relationship Id="rId4" Type="http://schemas.openxmlformats.org/officeDocument/2006/relationships/image" Target="../media/image9.jpe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31.svg"/><Relationship Id="rId3" Type="http://schemas.openxmlformats.org/officeDocument/2006/relationships/image" Target="../media/image2.jpeg"/><Relationship Id="rId7" Type="http://schemas.openxmlformats.org/officeDocument/2006/relationships/image" Target="../media/image25.sv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11" Type="http://schemas.openxmlformats.org/officeDocument/2006/relationships/image" Target="../media/image29.svg"/><Relationship Id="rId5" Type="http://schemas.openxmlformats.org/officeDocument/2006/relationships/image" Target="../media/image23.svg"/><Relationship Id="rId10" Type="http://schemas.openxmlformats.org/officeDocument/2006/relationships/image" Target="../media/image16.png"/><Relationship Id="rId4" Type="http://schemas.openxmlformats.org/officeDocument/2006/relationships/image" Target="../media/image13.png"/><Relationship Id="rId9" Type="http://schemas.openxmlformats.org/officeDocument/2006/relationships/image" Target="../media/image27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jpeg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33.svg"/><Relationship Id="rId4" Type="http://schemas.openxmlformats.org/officeDocument/2006/relationships/image" Target="../media/image18.png"/><Relationship Id="rId9" Type="http://schemas.openxmlformats.org/officeDocument/2006/relationships/image" Target="../media/image37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jpeg"/><Relationship Id="rId7" Type="http://schemas.openxmlformats.org/officeDocument/2006/relationships/image" Target="../media/image3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5.svg"/><Relationship Id="rId4" Type="http://schemas.openxmlformats.org/officeDocument/2006/relationships/image" Target="../media/image14.png"/><Relationship Id="rId9" Type="http://schemas.openxmlformats.org/officeDocument/2006/relationships/image" Target="../media/image4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.jpe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11" Type="http://schemas.openxmlformats.org/officeDocument/2006/relationships/image" Target="../media/image49.svg"/><Relationship Id="rId5" Type="http://schemas.openxmlformats.org/officeDocument/2006/relationships/image" Target="../media/image45.svg"/><Relationship Id="rId10" Type="http://schemas.openxmlformats.org/officeDocument/2006/relationships/image" Target="../media/image27.png"/><Relationship Id="rId4" Type="http://schemas.openxmlformats.org/officeDocument/2006/relationships/image" Target="../media/image25.png"/><Relationship Id="rId9" Type="http://schemas.openxmlformats.org/officeDocument/2006/relationships/image" Target="../media/image47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svg"/><Relationship Id="rId5" Type="http://schemas.openxmlformats.org/officeDocument/2006/relationships/image" Target="../media/image8.png"/><Relationship Id="rId4" Type="http://schemas.openxmlformats.org/officeDocument/2006/relationships/image" Target="../media/image28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.jpeg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11" Type="http://schemas.openxmlformats.org/officeDocument/2006/relationships/image" Target="../media/image54.svg"/><Relationship Id="rId5" Type="http://schemas.openxmlformats.org/officeDocument/2006/relationships/image" Target="../media/image23.svg"/><Relationship Id="rId10" Type="http://schemas.openxmlformats.org/officeDocument/2006/relationships/image" Target="../media/image30.png"/><Relationship Id="rId4" Type="http://schemas.openxmlformats.org/officeDocument/2006/relationships/image" Target="../media/image13.png"/><Relationship Id="rId9" Type="http://schemas.openxmlformats.org/officeDocument/2006/relationships/image" Target="../media/image5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58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png"/><Relationship Id="rId5" Type="http://schemas.openxmlformats.org/officeDocument/2006/relationships/image" Target="../media/image56.sv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eg"/><Relationship Id="rId3" Type="http://schemas.openxmlformats.org/officeDocument/2006/relationships/image" Target="../media/image2.jpeg"/><Relationship Id="rId7" Type="http://schemas.openxmlformats.org/officeDocument/2006/relationships/image" Target="../media/image62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png"/><Relationship Id="rId5" Type="http://schemas.openxmlformats.org/officeDocument/2006/relationships/image" Target="../media/image60.sv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2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6.svg"/><Relationship Id="rId5" Type="http://schemas.openxmlformats.org/officeDocument/2006/relationships/image" Target="../media/image37.png"/><Relationship Id="rId10" Type="http://schemas.openxmlformats.org/officeDocument/2006/relationships/image" Target="../media/image8.svg"/><Relationship Id="rId4" Type="http://schemas.openxmlformats.org/officeDocument/2006/relationships/image" Target="../media/image36.jpeg"/><Relationship Id="rId9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8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png"/><Relationship Id="rId5" Type="http://schemas.openxmlformats.org/officeDocument/2006/relationships/image" Target="../media/image66.svg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指令间的相关性分析：</a:t>
            </a:r>
            <a:br>
              <a:rPr lang="en-US" sz="5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5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流水线效率的隐形枷锁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3810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深入理解数据相关、结构相关与控制相关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5080000"/>
            <a:ext cx="10160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5461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90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955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3048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引言：什么是</a:t>
            </a:r>
            <a:b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指令间的相关性？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4318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定义与核心概念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相关性与流水线冲突的内在联系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699000" y="20955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99000" y="3048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核心议题：</a:t>
            </a:r>
            <a:b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数据相关性详解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4191000"/>
            <a:ext cx="279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读后读 (RAR)：无冲突的依赖</a:t>
            </a:r>
            <a:b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写后读 (RAW)：真正的数据依赖</a:t>
            </a:r>
            <a:b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读后写 (WAR)：潜藏的反相关</a:t>
            </a:r>
            <a:b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写后写 (WAW)：易被忽视的输出相关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8382000" y="20955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82000" y="3048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总结与展望：</a:t>
            </a:r>
            <a:b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驾驭相关性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4318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四类相关性对比分析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现代处理器的应对策略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未来展望：从相关性到乱序执行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引言 - 什么是指令间的相关性？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66800" y="1905000"/>
            <a:ext cx="100584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spcAft>
                <a:spcPts val="1200"/>
              </a:spcAft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▌ 核心定义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在处理器流水线、超标量或乱序执行架构中，指令并非完全独立。后续指令可能依赖于前置指令的执行结果，或争夺相同的硬件资源（如寄存器、存储单元）。这种指令之间的依赖关系，被称为</a:t>
            </a:r>
            <a:r>
              <a:rPr lang="en-US" sz="15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指令间的相关性 (Inter-instruction Dependencies)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762000" y="3810000"/>
            <a:ext cx="1066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为何理解它至关重要？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4572000"/>
            <a:ext cx="3302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965200" y="4826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4800600"/>
            <a:ext cx="2286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性能瓶颈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相关性是限制处理器并行执行能力的根本原因，决定了单核性能的天花板。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445000" y="4572000"/>
            <a:ext cx="3302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4648200" y="4826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207000" y="4800600"/>
            <a:ext cx="2286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正确性基石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若处理不当，会导致乱序执行时指令间的数据被错误覆盖，使程序运行结果异常。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8128000" y="4572000"/>
            <a:ext cx="3302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8331200" y="4826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890000" y="4800600"/>
            <a:ext cx="2286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架构设计核心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现代CPU中，数据前推、寄存器重命名等关键技术，本质都是为了解决相关性的阻碍。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引言 - 相关性是流水线冲突的根源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66800" y="2159000"/>
            <a:ext cx="4597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回顾：流水线三大冲突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66800" y="31750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31242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数据冲突 (Data Hazard)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源于指令间的数据依赖与读写顺序的相关性。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1066800" y="4191000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778000" y="41402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结构冲突 (Structural Hazard)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源于多条指令在同一时刻争用处理器功能部件的资源相关性。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066800" y="52070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778000" y="51562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控制冲突 (Control Hazard)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源于分支、跳转等指令引起的指令流向改变的控制相关性。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527800" y="2159000"/>
            <a:ext cx="45974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20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“指令间的相关性是因，</a:t>
            </a:r>
            <a:br>
              <a:rPr lang="en-US" sz="20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20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流水线冲突是果。”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527800" y="3556000"/>
            <a:ext cx="4597400" cy="127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527800" y="3937000"/>
            <a:ext cx="4597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相关性是理解处理器微架构并行机制的底层逻辑。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掌握指令相关性的分类与识别方法，是掌握流水线冲突解决与性能优化技术的必要前提。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527800" y="5334000"/>
            <a:ext cx="4597400" cy="635000"/>
          </a:xfrm>
          <a:prstGeom prst="roundRect">
            <a:avLst>
              <a:gd name="adj" fmla="val 1600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654800" y="5461000"/>
            <a:ext cx="4343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本讲核心聚焦：</a:t>
            </a:r>
            <a:r>
              <a:rPr lang="en-US" sz="15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数据相关性 (Data Dependency)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数据相关性的四种形式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714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▍ 四种基本形式定义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286000"/>
            <a:ext cx="2349500" cy="889000"/>
          </a:xfrm>
          <a:prstGeom prst="roundRect">
            <a:avLst>
              <a:gd name="adj" fmla="val 11428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79500" y="2413000"/>
            <a:ext cx="209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读后读 (RAR)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Read After Read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连续读取同一数据，互不干扰</a:t>
            </a:r>
          </a:p>
        </p:txBody>
      </p:sp>
      <p:sp>
        <p:nvSpPr>
          <p:cNvPr id="8" name="AutoShape 8"/>
          <p:cNvSpPr/>
          <p:nvPr/>
        </p:nvSpPr>
        <p:spPr>
          <a:xfrm>
            <a:off x="3429000" y="2286000"/>
            <a:ext cx="2349500" cy="889000"/>
          </a:xfrm>
          <a:prstGeom prst="roundRect">
            <a:avLst>
              <a:gd name="adj" fmla="val 11428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3556000" y="2413000"/>
            <a:ext cx="209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写后读 (RAW)</a:t>
            </a:r>
            <a:r>
              <a:rPr lang="en-US" sz="1200" b="0" i="0" u="none" strike="noStrike">
                <a:solidFill>
                  <a:srgbClr val="60A5FA"/>
                </a:solidFill>
                <a:latin typeface="Noto Sans SC"/>
                <a:ea typeface="Noto Sans SC"/>
                <a:cs typeface="Noto Sans SC"/>
                <a:sym typeface="Noto Sans SC"/>
              </a:rPr>
              <a:t>Read After Write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读取前序指令写入的数据，强依赖</a:t>
            </a:r>
          </a:p>
        </p:txBody>
      </p:sp>
      <p:sp>
        <p:nvSpPr>
          <p:cNvPr id="10" name="AutoShape 10"/>
          <p:cNvSpPr/>
          <p:nvPr/>
        </p:nvSpPr>
        <p:spPr>
          <a:xfrm>
            <a:off x="952500" y="3302000"/>
            <a:ext cx="2349500" cy="889000"/>
          </a:xfrm>
          <a:prstGeom prst="roundRect">
            <a:avLst>
              <a:gd name="adj" fmla="val 11428"/>
            </a:avLst>
          </a:prstGeom>
          <a:solidFill>
            <a:srgbClr val="FFFB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79500" y="3429000"/>
            <a:ext cx="209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读后写 (WAR)</a:t>
            </a:r>
            <a:r>
              <a:rPr lang="en-US" sz="1200" b="0" i="0" u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Write After Read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后指令写入前指令读取的数据</a:t>
            </a:r>
          </a:p>
        </p:txBody>
      </p:sp>
      <p:sp>
        <p:nvSpPr>
          <p:cNvPr id="12" name="AutoShape 12"/>
          <p:cNvSpPr/>
          <p:nvPr/>
        </p:nvSpPr>
        <p:spPr>
          <a:xfrm>
            <a:off x="3429000" y="3302000"/>
            <a:ext cx="2349500" cy="889000"/>
          </a:xfrm>
          <a:prstGeom prst="roundRect">
            <a:avLst>
              <a:gd name="adj" fmla="val 11428"/>
            </a:avLst>
          </a:prstGeom>
          <a:solidFill>
            <a:srgbClr val="FFF1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3556000" y="3429000"/>
            <a:ext cx="209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BE123C"/>
                </a:solidFill>
                <a:latin typeface="Noto Sans SC"/>
                <a:ea typeface="Noto Sans SC"/>
                <a:cs typeface="Noto Sans SC"/>
                <a:sym typeface="Noto Sans SC"/>
              </a:rPr>
              <a:t>写后写 (WAW)</a:t>
            </a:r>
            <a:r>
              <a:rPr lang="en-US" sz="1200" b="0" i="0" u="none" strike="noStrike">
                <a:solidFill>
                  <a:srgbClr val="E11D48"/>
                </a:solidFill>
                <a:latin typeface="Noto Sans SC"/>
                <a:ea typeface="Noto Sans SC"/>
                <a:cs typeface="Noto Sans SC"/>
                <a:sym typeface="Noto Sans SC"/>
              </a:rPr>
              <a:t>Write After Write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连续指令对同一地址进行写入操作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rcRect t="135" b="135"/>
          <a:stretch>
            <a:fillRect/>
          </a:stretch>
        </p:blipFill>
        <p:spPr>
          <a:xfrm>
            <a:off x="6223000" y="1524000"/>
            <a:ext cx="5207000" cy="2921000"/>
          </a:xfrm>
          <a:prstGeom prst="roundRect">
            <a:avLst>
              <a:gd name="adj" fmla="val 5217"/>
            </a:avLst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5" name="AutoShape 15"/>
          <p:cNvSpPr/>
          <p:nvPr/>
        </p:nvSpPr>
        <p:spPr>
          <a:xfrm>
            <a:off x="762000" y="4699000"/>
            <a:ext cx="33782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952500" y="4889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397000" y="4889500"/>
            <a:ext cx="254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真数据相关 (True)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包含类型：RAW</a:t>
            </a:r>
          </a:p>
          <a:p>
            <a:pPr indent="0" algn="l">
              <a:lnSpc>
                <a:spcPct val="125000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存在真实的“先写后读”依赖，无法被硬件消除，是限制CPU指令级并行的主要瓶颈。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4406900" y="4699000"/>
            <a:ext cx="33782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4597400" y="48895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5041900" y="4889500"/>
            <a:ext cx="254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伪数据相关 (False)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包含类型：WAR, WAW</a:t>
            </a:r>
          </a:p>
          <a:p>
            <a:pPr indent="0" algn="l">
              <a:lnSpc>
                <a:spcPct val="125000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通常由寄存器资源不足引起。可通过“寄存器重命名”等乱序执行技术来消除冲突。</a:t>
            </a:r>
          </a:p>
        </p:txBody>
      </p:sp>
      <p:sp>
        <p:nvSpPr>
          <p:cNvPr id="21" name="AutoShape 21"/>
          <p:cNvSpPr/>
          <p:nvPr/>
        </p:nvSpPr>
        <p:spPr>
          <a:xfrm>
            <a:off x="8051800" y="4699000"/>
            <a:ext cx="33782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8242300" y="48895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8686800" y="4889500"/>
            <a:ext cx="254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无冲突相关 (No Conflict)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包含类型：RAR</a:t>
            </a:r>
          </a:p>
          <a:p>
            <a:pPr indent="0" algn="l">
              <a:lnSpc>
                <a:spcPct val="125000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指令间仅进行读操作，不改变数据状态，对处理器执行无负面影响，无需特殊处理。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4.1 读后读 (RAR) - 定义与特征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16000" y="17780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1714500"/>
            <a:ext cx="939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什么是读后读 (Read-After-Read)?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两条指令依次对同一个寄存器（或存储单元）执行“读操作”。数据流向无交叉，仅共享数据源。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指令模型：</a:t>
            </a:r>
            <a:r>
              <a:rPr lang="en-US" sz="1400" b="1" i="0" u="none" strike="noStrike">
                <a:solidFill>
                  <a:srgbClr val="3B82F6"/>
                </a:solidFill>
                <a:latin typeface="Menlo"/>
                <a:ea typeface="Menlo"/>
                <a:cs typeface="Menlo"/>
                <a:sym typeface="Menlo"/>
              </a:rPr>
              <a:t>I1: Read(X) → I2: Read(X)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3302000"/>
            <a:ext cx="3302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762000" y="3302000"/>
            <a:ext cx="33020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1016000" y="3556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24000" y="3530600"/>
            <a:ext cx="228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无冲突的相关性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由于两条指令都只进行“读”操作，不修改数据状态，因此它们之间不存在数据冲突。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4445000" y="3302000"/>
            <a:ext cx="3302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445000" y="3302000"/>
            <a:ext cx="33020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4699000" y="3556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207000" y="3530600"/>
            <a:ext cx="228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顺序无关性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无论两条指令以何种顺序执行（甚至完全并行），最终读取到的数据内容始终保持一致。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128000" y="3302000"/>
            <a:ext cx="3302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128000" y="3302000"/>
            <a:ext cx="33020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8382000" y="3556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890000" y="3530600"/>
            <a:ext cx="228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零性能影响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不会引发任何形式的数据冒险，处理器无需插入气泡，可以放心地并行或流水线执行。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762000" y="5461000"/>
            <a:ext cx="10668000" cy="1016000"/>
          </a:xfrm>
          <a:prstGeom prst="roundRect">
            <a:avLst>
              <a:gd name="adj" fmla="val 1500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1143000" y="5715000"/>
            <a:ext cx="508000" cy="508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905000" y="5651500"/>
            <a:ext cx="927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结论：读后读 (RAR) 是一种完全安全的、对程序执行无副作用的、可忽略的相关性。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读后读 (RAR) - 示例分析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66800" y="2082800"/>
            <a:ext cx="45974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💻 代码示例 (MIPS 汇编)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66800" y="2844800"/>
            <a:ext cx="4597400" cy="2413000"/>
          </a:xfrm>
          <a:prstGeom prst="roundRect">
            <a:avLst>
              <a:gd name="adj" fmla="val 4210"/>
            </a:avLst>
          </a:prstGeom>
          <a:solidFill>
            <a:srgbClr val="0F172A">
              <a:alpha val="100000"/>
            </a:srgbClr>
          </a:solidFill>
          <a:ln w="12700" cap="flat" cmpd="sng">
            <a:solidFill>
              <a:srgbClr val="47556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219200" y="3098800"/>
            <a:ext cx="42926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指令 I1: 读取寄存器 $t0 的值，赋值给 $t1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F8FAF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add $t1, $t0, $zero</a:t>
            </a:r>
          </a:p>
          <a:p>
            <a:pPr indent="0" algn="l">
              <a:lnSpc>
                <a:spcPct val="125000"/>
              </a:lnSpc>
            </a:pPr>
            <a:endParaRPr lang="en-US" sz="1600" b="0" i="0" u="none" strike="noStrike">
              <a:solidFill>
                <a:srgbClr val="F8FAFC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94A3B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指令 I2: 读取寄存器 $t0 的值，赋值给 $t2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F8FAF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add $t2, $t0, $zero</a:t>
            </a:r>
          </a:p>
        </p:txBody>
      </p:sp>
      <p:sp>
        <p:nvSpPr>
          <p:cNvPr id="8" name="AutoShape 8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527800" y="2082800"/>
            <a:ext cx="45974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🔍 核心分析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527800" y="2921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985000" y="28956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同址读取操作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两条指令 I1 和 I2 的操作对象均为寄存器 $t0，属于连续的读取行为。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527800" y="3937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985000" y="39116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无数据依赖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指令间没有RAW/WAR/WAW依赖，读取的是同一个未被修改的寄存器值，互不干扰。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6527800" y="4953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985000" y="49276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流水线全并行处理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处理器无需插入气泡（Stall）或进行数据转发（Forwarding），可完全并行执行。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4.2 写后读 (RAW) - 定义与特征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714500"/>
            <a:ext cx="685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 RAW 依赖？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程序中第一条指令对寄存器或存储单元执行“写操作”，第二条指令紧接着读取该位置的数据。即指令序列呈现出严格的时间与数据依赖关系。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8128000" y="1714500"/>
            <a:ext cx="3048000" cy="1016000"/>
          </a:xfrm>
          <a:prstGeom prst="roundRect">
            <a:avLst>
              <a:gd name="adj" fmla="val 10000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255000" y="18415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Roboto Mono"/>
                <a:ea typeface="Roboto Mono"/>
                <a:cs typeface="Roboto Mono"/>
                <a:sym typeface="Roboto Mono"/>
              </a:rPr>
              <a:t>I1: Write(X)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FBBF24"/>
                </a:solidFill>
                <a:latin typeface="Roboto Mono"/>
                <a:ea typeface="Roboto Mono"/>
                <a:cs typeface="Roboto Mono"/>
                <a:sym typeface="Roboto Mono"/>
              </a:rPr>
              <a:t>↓ (Data Flow)</a:t>
            </a:r>
          </a:p>
          <a:p>
            <a:pPr indent="0" algn="ctr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60A5FA"/>
                </a:solidFill>
                <a:latin typeface="Roboto Mono"/>
                <a:ea typeface="Roboto Mono"/>
                <a:cs typeface="Roboto Mono"/>
                <a:sym typeface="Roboto Mono"/>
              </a:rPr>
              <a:t>I2: Read(X)</a:t>
            </a:r>
          </a:p>
        </p:txBody>
      </p:sp>
      <p:sp>
        <p:nvSpPr>
          <p:cNvPr id="8" name="AutoShape 8"/>
          <p:cNvSpPr/>
          <p:nvPr/>
        </p:nvSpPr>
        <p:spPr>
          <a:xfrm>
            <a:off x="762000" y="3302000"/>
            <a:ext cx="3302000" cy="2794000"/>
          </a:xfrm>
          <a:prstGeom prst="roundRect">
            <a:avLst>
              <a:gd name="adj" fmla="val 545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16000" y="3556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24000" y="35560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真数据相关</a:t>
            </a: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(True Dependency)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4318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I2的读操作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必须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等待并依赖于I1的写操作完成。这是由程序的逻辑语义所决定的、不可避免的真实依赖关系。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445000" y="3302000"/>
            <a:ext cx="3302000" cy="2794000"/>
          </a:xfrm>
          <a:prstGeom prst="roundRect">
            <a:avLst>
              <a:gd name="adj" fmla="val 545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4699000" y="3556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207000" y="35560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流水线冒险诱因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699000" y="4318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如果流水线调度不当，I2可能在I1完成写回阶段前就读取数据，从而导致“先写后读”变成“先读后写”，读取到错误的旧数据。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28000" y="3302000"/>
            <a:ext cx="3302000" cy="2794000"/>
          </a:xfrm>
          <a:prstGeom prst="roundRect">
            <a:avLst>
              <a:gd name="adj" fmla="val 545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8382000" y="3556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890000" y="35560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无法消除的障碍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382000" y="4318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RAW 依赖是程序固有的逻辑属性，无法通过简单的编译器指令重排技术来消除，是限制处理器指令级并行(ILP)挖掘的核心瓶颈之一。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写后读 (RAW) - 示例分析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080000" cy="4445000"/>
          </a:xfrm>
          <a:prstGeom prst="roundRect">
            <a:avLst>
              <a:gd name="adj" fmla="val 3428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0800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2032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0A5FA"/>
                </a:solidFill>
                <a:latin typeface="Noto Sans SC"/>
                <a:ea typeface="Noto Sans SC"/>
                <a:cs typeface="Noto Sans SC"/>
                <a:sym typeface="Noto Sans SC"/>
              </a:rPr>
              <a:t>▍代码示例 (MIPS汇编)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794000"/>
            <a:ext cx="4572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指令 I1: 将立即数 10 写入寄存器 $t0 (写操作)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addi</a:t>
            </a:r>
            <a:r>
              <a:rPr lang="en-US" sz="1600" b="0" i="0" u="none" strike="noStrike">
                <a:solidFill>
                  <a:srgbClr val="3B82F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$t0</a:t>
            </a:r>
            <a:r>
              <a:rPr lang="en-US" sz="16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, $zero, 10</a:t>
            </a:r>
            <a:endParaRPr lang="en-US" sz="1100"/>
          </a:p>
          <a:p>
            <a:pPr indent="0" algn="l">
              <a:lnSpc>
                <a:spcPct val="133333"/>
              </a:lnSpc>
              <a:spcBef>
                <a:spcPts val="2000"/>
              </a:spcBef>
            </a:pPr>
            <a:r>
              <a:rPr lang="en-US" sz="1400" b="0" i="0" u="none" strike="noStrike">
                <a:solidFill>
                  <a:srgbClr val="94A3B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指令 I2: 读取 $t0 与 $t1 相加，结果存入 $t2 (读后写)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add</a:t>
            </a:r>
            <a:r>
              <a:rPr lang="en-US" sz="1600" b="0" i="0" u="none" strike="noStrike">
                <a:solidFill>
                  <a:srgbClr val="FBBF2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$t2</a:t>
            </a:r>
            <a:r>
              <a:rPr lang="en-US" sz="16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, $t1,</a:t>
            </a:r>
            <a:r>
              <a:rPr lang="en-US" sz="1600" b="0" i="0" u="none" strike="noStrike">
                <a:solidFill>
                  <a:srgbClr val="F8717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$t0</a:t>
            </a:r>
          </a:p>
          <a:p>
            <a:pPr indent="0" algn="l">
              <a:lnSpc>
                <a:spcPct val="116666"/>
              </a:lnSpc>
              <a:spcBef>
                <a:spcPts val="3000"/>
              </a:spcBef>
            </a:pPr>
            <a:r>
              <a:rPr lang="en-US" sz="13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潜在风险：I2 计算依赖 I1 的写入结果，但流水线并行执行可能导致读取到旧值。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6223000" y="1651000"/>
            <a:ext cx="5207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477000" y="1905000"/>
            <a:ext cx="4699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问题核心：流水线数据冲突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依赖关系：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指令 I2 的正确性完全依赖于指令 I1 对寄存器</a:t>
            </a:r>
            <a:r>
              <a:rPr lang="en-US" sz="1300" b="0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$t0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的更新结果（即数值 10）。</a:t>
            </a: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时序错位：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在标准五级流水线中，I1 的写回(WB)发生在第5周期，但 I2 的执行(EX)在第3周期就需要读入 $t0 的值。</a:t>
            </a: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后果：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若无数据前推(Forwarding)等硬件优化，I2 将读取 $t0 的“旧值”，引发计算错误。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rcRect t="23237" b="23237"/>
          <a:stretch>
            <a:fillRect/>
          </a:stretch>
        </p:blipFill>
        <p:spPr>
          <a:xfrm>
            <a:off x="6223000" y="4318000"/>
            <a:ext cx="5207000" cy="1778000"/>
          </a:xfrm>
          <a:prstGeom prst="roundRect">
            <a:avLst>
              <a:gd name="adj" fmla="val 8571"/>
            </a:avLst>
          </a:prstGeom>
          <a:noFill/>
          <a:ln w="25400" cap="flat" cmpd="sng">
            <a:solidFill>
              <a:srgbClr val="2B2F3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写后读 (RAW) - 常见解决方式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rcRect l="1104" r="151"/>
          <a:stretch/>
        </p:blipFill>
        <p:spPr>
          <a:xfrm>
            <a:off x="362540" y="2932737"/>
            <a:ext cx="5497920" cy="2299663"/>
          </a:xfrm>
          <a:prstGeom prst="rect">
            <a:avLst/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6223000" y="17780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223000" y="1778000"/>
            <a:ext cx="76200" cy="1397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6477000" y="19304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1. 数据前推 (Forwarding / Bypassing)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原理：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将I1在执行或访存阶段产生的结果，直接通过内部总线传递到I2的执行阶段输入端口。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效果：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无需等待写回阶段，极大减少流水线停顿。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6223000" y="34290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223000" y="3429000"/>
            <a:ext cx="76200" cy="1397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477000" y="35814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2. 流水线暂停 (Stall / Bubble Insertion)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原理：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检测到无法前推的RAW冲突时，临时暂停后续指令1-2个周期，直至数据就绪。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效果：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保证程序执行正确性，但会带来一定的性能损失。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223000" y="50800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223000" y="5080000"/>
            <a:ext cx="76200" cy="1397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477000" y="52324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3. 指令重排 (Instruction Reordering)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原理：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由编译器或乱序执行单元调度，将不相关指令插入等待周期，填充流水线“气泡”。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效果：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有效隐藏RAW冲突带来的延迟，提升整体吞吐量。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4.3 读后写 (WAR) - 定义与特征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66800" y="18796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032000" y="1714500"/>
            <a:ext cx="914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📌 定义 (Definition)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第一条指令读取某个寄存器或存储单元的数据，第二条指令在其之后对该位置执行写操作。即：</a:t>
            </a:r>
            <a:r>
              <a:rPr lang="en-US" sz="1400" b="1" i="0" u="none" strike="noStrike">
                <a:solidFill>
                  <a:srgbClr val="3B82F6"/>
                </a:solidFill>
                <a:highlight>
                  <a:srgbClr val="EFF6FF">
                    <a:alpha val="100000"/>
                  </a:srgbClr>
                </a:highlight>
                <a:latin typeface="Consolas"/>
                <a:ea typeface="Consolas"/>
                <a:cs typeface="Consolas"/>
                <a:sym typeface="Consolas"/>
              </a:rPr>
              <a:t>I1: Read(X) → I2: Write(X)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3429000"/>
            <a:ext cx="3302000" cy="2667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1016000" y="3683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3683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反相关</a:t>
            </a:r>
            <a:br>
              <a:rPr lang="en-US" sz="17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7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(Anti-dependency)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572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写操作在逻辑上必须依赖于读操作的完成，以保证读取到正确的数据版本。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45000" y="3429000"/>
            <a:ext cx="3302000" cy="2667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4699000" y="3683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207000" y="36830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伪数据相关</a:t>
            </a:r>
            <a:br>
              <a:rPr lang="en-US" sz="17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7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(False Dependency)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99000" y="4572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在严格按序执行的处理器中，WAR并不会引发实际冲突。I1 先读旧值，I2 后写新值，程序结果符合预期。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28000" y="3429000"/>
            <a:ext cx="3302000" cy="2667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8382000" y="3683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890000" y="36830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乱序执行的“陷阱”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82000" y="4572000"/>
            <a:ext cx="279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该冲突仅在乱序执行架构中显现。若调度器错误地将写指令 (I2) 提前到读指令 (I1) 之前，会导致 I1 错误地读取到 I2 写入的新值。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读后写 (WAR) - 示例分析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968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✅ 按序执行（无冲突）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794000"/>
            <a:ext cx="4699000" cy="1524000"/>
          </a:xfrm>
          <a:prstGeom prst="roundRect">
            <a:avLst>
              <a:gd name="adj" fmla="val 6666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206500" y="2984500"/>
            <a:ext cx="431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# 指令I1：读取 $t0 旧值与 $t1 相加写入 $t2</a:t>
            </a:r>
            <a:br>
              <a:rPr lang="en-US" sz="1300" b="0" i="0" u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300" b="0" i="0" u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add $t2, $t1, $t0</a:t>
            </a:r>
            <a:br>
              <a:rPr lang="en-US" sz="1300" b="0" i="0" u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300" b="0" i="0" u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# 指令I2：将立即数20写入寄存器 $t0</a:t>
            </a:r>
            <a:br>
              <a:rPr lang="en-US" sz="1300" b="0" i="0" u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300" b="0" i="0" u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addi $t0, $zero, 20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45720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分析结果：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I1 先执行，正确读取了寄存器 $t0 的“旧值”进行计算；随后 I2 执行，将 $t0 赋值为 20。指令执行顺序符合程序语义逻辑，最终计算结果正确。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477000" y="1968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乱序执行（潜在冲突）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794000"/>
            <a:ext cx="4699000" cy="1524000"/>
          </a:xfrm>
          <a:prstGeom prst="roundRect">
            <a:avLst>
              <a:gd name="adj" fmla="val 6666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DBA74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667500" y="2984500"/>
            <a:ext cx="431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7C2D12"/>
                </a:solidFill>
                <a:latin typeface="Noto Sans SC"/>
                <a:ea typeface="Noto Sans SC"/>
                <a:cs typeface="Noto Sans SC"/>
                <a:sym typeface="Noto Sans SC"/>
              </a:rPr>
              <a:t>优化陷阱：</a:t>
            </a:r>
            <a:r>
              <a:rPr lang="en-US" sz="1300" b="0" i="0" u="none" strike="noStrike">
                <a:solidFill>
                  <a:srgbClr val="431407"/>
                </a:solidFill>
                <a:latin typeface="Noto Sans SC"/>
                <a:ea typeface="Noto Sans SC"/>
                <a:cs typeface="Noto Sans SC"/>
                <a:sym typeface="Noto Sans SC"/>
              </a:rPr>
              <a:t>若处理器为提升吞吐量，将不具备明显数据依赖的指令重排，把 I2 提前至 I1 之前执行。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77000" y="45720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分析结果：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I2 抢先执行，导致 I1 错误地读取到了 $t0 的“新值 20”参与计算，违背了程序员的原始意图，最终导致程序逻辑错误。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读后写 (WAR) - 常见解决方式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解决 WAR 冲突的关键在于打破“名字依赖”，让读写操作不再指向同一个物理资源。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4"/>
          <a:srcRect t="529" b="590"/>
          <a:stretch/>
        </p:blipFill>
        <p:spPr>
          <a:xfrm>
            <a:off x="1501345" y="2032000"/>
            <a:ext cx="3492500" cy="239656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952500" y="4381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01. 寄存器重命名 (Register Renaming)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4953000"/>
            <a:ext cx="4826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原理：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利用处理器内部丰富的物理寄存器资源，为写操作指令分配新的空闲物理寄存器，而非与读操作共用同一个。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效果：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读写操作分别访问不同的物理寄存器，彻底消除了名字依赖，是解决 WAR 和 WAW 冲突的最有效手段。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6223000" y="2032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477000" y="2413000"/>
            <a:ext cx="762000" cy="762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493000" y="2476500"/>
            <a:ext cx="368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02. 乱序调度优化</a:t>
            </a:r>
            <a:br>
              <a:rPr lang="en-US" sz="18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8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(Scheduler Optimization)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3683000"/>
            <a:ext cx="4699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核心逻辑：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4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乱序执行引擎的调度器在分发指令到各执行单元时，会主动进行依赖检查。</a:t>
            </a:r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具体措施：</a:t>
            </a:r>
          </a:p>
          <a:p>
            <a:pPr indent="0" algn="l">
              <a:lnSpc>
                <a:spcPct val="116666"/>
              </a:lnSpc>
              <a:spcBef>
                <a:spcPts val="4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通过调度算法，避免将存在 WAR 依赖关系的“写操作指令”提前调度到“读操作指令”之前执行，从而规避数据冲突的风险。这是一种软件级的调度策略补充。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4.4 写后写 (WAW) - 定义与特征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66800" y="18415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032000" y="17145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什么是写后写 (WAW)？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两条指令依次对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同一个寄存器或存储单元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执行“写操作”。前一条指令的写操作被后一条指令的写操作覆盖，从而可能产生潜在的数据冲突。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6858000" y="1714500"/>
            <a:ext cx="4064000" cy="1016000"/>
          </a:xfrm>
          <a:prstGeom prst="roundRect">
            <a:avLst>
              <a:gd name="adj" fmla="val 1000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985000" y="1905000"/>
            <a:ext cx="381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I₁: Write(X) → I₂: Write(X)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302000"/>
            <a:ext cx="3302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1066800" y="36068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651000" y="35814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输出相关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Output Dependency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016000" y="4572000"/>
            <a:ext cx="279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两条指令的数据流向均为“输出”，且目标地址完全一致。本质上，它们争夺的是同一个硬件资源的写入权。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445000" y="3302000"/>
            <a:ext cx="3302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4749800" y="36068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334000" y="35814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伪数据相关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False Dependency</a:t>
            </a:r>
          </a:p>
        </p:txBody>
      </p:sp>
      <p:sp>
        <p:nvSpPr>
          <p:cNvPr id="16" name="AutoShape 16"/>
          <p:cNvSpPr/>
          <p:nvPr/>
        </p:nvSpPr>
        <p:spPr>
          <a:xfrm>
            <a:off x="4699000" y="4572000"/>
            <a:ext cx="279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严格按序执行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的处理器模型下，最终寄存器的值会被第二条指令覆盖，逻辑上符合程序设计的语义，不存在真实的数据依赖关系。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28000" y="3302000"/>
            <a:ext cx="3302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8432800" y="36068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9017000" y="35814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乱序执行的“陷阱”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OOO Execution Pitfall</a:t>
            </a:r>
          </a:p>
        </p:txBody>
      </p:sp>
      <p:sp>
        <p:nvSpPr>
          <p:cNvPr id="20" name="AutoShape 20"/>
          <p:cNvSpPr/>
          <p:nvPr/>
        </p:nvSpPr>
        <p:spPr>
          <a:xfrm>
            <a:off x="8382000" y="4572000"/>
            <a:ext cx="279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若I₁因长延迟操作被阻塞，而I₂先完成写操作，随后I₁的结果“滞后”覆盖I₂，将导致最终寄存器值与程序顺序语义相悖，产生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逻辑错误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写后写 (WAW) - 示例分析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16000" y="2032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47800" y="2006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按序执行（符合语义）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794000"/>
            <a:ext cx="4699000" cy="1651000"/>
          </a:xfrm>
          <a:prstGeom prst="roundRect">
            <a:avLst>
              <a:gd name="adj" fmla="val 6153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206500" y="2984500"/>
            <a:ext cx="431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94A3B8"/>
                </a:solidFill>
                <a:latin typeface="Menlo"/>
                <a:ea typeface="Menlo"/>
                <a:cs typeface="Menlo"/>
                <a:sym typeface="Menlo"/>
              </a:rPr>
              <a:t># 指令I1：将10写入 $t0 (写操作1)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FBBF24"/>
                </a:solidFill>
                <a:latin typeface="Menlo"/>
                <a:ea typeface="Menlo"/>
                <a:cs typeface="Menlo"/>
                <a:sym typeface="Menlo"/>
              </a:rPr>
              <a:t>addi $t0, $zero, 10</a:t>
            </a:r>
          </a:p>
          <a:p>
            <a:pPr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94A3B8"/>
                </a:solidFill>
                <a:latin typeface="Menlo"/>
                <a:ea typeface="Menlo"/>
                <a:cs typeface="Menlo"/>
                <a:sym typeface="Menlo"/>
              </a:rPr>
              <a:t># 指令I2：将20写入 $t0 (写操作2)</a:t>
            </a:r>
          </a:p>
          <a:p>
            <a:pPr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FBBF24"/>
                </a:solidFill>
                <a:latin typeface="Menlo"/>
                <a:ea typeface="Menlo"/>
                <a:cs typeface="Menlo"/>
                <a:sym typeface="Menlo"/>
              </a:rPr>
              <a:t>addi $t0, $zero, 20</a:t>
            </a:r>
          </a:p>
        </p:txBody>
      </p:sp>
      <p:sp>
        <p:nvSpPr>
          <p:cNvPr id="9" name="AutoShape 9"/>
          <p:cNvSpPr/>
          <p:nvPr/>
        </p:nvSpPr>
        <p:spPr>
          <a:xfrm>
            <a:off x="1016000" y="4699000"/>
            <a:ext cx="4699000" cy="1143000"/>
          </a:xfrm>
          <a:prstGeom prst="roundRect">
            <a:avLst>
              <a:gd name="adj" fmla="val 8888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A7F3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206500" y="48895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最终结果：</a:t>
            </a:r>
            <a:r>
              <a:rPr lang="en-US" sz="1600" b="1" i="0" u="none" strike="noStrike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$t0 = 20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I2 覆盖了 I1 的结果，符合程序设计意图。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477000" y="2032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908800" y="2006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乱序执行（潜在冲突）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77000" y="2794000"/>
            <a:ext cx="4699000" cy="1651000"/>
          </a:xfrm>
          <a:prstGeom prst="roundRect">
            <a:avLst>
              <a:gd name="adj" fmla="val 6153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FECAC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667500" y="2984500"/>
            <a:ext cx="431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假设 I1 是长延迟指令 (如除法), I2 是快速指令。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处理器为了效率优先执行 I2，但 I1 由于流水线机制或执行单元差异，在 I2 提交后，依然完成了对寄存器的写入。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477000" y="4699000"/>
            <a:ext cx="4699000" cy="1143000"/>
          </a:xfrm>
          <a:prstGeom prst="roundRect">
            <a:avLst>
              <a:gd name="adj" fmla="val 8888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FCA5A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667500" y="48895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最终结果：</a:t>
            </a:r>
            <a:r>
              <a:rPr lang="en-US" sz="16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$t0 = 10 (错误)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7F1D1D"/>
                </a:solidFill>
                <a:latin typeface="Noto Sans SC"/>
                <a:ea typeface="Noto Sans SC"/>
                <a:cs typeface="Noto Sans SC"/>
                <a:sym typeface="Noto Sans SC"/>
              </a:rPr>
              <a:t>I1 的结果“后发先至”，错误地覆盖了 I2 的结果。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写后写 (WAW) - 常见解决方式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2349500"/>
          </a:xfrm>
          <a:prstGeom prst="roundRect">
            <a:avLst>
              <a:gd name="adj" fmla="val 432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101600" cy="2349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66800" y="18796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49400" y="1841500"/>
            <a:ext cx="419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寄存器重命名</a:t>
            </a:r>
            <a:r>
              <a:rPr lang="en-US" sz="20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 (Register Renaming)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1066800" y="2476500"/>
            <a:ext cx="457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原理：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为两条写指令（I1和I2）分配不同的物理寄存器，从根源上消除冲突。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效果：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处理器通过重排序缓冲区（ROB）跟踪物理寄存器的“活跃”状态，确保最终提交给架构的结果与程序顺序一致。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4191000"/>
            <a:ext cx="5207000" cy="2349500"/>
          </a:xfrm>
          <a:prstGeom prst="roundRect">
            <a:avLst>
              <a:gd name="adj" fmla="val 432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762000" y="4191000"/>
            <a:ext cx="101600" cy="2349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1066800" y="44196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49400" y="4381500"/>
            <a:ext cx="419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重排序缓冲区 (Re-order Buffer, ROB)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66800" y="5016500"/>
            <a:ext cx="457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原理：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指令的写操作先暂存于ROB，待指令按序“退役”(Commit)时，才将结果正式写入物理寄存器。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效果：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确保乱序执行下，对架构状态的更新依然严格有序，自然规避WAW冲突风险。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 rotWithShape="1">
          <a:blip r:embed="rId8"/>
          <a:srcRect l="-46" r="161"/>
          <a:stretch/>
        </p:blipFill>
        <p:spPr>
          <a:xfrm>
            <a:off x="6228836" y="2290730"/>
            <a:ext cx="5677243" cy="2854347"/>
          </a:xfrm>
          <a:prstGeom prst="roundRect">
            <a:avLst>
              <a:gd name="adj" fmla="val 4615"/>
            </a:avLst>
          </a:prstGeom>
          <a:noFill/>
          <a:ln w="381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5" name="AutoShape 15"/>
          <p:cNvSpPr/>
          <p:nvPr/>
        </p:nvSpPr>
        <p:spPr>
          <a:xfrm>
            <a:off x="6223000" y="5524500"/>
            <a:ext cx="520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重排序缓冲区(ROB) 与指令提交机制示意图</a:t>
            </a:r>
            <a:b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指令按程序顺序退役，确保结果正确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9FAFB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总结 - 四类数据相关性对比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2590800" cy="3048000"/>
          </a:xfrm>
          <a:prstGeom prst="roundRect">
            <a:avLst>
              <a:gd name="adj" fmla="val 392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2590800" cy="635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89000" y="1651000"/>
            <a:ext cx="2336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读后读 (RAR)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2413000"/>
            <a:ext cx="23368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操作顺序：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Read → Read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是否真相关：</a:t>
            </a:r>
            <a:r>
              <a:rPr lang="en-US" sz="12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否</a:t>
            </a:r>
          </a:p>
          <a:p>
            <a:pPr indent="0" algn="l">
              <a:lnSpc>
                <a:spcPct val="116666"/>
              </a:lnSpc>
            </a:pP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冲突场景：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无冲突</a:t>
            </a:r>
          </a:p>
          <a:p>
            <a:pPr indent="0" algn="l">
              <a:lnSpc>
                <a:spcPct val="116666"/>
              </a:lnSpc>
            </a:pP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解决方法：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无需处理</a:t>
            </a:r>
          </a:p>
        </p:txBody>
      </p:sp>
      <p:sp>
        <p:nvSpPr>
          <p:cNvPr id="8" name="AutoShape 8"/>
          <p:cNvSpPr/>
          <p:nvPr/>
        </p:nvSpPr>
        <p:spPr>
          <a:xfrm>
            <a:off x="3454400" y="1524000"/>
            <a:ext cx="2590800" cy="3048000"/>
          </a:xfrm>
          <a:prstGeom prst="roundRect">
            <a:avLst>
              <a:gd name="adj" fmla="val 3921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3B82F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3454400" y="1524000"/>
            <a:ext cx="2590800" cy="635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3581400" y="1651000"/>
            <a:ext cx="2336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写后读 (RAW) · 真相关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581400" y="2413000"/>
            <a:ext cx="23368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操作顺序：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Write → Read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是否真相关：</a:t>
            </a:r>
            <a:r>
              <a:rPr lang="en-US" sz="1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是 (性能最大挑战)</a:t>
            </a:r>
          </a:p>
          <a:p>
            <a:pPr indent="0" algn="l">
              <a:lnSpc>
                <a:spcPct val="116666"/>
              </a:lnSpc>
            </a:pP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冲突场景：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所有流水线结构</a:t>
            </a:r>
          </a:p>
          <a:p>
            <a:pPr indent="0" algn="l">
              <a:lnSpc>
                <a:spcPct val="116666"/>
              </a:lnSpc>
            </a:pP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解决方法：</a:t>
            </a:r>
            <a:r>
              <a:rPr lang="en-US" sz="1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数据前推、流水线暂停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146800" y="1524000"/>
            <a:ext cx="2590800" cy="3048000"/>
          </a:xfrm>
          <a:prstGeom prst="roundRect">
            <a:avLst>
              <a:gd name="adj" fmla="val 392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146800" y="1524000"/>
            <a:ext cx="2590800" cy="635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273800" y="1651000"/>
            <a:ext cx="2336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读后写 (WAR) · 反相关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73800" y="2413000"/>
            <a:ext cx="23368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操作顺序：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Read → Write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是否真相关：</a:t>
            </a:r>
            <a:r>
              <a:rPr lang="en-US" sz="12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否 (伪相关)</a:t>
            </a:r>
          </a:p>
          <a:p>
            <a:pPr indent="0" algn="l">
              <a:lnSpc>
                <a:spcPct val="116666"/>
              </a:lnSpc>
            </a:pP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冲突场景：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乱序执行 (OOO) 处理器</a:t>
            </a:r>
          </a:p>
          <a:p>
            <a:pPr indent="0" algn="l">
              <a:lnSpc>
                <a:spcPct val="116666"/>
              </a:lnSpc>
            </a:pP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解决方法：</a:t>
            </a:r>
            <a:r>
              <a:rPr lang="en-US" sz="1200" b="1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寄存器重命名</a:t>
            </a:r>
          </a:p>
        </p:txBody>
      </p:sp>
      <p:sp>
        <p:nvSpPr>
          <p:cNvPr id="16" name="AutoShape 16"/>
          <p:cNvSpPr/>
          <p:nvPr/>
        </p:nvSpPr>
        <p:spPr>
          <a:xfrm>
            <a:off x="8839200" y="1524000"/>
            <a:ext cx="2590800" cy="3048000"/>
          </a:xfrm>
          <a:prstGeom prst="roundRect">
            <a:avLst>
              <a:gd name="adj" fmla="val 392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839200" y="1524000"/>
            <a:ext cx="2590800" cy="635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966200" y="1651000"/>
            <a:ext cx="2336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写后写 (WAW) · 输出相关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966200" y="2413000"/>
            <a:ext cx="23368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操作顺序：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Write → Write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是否真相关：</a:t>
            </a:r>
            <a:r>
              <a:rPr lang="en-US" sz="12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否 (伪相关)</a:t>
            </a:r>
          </a:p>
          <a:p>
            <a:pPr indent="0" algn="l">
              <a:lnSpc>
                <a:spcPct val="116666"/>
              </a:lnSpc>
            </a:pP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冲突场景：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乱序执行、分支预测</a:t>
            </a:r>
          </a:p>
          <a:p>
            <a:pPr indent="0" algn="l">
              <a:lnSpc>
                <a:spcPct val="116666"/>
              </a:lnSpc>
            </a:pP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解决方法：</a:t>
            </a:r>
            <a:r>
              <a:rPr lang="en-US" sz="1200" b="1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寄存器重命名、ROB</a:t>
            </a:r>
          </a:p>
        </p:txBody>
      </p:sp>
      <p:sp>
        <p:nvSpPr>
          <p:cNvPr id="20" name="AutoShape 20"/>
          <p:cNvSpPr/>
          <p:nvPr/>
        </p:nvSpPr>
        <p:spPr>
          <a:xfrm>
            <a:off x="762000" y="4953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1E3A8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89000" y="5207000"/>
            <a:ext cx="330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⚡️ 性能最大挑战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DBEAFE"/>
                </a:solidFill>
                <a:latin typeface="Noto Sans SC"/>
                <a:ea typeface="Noto Sans SC"/>
                <a:cs typeface="Noto Sans SC"/>
                <a:sym typeface="Noto Sans SC"/>
              </a:rPr>
              <a:t>RAW 是唯一的“真数据依赖”，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DBEAFE"/>
                </a:solidFill>
                <a:latin typeface="Noto Sans SC"/>
                <a:ea typeface="Noto Sans SC"/>
                <a:cs typeface="Noto Sans SC"/>
                <a:sym typeface="Noto Sans SC"/>
              </a:rPr>
              <a:t>直接限制指令级并行(ILP)上限。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4191000" y="5207000"/>
            <a:ext cx="127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2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4445000" y="5207000"/>
            <a:ext cx="330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🔧 伪相关的破局之道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DBEAFE"/>
                </a:solidFill>
                <a:latin typeface="Noto Sans SC"/>
                <a:ea typeface="Noto Sans SC"/>
                <a:cs typeface="Noto Sans SC"/>
                <a:sym typeface="Noto Sans SC"/>
              </a:rPr>
              <a:t>WAR 与 WAW 源于硬件命名冲突，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DBEAFE"/>
                </a:solidFill>
                <a:latin typeface="Noto Sans SC"/>
                <a:ea typeface="Noto Sans SC"/>
                <a:cs typeface="Noto Sans SC"/>
                <a:sym typeface="Noto Sans SC"/>
              </a:rPr>
              <a:t>可通过“寄存器重命名”完美消除。</a:t>
            </a:r>
          </a:p>
        </p:txBody>
      </p:sp>
      <p:sp>
        <p:nvSpPr>
          <p:cNvPr id="24" name="AutoShape 24"/>
          <p:cNvSpPr/>
          <p:nvPr/>
        </p:nvSpPr>
        <p:spPr>
          <a:xfrm>
            <a:off x="7747000" y="5207000"/>
            <a:ext cx="127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2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8001000" y="5207000"/>
            <a:ext cx="330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✅ 无风险场景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DBEAFE"/>
                </a:solidFill>
                <a:latin typeface="Noto Sans SC"/>
                <a:ea typeface="Noto Sans SC"/>
                <a:cs typeface="Noto Sans SC"/>
                <a:sym typeface="Noto Sans SC"/>
              </a:rPr>
              <a:t>RAR 无任何数据冲突，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DBEAFE"/>
                </a:solidFill>
                <a:latin typeface="Noto Sans SC"/>
                <a:ea typeface="Noto Sans SC"/>
                <a:cs typeface="Noto Sans SC"/>
                <a:sym typeface="Noto Sans SC"/>
              </a:rPr>
              <a:t>对处理器性能无负面影响。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总结 - 现代处理器的应对之道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635" r="635"/>
          <a:stretch>
            <a:fillRect/>
          </a:stretch>
        </p:blipFill>
        <p:spPr>
          <a:xfrm>
            <a:off x="762000" y="1778000"/>
            <a:ext cx="4572000" cy="4318000"/>
          </a:xfrm>
          <a:prstGeom prst="rect">
            <a:avLst/>
          </a:prstGeom>
          <a:noFill/>
          <a:ln w="25400" cap="flat" cmpd="sng">
            <a:solidFill>
              <a:srgbClr val="3B82F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5715000" y="1651000"/>
            <a:ext cx="57150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5905500" y="19050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6604000" y="1841500"/>
            <a:ext cx="457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前端 (Front-end)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通过分支预测与指令预取技术，精准预判程序流向，大幅减少控制相关性对流水线效率的负面影响。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5715000" y="3302000"/>
            <a:ext cx="5715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5905500" y="36830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604000" y="3492500"/>
            <a:ext cx="457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乱序执行核心 (OOO Core)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寄存器重命名：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解决WAR与WAW冲突，打破名相关的束缚。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调度器 &amp; ROB：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动态调度无依赖指令并行执行，同时通过重排序缓冲区保障最终结果的按序提交。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5715000" y="5207000"/>
            <a:ext cx="57150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5905500" y="54610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604000" y="5397500"/>
            <a:ext cx="457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后端 (Back-end)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利用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数据前推网络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消除RAW冲突导致的流水线气泡，并提供多类型、高并行度的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功能单元(EUs)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以应对结构冲突，最大化吞吐率。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展望 - 从相关性到乱序执行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016000"/>
          </a:xfrm>
          <a:prstGeom prst="roundRect">
            <a:avLst>
              <a:gd name="adj" fmla="val 1500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89000" y="1676400"/>
            <a:ext cx="1041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相关性分析是理解乱序执行（Out-of-Order Execution, OoOE）的钥匙。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794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62000" y="2794000"/>
            <a:ext cx="76200" cy="19050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79500" y="2984500"/>
            <a:ext cx="457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💡 思考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如果没有WAR和WAW这些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伪相关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，处理器还需要复杂的寄存器重命名和ROB吗？</a:t>
            </a:r>
          </a:p>
        </p:txBody>
      </p:sp>
      <p:sp>
        <p:nvSpPr>
          <p:cNvPr id="9" name="AutoShape 9"/>
          <p:cNvSpPr/>
          <p:nvPr/>
        </p:nvSpPr>
        <p:spPr>
          <a:xfrm>
            <a:off x="6223000" y="2794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223000" y="2794000"/>
            <a:ext cx="76200" cy="1905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540500" y="2984500"/>
            <a:ext cx="457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✅ 答案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不需要。处理器本可以更简单地实现乱序执行。但正因为存在这些由寄存器命名带来的伪相关，才催生了这些强大的硬件机制，以挖掘更多指令级并行性。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4953000"/>
            <a:ext cx="10668000" cy="1524000"/>
          </a:xfrm>
          <a:prstGeom prst="roundRect">
            <a:avLst>
              <a:gd name="adj" fmla="val 10000"/>
            </a:avLst>
          </a:prstGeom>
          <a:solidFill>
            <a:srgbClr val="F0F9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143000" y="5270500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2032000" y="5207000"/>
            <a:ext cx="355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深入剖析流水线冲突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详细讲解数据前推（Forwarding）、流水线暂停（Stall）与气泡（Bubble）的底层实现细节。</a:t>
            </a:r>
          </a:p>
        </p:txBody>
      </p:sp>
      <p:cxnSp>
        <p:nvCxnSpPr>
          <p:cNvPr id="15" name="Connector 15"/>
          <p:cNvCxnSpPr/>
          <p:nvPr/>
        </p:nvCxnSpPr>
        <p:spPr>
          <a:xfrm rot="5357030">
            <a:off x="5588000" y="57086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604000" y="5270500"/>
            <a:ext cx="609600" cy="609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493000" y="5207000"/>
            <a:ext cx="355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乱序执行的奥秘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深入探索寄存器重命名、重排序缓冲区(ROB)以及动态调度器是如何协同工作的。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905000"/>
            <a:ext cx="1219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937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0" i="0" u="none" strike="noStrik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感谢聆听！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334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 spc="4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THANKS FOR LISTENING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1807</Words>
  <Application>Microsoft Office PowerPoint</Application>
  <PresentationFormat>宽屏</PresentationFormat>
  <Paragraphs>273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Menlo</vt:lpstr>
      <vt:lpstr>Noto Sans SC</vt:lpstr>
      <vt:lpstr>Roboto Mono</vt:lpstr>
      <vt:lpstr>Source Code Pro</vt:lpstr>
      <vt:lpstr>Arial</vt:lpstr>
      <vt:lpstr>Consolas</vt:lpstr>
      <vt:lpstr>Courier New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KYTSJ-0043</cp:lastModifiedBy>
  <cp:revision>1</cp:revision>
  <dcterms:modified xsi:type="dcterms:W3CDTF">2026-05-12T03:32:26Z</dcterms:modified>
</cp:coreProperties>
</file>