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5" d="100"/>
          <a:sy n="155" d="100"/>
        </p:scale>
        <p:origin x="498" y="13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12.05.2026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大家好，今天我们将深入探讨超标量处理器的核心——动态调度机制。我们将聚焦于两种里程碑式的算法：Scoreboard和Tomasulo，深入解析它们的原理、演进过程以及在现代处理器中的应用。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8090037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分享将分为六个部分。我们将从动态调度的背景讲起，然后分别详解Scoreboard和Tomasulo算法，进行全面对比，并结合香山处理器的案例进行分析，最后进行总结与展望。希望大家能通过本次分享，深入理解动态调度的精髓。</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3312382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为什么需要动态调度？因为在多发射处理器中，指令间的数据冒险，如RAW、WAR和WAW，会导致流水线频繁停顿，严重影响性能。静态调度依赖编译器，无法处理运行时的依赖。而动态调度由硬件在运行时完成，能够挖掘编译器无法预见的并行性，是现代高性能处理器的核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4100798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首先我们来看动态调度的先驱——Scoreboard算法。它诞生于1964年，核心思想是使用一个集中式的记分板来跟踪所有指令的状态和依赖关系，从而尽可能早地执行无依赖的指令，减少流水线停顿。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5760061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Scoreboard主要通过三个表格来工作：指令状态表、功能单元状态表和寄存器结果状态表。这三个表格共同跟踪指令的执行状态、资源占用和数据依赖，从而做出调度决策。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4985344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一条指令在Scoreboard中会经历发射、读操作数、执行和写回四个阶段。在每个阶段，Scoreboard都会进行严格的检查，以避免结构冒险和数据冒险，确保指令的正确执行。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41947444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来看一个例子。这里有三条指令，ADD依赖于DIV的结果（RAW），而SUB又与ADD存在WAR冒险。Scoreboard会让ADD等待DIV完成，同时让SUB等待ADD读取完操作数。虽然保证了正确性，但SUB被不必要地延迟了，这暴露了Scoreboard的局限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8153316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总结一下Scoreboard的优缺点。它的优点是实现简单、硬件开销小，且不需要软件的配合。但缺点也很明显：它无法有效解决WAR和WAW冒险，集中式控制单元容易成为性能瓶颈，而且可扩展性很差，难以应用到现代宽发射处理器中，这也是后来它被Tomasulo算法取代的主要原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4153779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为了解决Scoreboard的问题，Tomasulo算法应运而生。它通过三大关键创新——寄存器重命名、保留站和公共数据总线，实现了分布式控制，彻底解决了Scoreboard的瓶颈，是现代乱序执行架构的基石。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2499620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Tomasulo算法的第一个核心创新是寄存器重命名。它的原理是为每个逻辑寄存器分配一个唯一的物理寄存器，从而彻底消除了因寄存器名冲突导致的WAR和WAW冒险。这是挖掘更多并行性的关键。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7930639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第二个核心创新是保留站和公共数据总线（CDB）。保留站实现了分布式控制，消除了集中瓶颈。而CDB则通过广播机制，让运算结果可以直接传递给需要它的指令，无需经过寄存器堆，极大地提升了效率。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2844935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Tomasulo算法的执行流程也分为四个阶段：发射、执行、写结果和提交。在发射阶段进行寄存器重命名，执行阶段由分布式的保留站调度，写结果阶段通过CDB广播，最后通过ROB按序提交，保证了正确性和高性能。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9602757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我们再来看同一个例子。在Tomasulo算法中，`SUB`指令的目标寄存器F8被重命名为一个新的物理寄存器P3。因此，它不再需要等待`ADD`指令，可以立即开始执行。WAR冒险被彻底消除，性能得到了显著提升。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4770198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总结一下Tomasulo算法的优缺点。它的优点是能彻底消除WAR和WAW冒险，可扩展性好，性能高。但缺点是硬件复杂度和开销都非常巨大，设计和验证周期长。这是一种用硬件换取性能的典型设计。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181387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现在我们来全面对比一下这两种算法。</a:t>
            </a:r>
          </a:p>
          <a:p>
            <a:pPr indent="0" algn="l">
              <a:lnSpc>
                <a:spcPct val="100000"/>
              </a:lnSpc>
            </a:pPr>
            <a:r>
              <a:rPr lang="en-US" sz="1400" b="0" i="0" u="none" strike="noStrike">
                <a:solidFill>
                  <a:srgbClr val="000000"/>
                </a:solidFill>
              </a:rPr>
              <a:t>左侧是Scoreboard算法，它是动态调度的先驱，优点是结构简单，硬件开销小，但受限于没有寄存器重命名机制，无法处理WAR和WAW冒险，且采用集中式控制，扩展性较差，在现代处理器中已基本被淘汰。</a:t>
            </a:r>
          </a:p>
          <a:p>
            <a:pPr indent="0" algn="l">
              <a:lnSpc>
                <a:spcPct val="100000"/>
              </a:lnSpc>
            </a:pPr>
            <a:r>
              <a:rPr lang="en-US" sz="1400" b="0" i="0" u="none" strike="noStrike">
                <a:solidFill>
                  <a:srgbClr val="000000"/>
                </a:solidFill>
              </a:rPr>
              <a:t>右侧是Tomasulo算法，这是目前所有高性能处理器的基石。它最大的创新在于引入了寄存器重命名和分布式的Reservation Station，不仅彻底解决了三种数据冒险，还支持更好的并行度挖掘和可扩展性。虽然它带来了更高的硬件复杂度和面积开销，但换取了巨大的性能提升。</a:t>
            </a:r>
          </a:p>
          <a:p>
            <a:pPr indent="0" algn="l">
              <a:lnSpc>
                <a:spcPct val="100000"/>
              </a:lnSpc>
            </a:pPr>
            <a:r>
              <a:rPr lang="en-US" sz="1400" b="0" i="0" u="none" strike="noStrike">
                <a:solidFill>
                  <a:srgbClr val="000000"/>
                </a:solidFill>
              </a:rPr>
              <a:t>因此，结论非常明确：在追求极致性能的现代处理器架构中，Tomasulo算法是唯一的选择。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705531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开源的香山处理器就是Tomasulo算法的一个现代实践。它的南湖架构采用了4发射的乱序执行核心，拥有256项的ROB，大量的物理寄存器和保留站，以及4条CDB。这些设计都是为了充分发挥Tomasulo算法的性能潜力，以支持高性能的通用计算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3229447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香山的Tomasulo实现有很多设计亮点。比如分层式的保留站设计、多CDB架构、物理寄存器堆的优化以及精确的异常处理。这些优化都是为了在性能、面积和功耗之间取得良好的平衡。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5762898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总结一下，从Scoreboard到Tomasulo，我们看到了乱序执行技术的演进之路。Scoreboard是开创性的第一步，但存在固有缺陷。Tomasulo通过寄存器重命名和分布式控制等创新，全面超越了Scoreboard，成为现代高性能处理器的基石。香山的实践也证明了这一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6201739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最后，留给大家几个进阶思考题和拓展阅读方向。</a:t>
            </a:r>
          </a:p>
          <a:p>
            <a:pPr indent="0" algn="l">
              <a:lnSpc>
                <a:spcPct val="100000"/>
              </a:lnSpc>
            </a:pPr>
            <a:r>
              <a:rPr lang="en-US" sz="1400" b="0" i="0" u="none" strike="noStrike">
                <a:solidFill>
                  <a:srgbClr val="000000"/>
                </a:solidFill>
              </a:rPr>
              <a:t>首先是思考题：在低功耗IoT设备这种资源受限的场景下，Scoreboard相比Tomasulo可能有独特的优势，这背后的取舍值得思考。另外，现代处理器的乱序窗口很少超过512项，限制它的是面积、功耗还是延迟？以及SMT超线程技术是如何与Tomasulo算法结合，进一步压榨处理器性能的？这些都是很好的切入点。</a:t>
            </a:r>
          </a:p>
          <a:p>
            <a:pPr indent="0" algn="l">
              <a:lnSpc>
                <a:spcPct val="100000"/>
              </a:lnSpc>
            </a:pPr>
            <a:r>
              <a:rPr lang="en-US" sz="1400" b="0" i="0" u="none" strike="noStrike">
                <a:solidFill>
                  <a:srgbClr val="000000"/>
                </a:solidFill>
              </a:rPr>
              <a:t>在拓展阅读方面，推荐大家关注Tomasulo算法的现代演进，了解寄存器重命名的不同实现方式，以及处理器如何处理复杂的内存指令依赖，这些内容将帮助大家更全面地理解现代CPU的工作原理。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2189863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我的分享到此结束，感谢大家的聆听。现在是问答环节，欢迎大家提问交流。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619440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jpeg"/><Relationship Id="rId7" Type="http://schemas.openxmlformats.org/officeDocument/2006/relationships/image" Target="../media/image8.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5.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7.png"/><Relationship Id="rId4" Type="http://schemas.openxmlformats.org/officeDocument/2006/relationships/image" Target="../media/image4.png"/><Relationship Id="rId9" Type="http://schemas.openxmlformats.org/officeDocument/2006/relationships/image" Target="../media/image10.svg"/></Relationships>
</file>

<file path=ppt/slides/_rels/slide4.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2.jpe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5.svg"/><Relationship Id="rId5" Type="http://schemas.openxmlformats.org/officeDocument/2006/relationships/image" Target="../media/image9.png"/><Relationship Id="rId10" Type="http://schemas.openxmlformats.org/officeDocument/2006/relationships/image" Target="../media/image19.svg"/><Relationship Id="rId4" Type="http://schemas.openxmlformats.org/officeDocument/2006/relationships/image" Target="../media/image8.jpe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jpeg"/><Relationship Id="rId7" Type="http://schemas.openxmlformats.org/officeDocument/2006/relationships/image" Target="../media/image10.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25.svg"/><Relationship Id="rId5" Type="http://schemas.openxmlformats.org/officeDocument/2006/relationships/image" Target="../media/image21.svg"/><Relationship Id="rId10" Type="http://schemas.openxmlformats.org/officeDocument/2006/relationships/image" Target="../media/image14.png"/><Relationship Id="rId4" Type="http://schemas.openxmlformats.org/officeDocument/2006/relationships/image" Target="../media/image12.png"/><Relationship Id="rId9" Type="http://schemas.openxmlformats.org/officeDocument/2006/relationships/image" Target="../media/image23.sv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jpeg"/><Relationship Id="rId7" Type="http://schemas.openxmlformats.org/officeDocument/2006/relationships/image" Target="../media/image29.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27.svg"/><Relationship Id="rId4" Type="http://schemas.openxmlformats.org/officeDocument/2006/relationships/image" Target="../media/image15.png"/><Relationship Id="rId9" Type="http://schemas.openxmlformats.org/officeDocument/2006/relationships/image" Target="../media/image6.sv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33.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image" Target="../media/image31.sv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jpeg"/><Relationship Id="rId7" Type="http://schemas.openxmlformats.org/officeDocument/2006/relationships/image" Target="../media/image35.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19.png"/><Relationship Id="rId5" Type="http://schemas.openxmlformats.org/officeDocument/2006/relationships/image" Target="../media/image17.svg"/><Relationship Id="rId10" Type="http://schemas.openxmlformats.org/officeDocument/2006/relationships/image" Target="../media/image21.jpeg"/><Relationship Id="rId4" Type="http://schemas.openxmlformats.org/officeDocument/2006/relationships/image" Target="../media/image10.png"/><Relationship Id="rId9" Type="http://schemas.openxmlformats.org/officeDocument/2006/relationships/image" Target="../media/image37.svg"/></Relationships>
</file>

<file path=ppt/slides/_rels/slide10.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2.jpeg"/><Relationship Id="rId7"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41.svg"/><Relationship Id="rId5" Type="http://schemas.openxmlformats.org/officeDocument/2006/relationships/image" Target="../media/image23.png"/><Relationship Id="rId10" Type="http://schemas.openxmlformats.org/officeDocument/2006/relationships/image" Target="../media/image45.svg"/><Relationship Id="rId4" Type="http://schemas.openxmlformats.org/officeDocument/2006/relationships/image" Target="../media/image22.jpeg"/><Relationship Id="rId9" Type="http://schemas.openxmlformats.org/officeDocument/2006/relationships/image" Target="../media/image25.png"/></Relationships>
</file>

<file path=ppt/slides/_rels/slide11.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image" Target="../media/image2.jpeg"/><Relationship Id="rId7" Type="http://schemas.openxmlformats.org/officeDocument/2006/relationships/image" Target="../media/image47.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image" Target="../media/image17.sv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jpeg"/><Relationship Id="rId7" Type="http://schemas.openxmlformats.org/officeDocument/2006/relationships/image" Target="../media/image52.sv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29.png"/><Relationship Id="rId11" Type="http://schemas.openxmlformats.org/officeDocument/2006/relationships/image" Target="../media/image56.svg"/><Relationship Id="rId5" Type="http://schemas.openxmlformats.org/officeDocument/2006/relationships/image" Target="../media/image50.svg"/><Relationship Id="rId10" Type="http://schemas.openxmlformats.org/officeDocument/2006/relationships/image" Target="../media/image31.png"/><Relationship Id="rId4" Type="http://schemas.openxmlformats.org/officeDocument/2006/relationships/image" Target="../media/image28.png"/><Relationship Id="rId9" Type="http://schemas.openxmlformats.org/officeDocument/2006/relationships/image" Target="../media/image54.sv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58.sv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32.png"/><Relationship Id="rId5" Type="http://schemas.openxmlformats.org/officeDocument/2006/relationships/image" Target="../media/image27.sv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0.sv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image" Target="../media/image31.sv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62.sv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37.svg"/><Relationship Id="rId5" Type="http://schemas.openxmlformats.org/officeDocument/2006/relationships/image" Target="../media/image20.png"/><Relationship Id="rId4" Type="http://schemas.openxmlformats.org/officeDocument/2006/relationships/image" Target="../media/image35.jpeg"/></Relationships>
</file>

<file path=ppt/slides/_rels/slide1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jpeg"/><Relationship Id="rId7" Type="http://schemas.openxmlformats.org/officeDocument/2006/relationships/image" Target="../media/image37.sv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20.png"/><Relationship Id="rId11" Type="http://schemas.openxmlformats.org/officeDocument/2006/relationships/image" Target="../media/image67.svg"/><Relationship Id="rId5" Type="http://schemas.openxmlformats.org/officeDocument/2006/relationships/image" Target="../media/image65.svg"/><Relationship Id="rId10"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10.svg"/></Relationships>
</file>

<file path=ppt/slides/_rels/slide18.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73.svg"/><Relationship Id="rId3" Type="http://schemas.openxmlformats.org/officeDocument/2006/relationships/image" Target="../media/image2.jpeg"/><Relationship Id="rId7" Type="http://schemas.openxmlformats.org/officeDocument/2006/relationships/image" Target="../media/image69.svg"/><Relationship Id="rId12"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38.png"/><Relationship Id="rId11" Type="http://schemas.openxmlformats.org/officeDocument/2006/relationships/image" Target="../media/image71.svg"/><Relationship Id="rId5" Type="http://schemas.openxmlformats.org/officeDocument/2006/relationships/image" Target="../media/image43.svg"/><Relationship Id="rId10" Type="http://schemas.openxmlformats.org/officeDocument/2006/relationships/image" Target="../media/image39.png"/><Relationship Id="rId4" Type="http://schemas.openxmlformats.org/officeDocument/2006/relationships/image" Target="../media/image24.png"/><Relationship Id="rId9" Type="http://schemas.openxmlformats.org/officeDocument/2006/relationships/image" Target="../media/image10.sv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77.sv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42.png"/><Relationship Id="rId5" Type="http://schemas.openxmlformats.org/officeDocument/2006/relationships/image" Target="../media/image75.svg"/><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1524000"/>
            <a:ext cx="10668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5200" b="1" i="0" u="none" strike="noStrike">
                <a:solidFill>
                  <a:srgbClr val="FFFFFF"/>
                </a:solidFill>
                <a:latin typeface="Noto Sans SC"/>
                <a:ea typeface="Noto Sans SC"/>
                <a:cs typeface="Noto Sans SC"/>
                <a:sym typeface="Noto Sans SC"/>
              </a:rPr>
              <a:t>超标量处理器核心调度机制：</a:t>
            </a:r>
            <a:br>
              <a:rPr lang="en-US" sz="5200" b="1" i="0" u="none" strike="noStrike">
                <a:solidFill>
                  <a:srgbClr val="FFFFFF"/>
                </a:solidFill>
                <a:latin typeface="Noto Sans SC"/>
                <a:ea typeface="Noto Sans SC"/>
                <a:cs typeface="Noto Sans SC"/>
                <a:sym typeface="Noto Sans SC"/>
              </a:rPr>
            </a:br>
            <a:r>
              <a:rPr lang="en-US" sz="5200" b="1" i="0" u="none" strike="noStrike">
                <a:solidFill>
                  <a:srgbClr val="FFFFFF"/>
                </a:solidFill>
                <a:latin typeface="Noto Sans SC"/>
                <a:ea typeface="Noto Sans SC"/>
                <a:cs typeface="Noto Sans SC"/>
                <a:sym typeface="Noto Sans SC"/>
              </a:rPr>
              <a:t>Scoreboard vs. Tomasulo</a:t>
            </a:r>
            <a:endParaRPr lang="en-US" sz="1100"/>
          </a:p>
        </p:txBody>
      </p:sp>
      <p:sp>
        <p:nvSpPr>
          <p:cNvPr id="4" name="AutoShape 4"/>
          <p:cNvSpPr/>
          <p:nvPr/>
        </p:nvSpPr>
        <p:spPr>
          <a:xfrm>
            <a:off x="762000" y="3556000"/>
            <a:ext cx="1066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0" i="0" u="none" strike="noStrike">
                <a:solidFill>
                  <a:srgbClr val="FFFFFF">
                    <a:alpha val="90196"/>
                  </a:srgbClr>
                </a:solidFill>
                <a:latin typeface="Noto Sans SC"/>
                <a:ea typeface="Noto Sans SC"/>
                <a:cs typeface="Noto Sans SC"/>
                <a:sym typeface="Noto Sans SC"/>
              </a:rPr>
              <a:t>深入解析经典动态调度算法的演进与对比</a:t>
            </a:r>
            <a:endParaRPr lang="en-US" sz="1100"/>
          </a:p>
        </p:txBody>
      </p:sp>
      <p:sp>
        <p:nvSpPr>
          <p:cNvPr id="5" name="AutoShape 5"/>
          <p:cNvSpPr/>
          <p:nvPr/>
        </p:nvSpPr>
        <p:spPr>
          <a:xfrm>
            <a:off x="762000" y="4826000"/>
            <a:ext cx="1270000" cy="762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5207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本次分享议程</a:t>
            </a:r>
            <a:endParaRPr lang="en-US" sz="1100"/>
          </a:p>
        </p:txBody>
      </p:sp>
      <p:sp>
        <p:nvSpPr>
          <p:cNvPr id="4" name="AutoShape 4"/>
          <p:cNvSpPr/>
          <p:nvPr/>
        </p:nvSpPr>
        <p:spPr>
          <a:xfrm>
            <a:off x="762000" y="1524000"/>
            <a:ext cx="5207000" cy="1079500"/>
          </a:xfrm>
          <a:prstGeom prst="roundRect">
            <a:avLst>
              <a:gd name="adj" fmla="val 941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952500" y="1714500"/>
            <a:ext cx="762000" cy="698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3B82F6"/>
                </a:solidFill>
                <a:latin typeface="Noto Sans SC"/>
                <a:ea typeface="Noto Sans SC"/>
                <a:cs typeface="Noto Sans SC"/>
                <a:sym typeface="Noto Sans SC"/>
              </a:rPr>
              <a:t>01</a:t>
            </a:r>
            <a:endParaRPr lang="en-US" sz="1100"/>
          </a:p>
        </p:txBody>
      </p:sp>
      <p:sp>
        <p:nvSpPr>
          <p:cNvPr id="6" name="AutoShape 6"/>
          <p:cNvSpPr/>
          <p:nvPr/>
        </p:nvSpPr>
        <p:spPr>
          <a:xfrm>
            <a:off x="1905000" y="1676400"/>
            <a:ext cx="381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背景引入：为何需要动态调度？</a:t>
            </a:r>
            <a:endParaRPr lang="en-US" sz="1100"/>
          </a:p>
        </p:txBody>
      </p:sp>
      <p:sp>
        <p:nvSpPr>
          <p:cNvPr id="7" name="AutoShape 7"/>
          <p:cNvSpPr/>
          <p:nvPr/>
        </p:nvSpPr>
        <p:spPr>
          <a:xfrm>
            <a:off x="762000" y="2857500"/>
            <a:ext cx="5207000" cy="1079500"/>
          </a:xfrm>
          <a:prstGeom prst="roundRect">
            <a:avLst>
              <a:gd name="adj" fmla="val 941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8" name="AutoShape 8"/>
          <p:cNvSpPr/>
          <p:nvPr/>
        </p:nvSpPr>
        <p:spPr>
          <a:xfrm>
            <a:off x="952500" y="3048000"/>
            <a:ext cx="762000" cy="698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3B82F6"/>
                </a:solidFill>
                <a:latin typeface="Noto Sans SC"/>
                <a:ea typeface="Noto Sans SC"/>
                <a:cs typeface="Noto Sans SC"/>
                <a:sym typeface="Noto Sans SC"/>
              </a:rPr>
              <a:t>02</a:t>
            </a:r>
            <a:endParaRPr lang="en-US" sz="1100"/>
          </a:p>
        </p:txBody>
      </p:sp>
      <p:sp>
        <p:nvSpPr>
          <p:cNvPr id="9" name="AutoShape 9"/>
          <p:cNvSpPr/>
          <p:nvPr/>
        </p:nvSpPr>
        <p:spPr>
          <a:xfrm>
            <a:off x="1905000" y="3009900"/>
            <a:ext cx="381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经典算法详解：Scoreboard</a:t>
            </a:r>
            <a:endParaRPr lang="en-US" sz="1100"/>
          </a:p>
        </p:txBody>
      </p:sp>
      <p:sp>
        <p:nvSpPr>
          <p:cNvPr id="10" name="AutoShape 10"/>
          <p:cNvSpPr/>
          <p:nvPr/>
        </p:nvSpPr>
        <p:spPr>
          <a:xfrm>
            <a:off x="762000" y="4191000"/>
            <a:ext cx="5207000" cy="1079500"/>
          </a:xfrm>
          <a:prstGeom prst="roundRect">
            <a:avLst>
              <a:gd name="adj" fmla="val 941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952500" y="4381500"/>
            <a:ext cx="762000" cy="698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3B82F6"/>
                </a:solidFill>
                <a:latin typeface="Noto Sans SC"/>
                <a:ea typeface="Noto Sans SC"/>
                <a:cs typeface="Noto Sans SC"/>
                <a:sym typeface="Noto Sans SC"/>
              </a:rPr>
              <a:t>03</a:t>
            </a:r>
            <a:endParaRPr lang="en-US" sz="1100"/>
          </a:p>
        </p:txBody>
      </p:sp>
      <p:sp>
        <p:nvSpPr>
          <p:cNvPr id="12" name="AutoShape 12"/>
          <p:cNvSpPr/>
          <p:nvPr/>
        </p:nvSpPr>
        <p:spPr>
          <a:xfrm>
            <a:off x="1905000" y="4343400"/>
            <a:ext cx="381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现代架构基石：Tomasulo算法</a:t>
            </a:r>
            <a:endParaRPr lang="en-US" sz="1100"/>
          </a:p>
        </p:txBody>
      </p:sp>
      <p:sp>
        <p:nvSpPr>
          <p:cNvPr id="13" name="AutoShape 13"/>
          <p:cNvSpPr/>
          <p:nvPr/>
        </p:nvSpPr>
        <p:spPr>
          <a:xfrm>
            <a:off x="6223000" y="1524000"/>
            <a:ext cx="5207000" cy="1079500"/>
          </a:xfrm>
          <a:prstGeom prst="roundRect">
            <a:avLst>
              <a:gd name="adj" fmla="val 941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6413500" y="1714500"/>
            <a:ext cx="762000" cy="698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3B82F6"/>
                </a:solidFill>
                <a:latin typeface="Noto Sans SC"/>
                <a:ea typeface="Noto Sans SC"/>
                <a:cs typeface="Noto Sans SC"/>
                <a:sym typeface="Noto Sans SC"/>
              </a:rPr>
              <a:t>04</a:t>
            </a:r>
            <a:endParaRPr lang="en-US" sz="1100"/>
          </a:p>
        </p:txBody>
      </p:sp>
      <p:sp>
        <p:nvSpPr>
          <p:cNvPr id="15" name="AutoShape 15"/>
          <p:cNvSpPr/>
          <p:nvPr/>
        </p:nvSpPr>
        <p:spPr>
          <a:xfrm>
            <a:off x="7366000" y="1676400"/>
            <a:ext cx="381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巅峰对决：全面对比分析</a:t>
            </a:r>
            <a:endParaRPr lang="en-US" sz="1100"/>
          </a:p>
        </p:txBody>
      </p:sp>
      <p:sp>
        <p:nvSpPr>
          <p:cNvPr id="16" name="AutoShape 16"/>
          <p:cNvSpPr/>
          <p:nvPr/>
        </p:nvSpPr>
        <p:spPr>
          <a:xfrm>
            <a:off x="6223000" y="2857500"/>
            <a:ext cx="5207000" cy="1079500"/>
          </a:xfrm>
          <a:prstGeom prst="roundRect">
            <a:avLst>
              <a:gd name="adj" fmla="val 941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7" name="AutoShape 17"/>
          <p:cNvSpPr/>
          <p:nvPr/>
        </p:nvSpPr>
        <p:spPr>
          <a:xfrm>
            <a:off x="6413500" y="3048000"/>
            <a:ext cx="762000" cy="698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3B82F6"/>
                </a:solidFill>
                <a:latin typeface="Noto Sans SC"/>
                <a:ea typeface="Noto Sans SC"/>
                <a:cs typeface="Noto Sans SC"/>
                <a:sym typeface="Noto Sans SC"/>
              </a:rPr>
              <a:t>05</a:t>
            </a:r>
            <a:endParaRPr lang="en-US" sz="1100"/>
          </a:p>
        </p:txBody>
      </p:sp>
      <p:sp>
        <p:nvSpPr>
          <p:cNvPr id="18" name="AutoShape 18"/>
          <p:cNvSpPr/>
          <p:nvPr/>
        </p:nvSpPr>
        <p:spPr>
          <a:xfrm>
            <a:off x="7366000" y="3009900"/>
            <a:ext cx="381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实践案例：香山RISC-V处理器</a:t>
            </a:r>
            <a:endParaRPr lang="en-US" sz="1100"/>
          </a:p>
        </p:txBody>
      </p:sp>
      <p:sp>
        <p:nvSpPr>
          <p:cNvPr id="19" name="AutoShape 19"/>
          <p:cNvSpPr/>
          <p:nvPr/>
        </p:nvSpPr>
        <p:spPr>
          <a:xfrm>
            <a:off x="6223000" y="4191000"/>
            <a:ext cx="5207000" cy="1079500"/>
          </a:xfrm>
          <a:prstGeom prst="roundRect">
            <a:avLst>
              <a:gd name="adj" fmla="val 941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0" name="AutoShape 20"/>
          <p:cNvSpPr/>
          <p:nvPr/>
        </p:nvSpPr>
        <p:spPr>
          <a:xfrm>
            <a:off x="6413500" y="4381500"/>
            <a:ext cx="762000" cy="698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3B82F6"/>
                </a:solidFill>
                <a:latin typeface="Noto Sans SC"/>
                <a:ea typeface="Noto Sans SC"/>
                <a:cs typeface="Noto Sans SC"/>
                <a:sym typeface="Noto Sans SC"/>
              </a:rPr>
              <a:t>06</a:t>
            </a:r>
            <a:endParaRPr lang="en-US" sz="1100"/>
          </a:p>
        </p:txBody>
      </p:sp>
      <p:sp>
        <p:nvSpPr>
          <p:cNvPr id="21" name="AutoShape 21"/>
          <p:cNvSpPr/>
          <p:nvPr/>
        </p:nvSpPr>
        <p:spPr>
          <a:xfrm>
            <a:off x="7366000" y="4343400"/>
            <a:ext cx="381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总结与展望</a:t>
            </a:r>
            <a:endParaRPr lang="en-US" sz="1100"/>
          </a:p>
        </p:txBody>
      </p:sp>
      <p:sp>
        <p:nvSpPr>
          <p:cNvPr id="22" name="AutoShape 22"/>
          <p:cNvSpPr/>
          <p:nvPr/>
        </p:nvSpPr>
        <p:spPr>
          <a:xfrm>
            <a:off x="762000" y="5461000"/>
            <a:ext cx="10668000" cy="1206500"/>
          </a:xfrm>
          <a:prstGeom prst="roundRect">
            <a:avLst>
              <a:gd name="adj" fmla="val 12631"/>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5740400"/>
            <a:ext cx="609600" cy="609600"/>
          </a:xfrm>
          <a:prstGeom prst="rect">
            <a:avLst/>
          </a:prstGeom>
        </p:spPr>
      </p:pic>
      <p:sp>
        <p:nvSpPr>
          <p:cNvPr id="24" name="AutoShape 24"/>
          <p:cNvSpPr/>
          <p:nvPr/>
        </p:nvSpPr>
        <p:spPr>
          <a:xfrm>
            <a:off x="1778000" y="5613400"/>
            <a:ext cx="1524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学习目标</a:t>
            </a:r>
            <a:endParaRPr lang="en-US" sz="1100"/>
          </a:p>
        </p:txBody>
      </p:sp>
      <p:sp>
        <p:nvSpPr>
          <p:cNvPr id="25" name="AutoShape 25"/>
          <p:cNvSpPr/>
          <p:nvPr/>
        </p:nvSpPr>
        <p:spPr>
          <a:xfrm>
            <a:off x="3429000" y="5588000"/>
            <a:ext cx="7747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EFF6FF"/>
                </a:solidFill>
                <a:latin typeface="Noto Sans SC"/>
                <a:ea typeface="Noto Sans SC"/>
                <a:cs typeface="Noto Sans SC"/>
                <a:sym typeface="Noto Sans SC"/>
              </a:rPr>
              <a:t>• 理解动态指令调度的核心思想与解决的问题 • 掌握Scoreboard与Tomasulo两种经典算法的工作原理</a:t>
            </a:r>
            <a:endParaRPr lang="en-US" sz="1100"/>
          </a:p>
          <a:p>
            <a:pPr indent="0" algn="l">
              <a:lnSpc>
                <a:spcPct val="108333"/>
              </a:lnSpc>
            </a:pPr>
            <a:r>
              <a:rPr lang="en-US" sz="1300" b="0" i="0" u="none" strike="noStrike">
                <a:solidFill>
                  <a:srgbClr val="EFF6FF"/>
                </a:solidFill>
                <a:latin typeface="Noto Sans SC"/>
                <a:ea typeface="Noto Sans SC"/>
                <a:cs typeface="Noto Sans SC"/>
                <a:sym typeface="Noto Sans SC"/>
              </a:rPr>
              <a:t>• 清晰对比两种算法的关键差异与适用场景 • 了解现代高性能处理器中动态调度的实现方式</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问题的提出：为什么需要动态调度？</a:t>
            </a:r>
            <a:endParaRPr lang="en-US" sz="1100"/>
          </a:p>
        </p:txBody>
      </p:sp>
      <p:sp>
        <p:nvSpPr>
          <p:cNvPr id="4" name="AutoShape 4"/>
          <p:cNvSpPr/>
          <p:nvPr/>
        </p:nvSpPr>
        <p:spPr>
          <a:xfrm>
            <a:off x="762000" y="1397000"/>
            <a:ext cx="10668000" cy="952500"/>
          </a:xfrm>
          <a:prstGeom prst="roundRect">
            <a:avLst>
              <a:gd name="adj" fmla="val 10666"/>
            </a:avLst>
          </a:prstGeom>
          <a:solidFill>
            <a:srgbClr val="3B82F6">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1600200"/>
            <a:ext cx="533400" cy="533400"/>
          </a:xfrm>
          <a:prstGeom prst="rect">
            <a:avLst/>
          </a:prstGeom>
        </p:spPr>
      </p:pic>
      <p:sp>
        <p:nvSpPr>
          <p:cNvPr id="6" name="AutoShape 6"/>
          <p:cNvSpPr/>
          <p:nvPr/>
        </p:nvSpPr>
        <p:spPr>
          <a:xfrm>
            <a:off x="1778000" y="1498600"/>
            <a:ext cx="9398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FFFFFF"/>
                </a:solidFill>
                <a:latin typeface="Noto Sans SC"/>
                <a:ea typeface="Noto Sans SC"/>
                <a:cs typeface="Noto Sans SC"/>
                <a:sym typeface="Noto Sans SC"/>
              </a:rPr>
              <a:t>核心痛点：</a:t>
            </a:r>
            <a:r>
              <a:rPr lang="en-US" sz="1600" b="0" i="0" u="none" strike="noStrike">
                <a:solidFill>
                  <a:srgbClr val="FFFFFF">
                    <a:alpha val="94902"/>
                  </a:srgbClr>
                </a:solidFill>
                <a:latin typeface="Noto Sans SC"/>
                <a:ea typeface="Noto Sans SC"/>
                <a:cs typeface="Noto Sans SC"/>
                <a:sym typeface="Noto Sans SC"/>
              </a:rPr>
              <a:t>在多发射处理器中，指令间的依赖关系（数据冒险）会导致流水线频繁停顿，成为限制处理器性能发挥的主要瓶颈。</a:t>
            </a:r>
            <a:endParaRPr lang="en-US" sz="1100"/>
          </a:p>
        </p:txBody>
      </p:sp>
      <p:sp>
        <p:nvSpPr>
          <p:cNvPr id="7" name="AutoShape 7"/>
          <p:cNvSpPr/>
          <p:nvPr/>
        </p:nvSpPr>
        <p:spPr>
          <a:xfrm>
            <a:off x="762000" y="2540000"/>
            <a:ext cx="3302000" cy="1651000"/>
          </a:xfrm>
          <a:prstGeom prst="roundRect">
            <a:avLst>
              <a:gd name="adj" fmla="val 6153"/>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8" name="AutoShape 8"/>
          <p:cNvSpPr/>
          <p:nvPr/>
        </p:nvSpPr>
        <p:spPr>
          <a:xfrm>
            <a:off x="952500" y="2667000"/>
            <a:ext cx="2921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B82F6"/>
                </a:solidFill>
                <a:latin typeface="Noto Sans SC"/>
                <a:ea typeface="Noto Sans SC"/>
                <a:cs typeface="Noto Sans SC"/>
                <a:sym typeface="Noto Sans SC"/>
              </a:rPr>
              <a:t>RAW (写后读)</a:t>
            </a:r>
            <a:endParaRPr lang="en-US" sz="1100"/>
          </a:p>
          <a:p>
            <a:pPr indent="0" algn="l">
              <a:lnSpc>
                <a:spcPct val="108333"/>
              </a:lnSpc>
              <a:spcBef>
                <a:spcPts val="800"/>
              </a:spcBef>
            </a:pPr>
            <a:r>
              <a:rPr lang="en-US" sz="1300" b="0" i="0" u="none" strike="noStrike">
                <a:solidFill>
                  <a:srgbClr val="4B5563"/>
                </a:solidFill>
                <a:latin typeface="Noto Sans SC"/>
                <a:ea typeface="Noto Sans SC"/>
                <a:cs typeface="Noto Sans SC"/>
                <a:sym typeface="Noto Sans SC"/>
              </a:rPr>
              <a:t>后一条指令需要读取前一条指令尚未写入的结果，导致必须等待。</a:t>
            </a:r>
          </a:p>
        </p:txBody>
      </p:sp>
      <p:sp>
        <p:nvSpPr>
          <p:cNvPr id="9" name="AutoShape 9"/>
          <p:cNvSpPr/>
          <p:nvPr/>
        </p:nvSpPr>
        <p:spPr>
          <a:xfrm>
            <a:off x="4445000" y="2540000"/>
            <a:ext cx="3302000" cy="1651000"/>
          </a:xfrm>
          <a:prstGeom prst="roundRect">
            <a:avLst>
              <a:gd name="adj" fmla="val 6153"/>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4635500" y="2667000"/>
            <a:ext cx="2921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59E0B"/>
                </a:solidFill>
                <a:latin typeface="Noto Sans SC"/>
                <a:ea typeface="Noto Sans SC"/>
                <a:cs typeface="Noto Sans SC"/>
                <a:sym typeface="Noto Sans SC"/>
              </a:rPr>
              <a:t>WAR (读后写)</a:t>
            </a:r>
            <a:endParaRPr lang="en-US" sz="1100"/>
          </a:p>
          <a:p>
            <a:pPr indent="0" algn="l">
              <a:lnSpc>
                <a:spcPct val="108333"/>
              </a:lnSpc>
              <a:spcBef>
                <a:spcPts val="800"/>
              </a:spcBef>
            </a:pPr>
            <a:r>
              <a:rPr lang="en-US" sz="1300" b="0" i="0" u="none" strike="noStrike">
                <a:solidFill>
                  <a:srgbClr val="4B5563"/>
                </a:solidFill>
                <a:latin typeface="Noto Sans SC"/>
                <a:ea typeface="Noto Sans SC"/>
                <a:cs typeface="Noto Sans SC"/>
                <a:sym typeface="Noto Sans SC"/>
              </a:rPr>
              <a:t>后一条指令会提前写入前一条指令需要读取的寄存器，导致数据被错误覆盖。</a:t>
            </a:r>
          </a:p>
        </p:txBody>
      </p:sp>
      <p:sp>
        <p:nvSpPr>
          <p:cNvPr id="11" name="AutoShape 11"/>
          <p:cNvSpPr/>
          <p:nvPr/>
        </p:nvSpPr>
        <p:spPr>
          <a:xfrm>
            <a:off x="8128000" y="2540000"/>
            <a:ext cx="3302000" cy="1651000"/>
          </a:xfrm>
          <a:prstGeom prst="roundRect">
            <a:avLst>
              <a:gd name="adj" fmla="val 6153"/>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2" name="AutoShape 12"/>
          <p:cNvSpPr/>
          <p:nvPr/>
        </p:nvSpPr>
        <p:spPr>
          <a:xfrm>
            <a:off x="8318500" y="2667000"/>
            <a:ext cx="2921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F4444"/>
                </a:solidFill>
                <a:latin typeface="Noto Sans SC"/>
                <a:ea typeface="Noto Sans SC"/>
                <a:cs typeface="Noto Sans SC"/>
                <a:sym typeface="Noto Sans SC"/>
              </a:rPr>
              <a:t>WAW (写后写)</a:t>
            </a:r>
            <a:endParaRPr lang="en-US" sz="1100"/>
          </a:p>
          <a:p>
            <a:pPr indent="0" algn="l">
              <a:lnSpc>
                <a:spcPct val="108333"/>
              </a:lnSpc>
              <a:spcBef>
                <a:spcPts val="800"/>
              </a:spcBef>
            </a:pPr>
            <a:r>
              <a:rPr lang="en-US" sz="1300" b="0" i="0" u="none" strike="noStrike">
                <a:solidFill>
                  <a:srgbClr val="4B5563"/>
                </a:solidFill>
                <a:latin typeface="Noto Sans SC"/>
                <a:ea typeface="Noto Sans SC"/>
                <a:cs typeface="Noto Sans SC"/>
                <a:sym typeface="Noto Sans SC"/>
              </a:rPr>
              <a:t>两条指令无序地写入同一个寄存器，导致最终写入结果顺序混乱，逻辑错误。</a:t>
            </a:r>
          </a:p>
        </p:txBody>
      </p:sp>
      <p:sp>
        <p:nvSpPr>
          <p:cNvPr id="13" name="AutoShape 13"/>
          <p:cNvSpPr/>
          <p:nvPr/>
        </p:nvSpPr>
        <p:spPr>
          <a:xfrm>
            <a:off x="762000" y="4445000"/>
            <a:ext cx="5207000" cy="1206500"/>
          </a:xfrm>
          <a:prstGeom prst="roundRect">
            <a:avLst>
              <a:gd name="adj" fmla="val 8421"/>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952500" y="4699000"/>
            <a:ext cx="508000" cy="508000"/>
          </a:xfrm>
          <a:prstGeom prst="rect">
            <a:avLst/>
          </a:prstGeom>
        </p:spPr>
      </p:pic>
      <p:sp>
        <p:nvSpPr>
          <p:cNvPr id="15" name="AutoShape 15"/>
          <p:cNvSpPr/>
          <p:nvPr/>
        </p:nvSpPr>
        <p:spPr>
          <a:xfrm>
            <a:off x="1651000" y="4572000"/>
            <a:ext cx="4064000" cy="952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静态调度 (编译器)</a:t>
            </a:r>
            <a:endParaRPr lang="en-US" sz="1100"/>
          </a:p>
          <a:p>
            <a:pPr indent="0" algn="l">
              <a:lnSpc>
                <a:spcPct val="125000"/>
              </a:lnSpc>
              <a:spcBef>
                <a:spcPts val="600"/>
              </a:spcBef>
            </a:pPr>
            <a:r>
              <a:rPr lang="en-US" sz="1200" b="0" i="0" u="none" strike="noStrike">
                <a:solidFill>
                  <a:srgbClr val="4B5563"/>
                </a:solidFill>
                <a:latin typeface="Noto Sans SC"/>
                <a:ea typeface="Noto Sans SC"/>
                <a:cs typeface="Noto Sans SC"/>
                <a:sym typeface="Noto Sans SC"/>
              </a:rPr>
              <a:t>在编译阶段完成指令重排以减少冲突。</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 缺点：无法处理运行时动态数据依赖，优化能力受限。</a:t>
            </a:r>
          </a:p>
        </p:txBody>
      </p:sp>
      <p:sp>
        <p:nvSpPr>
          <p:cNvPr id="16" name="AutoShape 16"/>
          <p:cNvSpPr/>
          <p:nvPr/>
        </p:nvSpPr>
        <p:spPr>
          <a:xfrm>
            <a:off x="6223000" y="4445000"/>
            <a:ext cx="5207000" cy="1206500"/>
          </a:xfrm>
          <a:prstGeom prst="roundRect">
            <a:avLst>
              <a:gd name="adj" fmla="val 8421"/>
            </a:avLst>
          </a:prstGeom>
          <a:solidFill>
            <a:srgbClr val="EFF6FF">
              <a:alpha val="100000"/>
            </a:srgbClr>
          </a:solidFill>
          <a:ln w="12700" cap="flat" cmpd="sng">
            <a:solidFill>
              <a:srgbClr val="3B82F6">
                <a:alpha val="4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6413500" y="4699000"/>
            <a:ext cx="508000" cy="508000"/>
          </a:xfrm>
          <a:prstGeom prst="rect">
            <a:avLst/>
          </a:prstGeom>
        </p:spPr>
      </p:pic>
      <p:sp>
        <p:nvSpPr>
          <p:cNvPr id="18" name="AutoShape 18"/>
          <p:cNvSpPr/>
          <p:nvPr/>
        </p:nvSpPr>
        <p:spPr>
          <a:xfrm>
            <a:off x="7112000" y="4572000"/>
            <a:ext cx="4064000" cy="952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E40AF"/>
                </a:solidFill>
                <a:latin typeface="Noto Sans SC"/>
                <a:ea typeface="Noto Sans SC"/>
                <a:cs typeface="Noto Sans SC"/>
                <a:sym typeface="Noto Sans SC"/>
              </a:rPr>
              <a:t>动态调度 (硬件支持)</a:t>
            </a:r>
            <a:endParaRPr lang="en-US" sz="1100"/>
          </a:p>
          <a:p>
            <a:pPr indent="0" algn="l">
              <a:lnSpc>
                <a:spcPct val="125000"/>
              </a:lnSpc>
              <a:spcBef>
                <a:spcPts val="600"/>
              </a:spcBef>
            </a:pPr>
            <a:r>
              <a:rPr lang="en-US" sz="1200" b="0" i="0" u="none" strike="noStrike">
                <a:solidFill>
                  <a:srgbClr val="374151"/>
                </a:solidFill>
                <a:latin typeface="Noto Sans SC"/>
                <a:ea typeface="Noto Sans SC"/>
                <a:cs typeface="Noto Sans SC"/>
                <a:sym typeface="Noto Sans SC"/>
              </a:rPr>
              <a:t>处理器运行时实时检测依赖关系并重新排序执行。</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374151"/>
                </a:solidFill>
                <a:latin typeface="Noto Sans SC"/>
                <a:ea typeface="Noto Sans SC"/>
                <a:cs typeface="Noto Sans SC"/>
                <a:sym typeface="Noto Sans SC"/>
              </a:rPr>
              <a:t>✅ 优势：突破静态限制，充分挖掘程序的指令级并行性。</a:t>
            </a:r>
          </a:p>
        </p:txBody>
      </p:sp>
      <p:sp>
        <p:nvSpPr>
          <p:cNvPr id="19" name="AutoShape 19"/>
          <p:cNvSpPr/>
          <p:nvPr/>
        </p:nvSpPr>
        <p:spPr>
          <a:xfrm>
            <a:off x="762000" y="5842000"/>
            <a:ext cx="10668000" cy="762000"/>
          </a:xfrm>
          <a:prstGeom prst="roundRect">
            <a:avLst>
              <a:gd name="adj" fmla="val 13333"/>
            </a:avLst>
          </a:prstGeom>
          <a:solidFill>
            <a:srgbClr val="F0FDF4">
              <a:alpha val="100000"/>
            </a:srgbClr>
          </a:solidFill>
          <a:ln w="12700" cap="flat" cmpd="sng">
            <a:solidFill>
              <a:srgbClr val="BBF7D0">
                <a:alpha val="100000"/>
              </a:srgbClr>
            </a:solid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1016000" y="5994400"/>
            <a:ext cx="457200" cy="457200"/>
          </a:xfrm>
          <a:prstGeom prst="rect">
            <a:avLst/>
          </a:prstGeom>
        </p:spPr>
      </p:pic>
      <p:sp>
        <p:nvSpPr>
          <p:cNvPr id="21" name="AutoShape 21"/>
          <p:cNvSpPr/>
          <p:nvPr/>
        </p:nvSpPr>
        <p:spPr>
          <a:xfrm>
            <a:off x="1651000" y="5943600"/>
            <a:ext cx="9525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65F46"/>
                </a:solidFill>
                <a:latin typeface="Noto Sans SC"/>
                <a:ea typeface="Noto Sans SC"/>
                <a:cs typeface="Noto Sans SC"/>
                <a:sym typeface="Noto Sans SC"/>
              </a:rPr>
              <a:t>关键结论：动态调度技术是解决流水线数据冒险、挖掘处理器并行潜力的核心方案。</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Scoreboard算法：动态调度的先驱</a:t>
            </a:r>
            <a:endParaRPr lang="en-US" sz="1100"/>
          </a:p>
        </p:txBody>
      </p:sp>
      <p:pic>
        <p:nvPicPr>
          <p:cNvPr id="4" name="Picture 4"/>
          <p:cNvPicPr>
            <a:picLocks noChangeAspect="1"/>
          </p:cNvPicPr>
          <p:nvPr/>
        </p:nvPicPr>
        <p:blipFill rotWithShape="1">
          <a:blip r:embed="rId4"/>
          <a:srcRect l="347" t="-77" r="-347" b="15"/>
          <a:stretch/>
        </p:blipFill>
        <p:spPr>
          <a:xfrm>
            <a:off x="774357" y="1315995"/>
            <a:ext cx="3556000" cy="5237205"/>
          </a:xfrm>
          <a:prstGeom prst="roundRect">
            <a:avLst>
              <a:gd name="adj" fmla="val 4285"/>
            </a:avLst>
          </a:prstGeom>
          <a:no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pic>
      <p:sp>
        <p:nvSpPr>
          <p:cNvPr id="5" name="AutoShape 5"/>
          <p:cNvSpPr/>
          <p:nvPr/>
        </p:nvSpPr>
        <p:spPr>
          <a:xfrm>
            <a:off x="4826000" y="1778000"/>
            <a:ext cx="6604000" cy="1397000"/>
          </a:xfrm>
          <a:prstGeom prst="roundRect">
            <a:avLst>
              <a:gd name="adj" fmla="val 10909"/>
            </a:avLst>
          </a:prstGeom>
          <a:solidFill>
            <a:srgbClr val="FFFFFF">
              <a:alpha val="95000"/>
            </a:srgbClr>
          </a:solidFill>
          <a:ln w="12700" cap="flat" cmpd="sng">
            <a:solidFill>
              <a:srgbClr val="DBEAFE">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5080000" y="2095500"/>
            <a:ext cx="635000" cy="635000"/>
          </a:xfrm>
          <a:prstGeom prst="rect">
            <a:avLst/>
          </a:prstGeom>
        </p:spPr>
      </p:pic>
      <p:sp>
        <p:nvSpPr>
          <p:cNvPr id="7" name="AutoShape 7"/>
          <p:cNvSpPr/>
          <p:nvPr/>
        </p:nvSpPr>
        <p:spPr>
          <a:xfrm>
            <a:off x="5969000" y="1968500"/>
            <a:ext cx="5207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算法起源</a:t>
            </a:r>
            <a:endParaRPr lang="en-US" sz="1100"/>
          </a:p>
          <a:p>
            <a:pPr indent="0" algn="l">
              <a:lnSpc>
                <a:spcPct val="108333"/>
              </a:lnSpc>
              <a:spcBef>
                <a:spcPts val="600"/>
              </a:spcBef>
            </a:pPr>
            <a:r>
              <a:rPr lang="en-US" sz="1300" b="0" i="0" u="none" strike="noStrike">
                <a:solidFill>
                  <a:srgbClr val="4B5563"/>
                </a:solidFill>
                <a:latin typeface="Noto Sans SC"/>
                <a:ea typeface="Noto Sans SC"/>
                <a:cs typeface="Noto Sans SC"/>
                <a:sym typeface="Noto Sans SC"/>
              </a:rPr>
              <a:t>1964年，由Seymour Cray设计的CDC 6600超级计算机首次实现，它是最早在硬件层面支持指令级并行的动态调度技术之一。</a:t>
            </a:r>
          </a:p>
        </p:txBody>
      </p:sp>
      <p:sp>
        <p:nvSpPr>
          <p:cNvPr id="8" name="AutoShape 8"/>
          <p:cNvSpPr/>
          <p:nvPr/>
        </p:nvSpPr>
        <p:spPr>
          <a:xfrm>
            <a:off x="4826000" y="3429000"/>
            <a:ext cx="6604000" cy="1397000"/>
          </a:xfrm>
          <a:prstGeom prst="roundRect">
            <a:avLst>
              <a:gd name="adj" fmla="val 10909"/>
            </a:avLst>
          </a:prstGeom>
          <a:solidFill>
            <a:srgbClr val="FFFFFF">
              <a:alpha val="95000"/>
            </a:srgbClr>
          </a:solidFill>
          <a:ln w="12700" cap="flat" cmpd="sng">
            <a:solidFill>
              <a:srgbClr val="DBEAFE">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5080000" y="3746500"/>
            <a:ext cx="635000" cy="635000"/>
          </a:xfrm>
          <a:prstGeom prst="rect">
            <a:avLst/>
          </a:prstGeom>
        </p:spPr>
      </p:pic>
      <p:sp>
        <p:nvSpPr>
          <p:cNvPr id="10" name="AutoShape 10"/>
          <p:cNvSpPr/>
          <p:nvPr/>
        </p:nvSpPr>
        <p:spPr>
          <a:xfrm>
            <a:off x="5969000" y="3619500"/>
            <a:ext cx="5207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核心思想：集中式“记分板”</a:t>
            </a:r>
            <a:endParaRPr lang="en-US" sz="1100"/>
          </a:p>
          <a:p>
            <a:pPr indent="0" algn="l">
              <a:lnSpc>
                <a:spcPct val="108333"/>
              </a:lnSpc>
              <a:spcBef>
                <a:spcPts val="600"/>
              </a:spcBef>
            </a:pPr>
            <a:r>
              <a:rPr lang="en-US" sz="1300" b="0" i="0" u="none" strike="noStrike">
                <a:solidFill>
                  <a:srgbClr val="4B5563"/>
                </a:solidFill>
                <a:latin typeface="Noto Sans SC"/>
                <a:ea typeface="Noto Sans SC"/>
                <a:cs typeface="Noto Sans SC"/>
                <a:sym typeface="Noto Sans SC"/>
              </a:rPr>
              <a:t>引入集中式的数据结构（Scoreboard）来集中跟踪和管理所有指令的执行状态、功能单元的资源分配，以及指令间的数据依赖关系，以此作为调度决策的依据。</a:t>
            </a:r>
          </a:p>
        </p:txBody>
      </p:sp>
      <p:sp>
        <p:nvSpPr>
          <p:cNvPr id="11" name="AutoShape 11"/>
          <p:cNvSpPr/>
          <p:nvPr/>
        </p:nvSpPr>
        <p:spPr>
          <a:xfrm>
            <a:off x="4826000" y="5080000"/>
            <a:ext cx="6604000" cy="1397000"/>
          </a:xfrm>
          <a:prstGeom prst="roundRect">
            <a:avLst>
              <a:gd name="adj" fmla="val 10909"/>
            </a:avLst>
          </a:prstGeom>
          <a:solidFill>
            <a:srgbClr val="FFFFFF">
              <a:alpha val="95000"/>
            </a:srgbClr>
          </a:solidFill>
          <a:ln w="12700" cap="flat" cmpd="sng">
            <a:solidFill>
              <a:srgbClr val="DBEAFE">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5080000" y="5397500"/>
            <a:ext cx="635000" cy="635000"/>
          </a:xfrm>
          <a:prstGeom prst="rect">
            <a:avLst/>
          </a:prstGeom>
        </p:spPr>
      </p:pic>
      <p:sp>
        <p:nvSpPr>
          <p:cNvPr id="13" name="AutoShape 13"/>
          <p:cNvSpPr/>
          <p:nvPr/>
        </p:nvSpPr>
        <p:spPr>
          <a:xfrm>
            <a:off x="5969000" y="5270500"/>
            <a:ext cx="5207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优化目标</a:t>
            </a:r>
            <a:endParaRPr lang="en-US" sz="1100"/>
          </a:p>
          <a:p>
            <a:pPr indent="0" algn="l">
              <a:lnSpc>
                <a:spcPct val="108333"/>
              </a:lnSpc>
              <a:spcBef>
                <a:spcPts val="600"/>
              </a:spcBef>
            </a:pPr>
            <a:r>
              <a:rPr lang="en-US" sz="1300" b="0" i="0" u="none" strike="noStrike">
                <a:solidFill>
                  <a:srgbClr val="4B5563"/>
                </a:solidFill>
                <a:latin typeface="Noto Sans SC"/>
                <a:ea typeface="Noto Sans SC"/>
                <a:cs typeface="Noto Sans SC"/>
                <a:sym typeface="Noto Sans SC"/>
              </a:rPr>
              <a:t>在严格保持程序原有指令顺序的前提下，检测并尽可能早地调度执行无数据依赖的独立指令，最大程度减少流水线因数据冲突而导致的停顿，提升处理器吞吐量。</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Scoreboard的核心组件</a:t>
            </a:r>
            <a:endParaRPr lang="en-US" sz="1100"/>
          </a:p>
        </p:txBody>
      </p:sp>
      <p:sp>
        <p:nvSpPr>
          <p:cNvPr id="4" name="AutoShape 4"/>
          <p:cNvSpPr/>
          <p:nvPr/>
        </p:nvSpPr>
        <p:spPr>
          <a:xfrm>
            <a:off x="762000" y="1651000"/>
            <a:ext cx="3302000" cy="2667000"/>
          </a:xfrm>
          <a:prstGeom prst="roundRect">
            <a:avLst>
              <a:gd name="adj" fmla="val 571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651000"/>
            <a:ext cx="3302000" cy="762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2032000"/>
            <a:ext cx="508000" cy="508000"/>
          </a:xfrm>
          <a:prstGeom prst="rect">
            <a:avLst/>
          </a:prstGeom>
        </p:spPr>
      </p:pic>
      <p:sp>
        <p:nvSpPr>
          <p:cNvPr id="7" name="AutoShape 7"/>
          <p:cNvSpPr/>
          <p:nvPr/>
        </p:nvSpPr>
        <p:spPr>
          <a:xfrm>
            <a:off x="1651000" y="20320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1F2937"/>
                </a:solidFill>
                <a:latin typeface="Noto Sans SC"/>
                <a:ea typeface="Noto Sans SC"/>
                <a:cs typeface="Noto Sans SC"/>
                <a:sym typeface="Noto Sans SC"/>
              </a:rPr>
              <a:t>指令状态表</a:t>
            </a:r>
            <a:endParaRPr lang="en-US" sz="1100"/>
          </a:p>
        </p:txBody>
      </p:sp>
      <p:sp>
        <p:nvSpPr>
          <p:cNvPr id="8" name="AutoShape 8"/>
          <p:cNvSpPr/>
          <p:nvPr/>
        </p:nvSpPr>
        <p:spPr>
          <a:xfrm>
            <a:off x="1016000" y="2794000"/>
            <a:ext cx="2794000" cy="1270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跟踪每条已发射但未完成的指令当前处于哪个阶段，是指令生命周期管理的基础。</a:t>
            </a:r>
            <a:endParaRPr lang="en-US" sz="1100"/>
          </a:p>
        </p:txBody>
      </p:sp>
      <p:sp>
        <p:nvSpPr>
          <p:cNvPr id="9" name="AutoShape 9"/>
          <p:cNvSpPr/>
          <p:nvPr/>
        </p:nvSpPr>
        <p:spPr>
          <a:xfrm>
            <a:off x="4445000" y="1651000"/>
            <a:ext cx="3302000" cy="2667000"/>
          </a:xfrm>
          <a:prstGeom prst="roundRect">
            <a:avLst>
              <a:gd name="adj" fmla="val 571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4445000" y="1651000"/>
            <a:ext cx="3302000" cy="762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4699000" y="2032000"/>
            <a:ext cx="508000" cy="508000"/>
          </a:xfrm>
          <a:prstGeom prst="rect">
            <a:avLst/>
          </a:prstGeom>
        </p:spPr>
      </p:pic>
      <p:sp>
        <p:nvSpPr>
          <p:cNvPr id="12" name="AutoShape 12"/>
          <p:cNvSpPr/>
          <p:nvPr/>
        </p:nvSpPr>
        <p:spPr>
          <a:xfrm>
            <a:off x="5334000" y="20320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1F2937"/>
                </a:solidFill>
                <a:latin typeface="Noto Sans SC"/>
                <a:ea typeface="Noto Sans SC"/>
                <a:cs typeface="Noto Sans SC"/>
                <a:sym typeface="Noto Sans SC"/>
              </a:rPr>
              <a:t>功能单元状态表</a:t>
            </a:r>
            <a:endParaRPr lang="en-US" sz="1100"/>
          </a:p>
        </p:txBody>
      </p:sp>
      <p:sp>
        <p:nvSpPr>
          <p:cNvPr id="13" name="AutoShape 13"/>
          <p:cNvSpPr/>
          <p:nvPr/>
        </p:nvSpPr>
        <p:spPr>
          <a:xfrm>
            <a:off x="4699000" y="2794000"/>
            <a:ext cx="2794000" cy="1270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记录处理器中各功能单元（如ALU、乘法器）的忙闲状态、当前操作数来源及结果寄存器信息。</a:t>
            </a:r>
            <a:endParaRPr lang="en-US" sz="1100"/>
          </a:p>
        </p:txBody>
      </p:sp>
      <p:sp>
        <p:nvSpPr>
          <p:cNvPr id="14" name="AutoShape 14"/>
          <p:cNvSpPr/>
          <p:nvPr/>
        </p:nvSpPr>
        <p:spPr>
          <a:xfrm>
            <a:off x="8128000" y="1651000"/>
            <a:ext cx="3302000" cy="2667000"/>
          </a:xfrm>
          <a:prstGeom prst="roundRect">
            <a:avLst>
              <a:gd name="adj" fmla="val 571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8128000" y="1651000"/>
            <a:ext cx="3302000" cy="762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8382000" y="2032000"/>
            <a:ext cx="508000" cy="508000"/>
          </a:xfrm>
          <a:prstGeom prst="rect">
            <a:avLst/>
          </a:prstGeom>
        </p:spPr>
      </p:pic>
      <p:sp>
        <p:nvSpPr>
          <p:cNvPr id="17" name="AutoShape 17"/>
          <p:cNvSpPr/>
          <p:nvPr/>
        </p:nvSpPr>
        <p:spPr>
          <a:xfrm>
            <a:off x="9017000" y="20320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1F2937"/>
                </a:solidFill>
                <a:latin typeface="Noto Sans SC"/>
                <a:ea typeface="Noto Sans SC"/>
                <a:cs typeface="Noto Sans SC"/>
                <a:sym typeface="Noto Sans SC"/>
              </a:rPr>
              <a:t>寄存器结果状态表</a:t>
            </a:r>
            <a:endParaRPr lang="en-US" sz="1100"/>
          </a:p>
        </p:txBody>
      </p:sp>
      <p:sp>
        <p:nvSpPr>
          <p:cNvPr id="18" name="AutoShape 18"/>
          <p:cNvSpPr/>
          <p:nvPr/>
        </p:nvSpPr>
        <p:spPr>
          <a:xfrm>
            <a:off x="8382000" y="2794000"/>
            <a:ext cx="2794000" cy="1270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核心作用是解决RAW（写后读）数据冒险。它记录了哪个功能单元将产生某个寄存器的结果，从而实现数据依赖的动态追踪。</a:t>
            </a:r>
            <a:endParaRPr lang="en-US" sz="1100"/>
          </a:p>
        </p:txBody>
      </p:sp>
      <p:sp>
        <p:nvSpPr>
          <p:cNvPr id="19" name="AutoShape 19"/>
          <p:cNvSpPr/>
          <p:nvPr/>
        </p:nvSpPr>
        <p:spPr>
          <a:xfrm>
            <a:off x="762000" y="4699000"/>
            <a:ext cx="10668000" cy="1651000"/>
          </a:xfrm>
          <a:prstGeom prst="roundRect">
            <a:avLst>
              <a:gd name="adj" fmla="val 9230"/>
            </a:avLst>
          </a:prstGeom>
          <a:solidFill>
            <a:srgbClr val="1E3A8A">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1143000" y="5080000"/>
            <a:ext cx="762000" cy="762000"/>
          </a:xfrm>
          <a:prstGeom prst="rect">
            <a:avLst/>
          </a:prstGeom>
        </p:spPr>
      </p:pic>
      <p:sp>
        <p:nvSpPr>
          <p:cNvPr id="21" name="AutoShape 21"/>
          <p:cNvSpPr/>
          <p:nvPr/>
        </p:nvSpPr>
        <p:spPr>
          <a:xfrm>
            <a:off x="2286000" y="4953000"/>
            <a:ext cx="8763000" cy="1143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FFFFFF"/>
                </a:solidFill>
                <a:latin typeface="Noto Sans SC"/>
                <a:ea typeface="Noto Sans SC"/>
                <a:cs typeface="Noto Sans SC"/>
                <a:sym typeface="Noto Sans SC"/>
              </a:rPr>
              <a:t>工作流程概览</a:t>
            </a:r>
            <a:endParaRPr lang="en-US" sz="1100"/>
          </a:p>
          <a:p>
            <a:pPr indent="0" algn="l">
              <a:lnSpc>
                <a:spcPct val="116666"/>
              </a:lnSpc>
              <a:spcBef>
                <a:spcPts val="800"/>
              </a:spcBef>
            </a:pPr>
            <a:r>
              <a:rPr lang="en-US" sz="1400" b="0" i="0" u="none" strike="noStrike">
                <a:solidFill>
                  <a:srgbClr val="DBEAFE"/>
                </a:solidFill>
                <a:latin typeface="Noto Sans SC"/>
                <a:ea typeface="Noto Sans SC"/>
                <a:cs typeface="Noto Sans SC"/>
                <a:sym typeface="Noto Sans SC"/>
              </a:rPr>
              <a:t>指令从取指阶段进入Scoreboard模块后，Scoreboard会实时查询并更新上述三个关键状态表，根据功能单元的可用性和数据依赖关系，智能判断并决定指令是否以及何时可以安全地进入下一个流水线阶段，实现指令级并行调度。</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Scoreboard 的四个执行阶段</a:t>
            </a:r>
            <a:endParaRPr lang="en-US" sz="1100"/>
          </a:p>
        </p:txBody>
      </p:sp>
      <p:sp>
        <p:nvSpPr>
          <p:cNvPr id="4" name="AutoShape 4"/>
          <p:cNvSpPr/>
          <p:nvPr/>
        </p:nvSpPr>
        <p:spPr>
          <a:xfrm>
            <a:off x="762000" y="1778000"/>
            <a:ext cx="2540000" cy="4318000"/>
          </a:xfrm>
          <a:prstGeom prst="roundRect">
            <a:avLst>
              <a:gd name="adj" fmla="val 6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778000"/>
            <a:ext cx="2540000" cy="1016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905000"/>
            <a:ext cx="2159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01</a:t>
            </a:r>
            <a:r>
              <a:rPr lang="en-US" sz="2000" b="1" i="0" u="none" strike="noStrike">
                <a:solidFill>
                  <a:srgbClr val="FFFFFF"/>
                </a:solidFill>
                <a:latin typeface="Noto Sans SC"/>
                <a:ea typeface="Noto Sans SC"/>
                <a:cs typeface="Noto Sans SC"/>
                <a:sym typeface="Noto Sans SC"/>
              </a:rPr>
              <a:t>发射 (Issue)</a:t>
            </a:r>
            <a:endParaRPr lang="en-US" sz="1100"/>
          </a:p>
        </p:txBody>
      </p:sp>
      <p:sp>
        <p:nvSpPr>
          <p:cNvPr id="7" name="AutoShape 7"/>
          <p:cNvSpPr/>
          <p:nvPr/>
        </p:nvSpPr>
        <p:spPr>
          <a:xfrm>
            <a:off x="952500" y="3048000"/>
            <a:ext cx="2159000" cy="279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dirty="0" smtClean="0">
                <a:solidFill>
                  <a:srgbClr val="1F2937"/>
                </a:solidFill>
                <a:latin typeface="Noto Sans SC"/>
                <a:ea typeface="Noto Sans SC"/>
                <a:cs typeface="Noto Sans SC"/>
                <a:sym typeface="Noto Sans SC"/>
              </a:rPr>
              <a:t>🛡 </a:t>
            </a:r>
            <a:r>
              <a:rPr lang="en-US" sz="1400" b="1" i="0" u="none" strike="noStrike" dirty="0" err="1">
                <a:solidFill>
                  <a:srgbClr val="1F2937"/>
                </a:solidFill>
                <a:latin typeface="Noto Sans SC"/>
                <a:ea typeface="Noto Sans SC"/>
                <a:cs typeface="Noto Sans SC"/>
                <a:sym typeface="Noto Sans SC"/>
              </a:rPr>
              <a:t>检查</a:t>
            </a:r>
            <a:r>
              <a:rPr lang="en-US" sz="1400" b="1" i="0" u="none" strike="noStrike" dirty="0">
                <a:solidFill>
                  <a:srgbClr val="1F2937"/>
                </a:solidFill>
                <a:latin typeface="Noto Sans SC"/>
                <a:ea typeface="Noto Sans SC"/>
                <a:cs typeface="Noto Sans SC"/>
                <a:sym typeface="Noto Sans SC"/>
              </a:rPr>
              <a:t>：</a:t>
            </a:r>
            <a:endParaRPr lang="en-US" sz="1100" dirty="0"/>
          </a:p>
          <a:p>
            <a:pPr indent="0" algn="l">
              <a:lnSpc>
                <a:spcPct val="116666"/>
              </a:lnSpc>
            </a:pPr>
            <a:r>
              <a:rPr lang="en-US" sz="1300" b="0" i="0" u="none" strike="noStrike" dirty="0" err="1">
                <a:solidFill>
                  <a:srgbClr val="4B5563"/>
                </a:solidFill>
                <a:latin typeface="Noto Sans SC"/>
                <a:ea typeface="Noto Sans SC"/>
                <a:cs typeface="Noto Sans SC"/>
                <a:sym typeface="Noto Sans SC"/>
              </a:rPr>
              <a:t>结构冒险（功能单元是否空闲）和WAW冒险</a:t>
            </a:r>
            <a:r>
              <a:rPr lang="en-US" sz="1300" b="0" i="0" u="none" strike="noStrike" dirty="0">
                <a:solidFill>
                  <a:srgbClr val="4B5563"/>
                </a:solidFill>
                <a:latin typeface="Noto Sans SC"/>
                <a:ea typeface="Noto Sans SC"/>
                <a:cs typeface="Noto Sans SC"/>
                <a:sym typeface="Noto Sans SC"/>
              </a:rPr>
              <a:t>。</a:t>
            </a:r>
          </a:p>
          <a:p>
            <a:pPr indent="0" algn="l">
              <a:lnSpc>
                <a:spcPct val="125000"/>
              </a:lnSpc>
              <a:spcBef>
                <a:spcPts val="1500"/>
              </a:spcBef>
            </a:pPr>
            <a:r>
              <a:rPr lang="en-US" sz="1400" b="1" i="0" u="none" strike="noStrike" dirty="0">
                <a:solidFill>
                  <a:srgbClr val="1F2937"/>
                </a:solidFill>
                <a:latin typeface="Noto Sans SC"/>
                <a:ea typeface="Noto Sans SC"/>
                <a:cs typeface="Noto Sans SC"/>
                <a:sym typeface="Noto Sans SC"/>
              </a:rPr>
              <a:t>⚡️ </a:t>
            </a:r>
            <a:r>
              <a:rPr lang="en-US" sz="1400" b="1" i="0" u="none" strike="noStrike" dirty="0" err="1">
                <a:solidFill>
                  <a:srgbClr val="1F2937"/>
                </a:solidFill>
                <a:latin typeface="Noto Sans SC"/>
                <a:ea typeface="Noto Sans SC"/>
                <a:cs typeface="Noto Sans SC"/>
                <a:sym typeface="Noto Sans SC"/>
              </a:rPr>
              <a:t>动作</a:t>
            </a:r>
            <a:r>
              <a:rPr lang="en-US" sz="1400" b="1" i="0" u="none" strike="noStrike" dirty="0">
                <a:solidFill>
                  <a:srgbClr val="1F2937"/>
                </a:solidFill>
                <a:latin typeface="Noto Sans SC"/>
                <a:ea typeface="Noto Sans SC"/>
                <a:cs typeface="Noto Sans SC"/>
                <a:sym typeface="Noto Sans SC"/>
              </a:rPr>
              <a:t>：</a:t>
            </a:r>
          </a:p>
          <a:p>
            <a:pPr indent="0" algn="l">
              <a:lnSpc>
                <a:spcPct val="116666"/>
              </a:lnSpc>
            </a:pPr>
            <a:r>
              <a:rPr lang="en-US" sz="1300" b="0" i="0" u="none" strike="noStrike" dirty="0" err="1">
                <a:solidFill>
                  <a:srgbClr val="4B5563"/>
                </a:solidFill>
                <a:latin typeface="Noto Sans SC"/>
                <a:ea typeface="Noto Sans SC"/>
                <a:cs typeface="Noto Sans SC"/>
                <a:sym typeface="Noto Sans SC"/>
              </a:rPr>
              <a:t>更新状态表，发送指令到功能单元</a:t>
            </a:r>
            <a:r>
              <a:rPr lang="en-US" sz="1300" b="0" i="0" u="none" strike="noStrike" dirty="0">
                <a:solidFill>
                  <a:srgbClr val="4B5563"/>
                </a:solidFill>
                <a:latin typeface="Noto Sans SC"/>
                <a:ea typeface="Noto Sans SC"/>
                <a:cs typeface="Noto Sans SC"/>
                <a:sym typeface="Noto Sans SC"/>
              </a:rPr>
              <a:t>。</a:t>
            </a:r>
          </a:p>
        </p:txBody>
      </p:sp>
      <p:sp>
        <p:nvSpPr>
          <p:cNvPr id="8" name="AutoShape 8"/>
          <p:cNvSpPr/>
          <p:nvPr/>
        </p:nvSpPr>
        <p:spPr>
          <a:xfrm>
            <a:off x="3556000" y="1778000"/>
            <a:ext cx="2540000" cy="4318000"/>
          </a:xfrm>
          <a:prstGeom prst="roundRect">
            <a:avLst>
              <a:gd name="adj" fmla="val 6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9" name="AutoShape 9"/>
          <p:cNvSpPr/>
          <p:nvPr/>
        </p:nvSpPr>
        <p:spPr>
          <a:xfrm>
            <a:off x="3556000" y="1778000"/>
            <a:ext cx="2540000" cy="1016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3746500" y="1905000"/>
            <a:ext cx="2159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02</a:t>
            </a:r>
            <a:r>
              <a:rPr lang="en-US" sz="2000" b="1" i="0" u="none" strike="noStrike">
                <a:solidFill>
                  <a:srgbClr val="FFFFFF"/>
                </a:solidFill>
                <a:latin typeface="Noto Sans SC"/>
                <a:ea typeface="Noto Sans SC"/>
                <a:cs typeface="Noto Sans SC"/>
                <a:sym typeface="Noto Sans SC"/>
              </a:rPr>
              <a:t>读操作数 (Read)</a:t>
            </a:r>
            <a:endParaRPr lang="en-US" sz="1100"/>
          </a:p>
        </p:txBody>
      </p:sp>
      <p:sp>
        <p:nvSpPr>
          <p:cNvPr id="11" name="AutoShape 11"/>
          <p:cNvSpPr/>
          <p:nvPr/>
        </p:nvSpPr>
        <p:spPr>
          <a:xfrm>
            <a:off x="3746500" y="3048000"/>
            <a:ext cx="2159000" cy="279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dirty="0" smtClean="0">
                <a:solidFill>
                  <a:srgbClr val="1F2937"/>
                </a:solidFill>
                <a:latin typeface="Noto Sans SC"/>
                <a:ea typeface="Noto Sans SC"/>
                <a:cs typeface="Noto Sans SC"/>
                <a:sym typeface="Noto Sans SC"/>
              </a:rPr>
              <a:t>🛡 </a:t>
            </a:r>
            <a:r>
              <a:rPr lang="en-US" sz="1400" b="1" i="0" u="none" strike="noStrike" dirty="0" err="1">
                <a:solidFill>
                  <a:srgbClr val="1F2937"/>
                </a:solidFill>
                <a:latin typeface="Noto Sans SC"/>
                <a:ea typeface="Noto Sans SC"/>
                <a:cs typeface="Noto Sans SC"/>
                <a:sym typeface="Noto Sans SC"/>
              </a:rPr>
              <a:t>检查</a:t>
            </a:r>
            <a:r>
              <a:rPr lang="en-US" sz="1400" b="1" i="0" u="none" strike="noStrike" dirty="0">
                <a:solidFill>
                  <a:srgbClr val="1F2937"/>
                </a:solidFill>
                <a:latin typeface="Noto Sans SC"/>
                <a:ea typeface="Noto Sans SC"/>
                <a:cs typeface="Noto Sans SC"/>
                <a:sym typeface="Noto Sans SC"/>
              </a:rPr>
              <a:t>：</a:t>
            </a:r>
            <a:endParaRPr lang="en-US" sz="1100" dirty="0"/>
          </a:p>
          <a:p>
            <a:pPr indent="0" algn="l">
              <a:lnSpc>
                <a:spcPct val="116666"/>
              </a:lnSpc>
            </a:pPr>
            <a:r>
              <a:rPr lang="en-US" sz="1300" b="0" i="0" u="none" strike="noStrike" dirty="0" err="1">
                <a:solidFill>
                  <a:srgbClr val="4B5563"/>
                </a:solidFill>
                <a:latin typeface="Noto Sans SC"/>
                <a:ea typeface="Noto Sans SC"/>
                <a:cs typeface="Noto Sans SC"/>
                <a:sym typeface="Noto Sans SC"/>
              </a:rPr>
              <a:t>RAW冒险（源操作数是否就绪</a:t>
            </a:r>
            <a:r>
              <a:rPr lang="en-US" sz="1300" b="0" i="0" u="none" strike="noStrike" dirty="0">
                <a:solidFill>
                  <a:srgbClr val="4B5563"/>
                </a:solidFill>
                <a:latin typeface="Noto Sans SC"/>
                <a:ea typeface="Noto Sans SC"/>
                <a:cs typeface="Noto Sans SC"/>
                <a:sym typeface="Noto Sans SC"/>
              </a:rPr>
              <a:t>）。</a:t>
            </a:r>
          </a:p>
          <a:p>
            <a:pPr indent="0" algn="l">
              <a:lnSpc>
                <a:spcPct val="125000"/>
              </a:lnSpc>
              <a:spcBef>
                <a:spcPts val="1500"/>
              </a:spcBef>
            </a:pPr>
            <a:r>
              <a:rPr lang="en-US" sz="1400" b="1" i="0" u="none" strike="noStrike" dirty="0">
                <a:solidFill>
                  <a:srgbClr val="1F2937"/>
                </a:solidFill>
                <a:latin typeface="Noto Sans SC"/>
                <a:ea typeface="Noto Sans SC"/>
                <a:cs typeface="Noto Sans SC"/>
                <a:sym typeface="Noto Sans SC"/>
              </a:rPr>
              <a:t>⚡️ </a:t>
            </a:r>
            <a:r>
              <a:rPr lang="en-US" sz="1400" b="1" i="0" u="none" strike="noStrike" dirty="0" err="1">
                <a:solidFill>
                  <a:srgbClr val="1F2937"/>
                </a:solidFill>
                <a:latin typeface="Noto Sans SC"/>
                <a:ea typeface="Noto Sans SC"/>
                <a:cs typeface="Noto Sans SC"/>
                <a:sym typeface="Noto Sans SC"/>
              </a:rPr>
              <a:t>动作</a:t>
            </a:r>
            <a:r>
              <a:rPr lang="en-US" sz="1400" b="1" i="0" u="none" strike="noStrike" dirty="0">
                <a:solidFill>
                  <a:srgbClr val="1F2937"/>
                </a:solidFill>
                <a:latin typeface="Noto Sans SC"/>
                <a:ea typeface="Noto Sans SC"/>
                <a:cs typeface="Noto Sans SC"/>
                <a:sym typeface="Noto Sans SC"/>
              </a:rPr>
              <a:t>：</a:t>
            </a:r>
          </a:p>
          <a:p>
            <a:pPr indent="0" algn="l">
              <a:lnSpc>
                <a:spcPct val="116666"/>
              </a:lnSpc>
            </a:pPr>
            <a:r>
              <a:rPr lang="en-US" sz="1300" b="0" i="0" u="none" strike="noStrike" dirty="0" err="1">
                <a:solidFill>
                  <a:srgbClr val="4B5563"/>
                </a:solidFill>
                <a:latin typeface="Noto Sans SC"/>
                <a:ea typeface="Noto Sans SC"/>
                <a:cs typeface="Noto Sans SC"/>
                <a:sym typeface="Noto Sans SC"/>
              </a:rPr>
              <a:t>从寄存器堆读取操作数</a:t>
            </a:r>
            <a:r>
              <a:rPr lang="en-US" sz="1300" b="0" i="0" u="none" strike="noStrike" dirty="0">
                <a:solidFill>
                  <a:srgbClr val="4B5563"/>
                </a:solidFill>
                <a:latin typeface="Noto Sans SC"/>
                <a:ea typeface="Noto Sans SC"/>
                <a:cs typeface="Noto Sans SC"/>
                <a:sym typeface="Noto Sans SC"/>
              </a:rPr>
              <a:t>。</a:t>
            </a:r>
          </a:p>
        </p:txBody>
      </p:sp>
      <p:sp>
        <p:nvSpPr>
          <p:cNvPr id="12" name="AutoShape 12"/>
          <p:cNvSpPr/>
          <p:nvPr/>
        </p:nvSpPr>
        <p:spPr>
          <a:xfrm>
            <a:off x="6350000" y="1778000"/>
            <a:ext cx="2540000" cy="4318000"/>
          </a:xfrm>
          <a:prstGeom prst="roundRect">
            <a:avLst>
              <a:gd name="adj" fmla="val 6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3" name="AutoShape 13"/>
          <p:cNvSpPr/>
          <p:nvPr/>
        </p:nvSpPr>
        <p:spPr>
          <a:xfrm>
            <a:off x="6350000" y="1778000"/>
            <a:ext cx="2540000" cy="1016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540500" y="1905000"/>
            <a:ext cx="2159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03</a:t>
            </a:r>
            <a:r>
              <a:rPr lang="en-US" sz="2000" b="1" i="0" u="none" strike="noStrike">
                <a:solidFill>
                  <a:srgbClr val="FFFFFF"/>
                </a:solidFill>
                <a:latin typeface="Noto Sans SC"/>
                <a:ea typeface="Noto Sans SC"/>
                <a:cs typeface="Noto Sans SC"/>
                <a:sym typeface="Noto Sans SC"/>
              </a:rPr>
              <a:t>执行 (Exec)</a:t>
            </a:r>
            <a:endParaRPr lang="en-US" sz="1100"/>
          </a:p>
        </p:txBody>
      </p:sp>
      <p:sp>
        <p:nvSpPr>
          <p:cNvPr id="15" name="AutoShape 15"/>
          <p:cNvSpPr/>
          <p:nvPr/>
        </p:nvSpPr>
        <p:spPr>
          <a:xfrm>
            <a:off x="6540500" y="3048000"/>
            <a:ext cx="2159000" cy="279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dirty="0" smtClean="0">
                <a:solidFill>
                  <a:srgbClr val="1F2937"/>
                </a:solidFill>
                <a:latin typeface="Noto Sans SC"/>
                <a:ea typeface="Noto Sans SC"/>
                <a:cs typeface="Noto Sans SC"/>
                <a:sym typeface="Noto Sans SC"/>
              </a:rPr>
              <a:t>🛡 </a:t>
            </a:r>
            <a:r>
              <a:rPr lang="en-US" sz="1400" b="1" i="0" u="none" strike="noStrike" dirty="0" err="1" smtClean="0">
                <a:solidFill>
                  <a:srgbClr val="1F2937"/>
                </a:solidFill>
                <a:latin typeface="Noto Sans SC"/>
                <a:ea typeface="Noto Sans SC"/>
                <a:cs typeface="Noto Sans SC"/>
                <a:sym typeface="Noto Sans SC"/>
              </a:rPr>
              <a:t>检查</a:t>
            </a:r>
            <a:r>
              <a:rPr lang="en-US" sz="1400" b="1" i="0" u="none" strike="noStrike" dirty="0">
                <a:solidFill>
                  <a:srgbClr val="1F2937"/>
                </a:solidFill>
                <a:latin typeface="Noto Sans SC"/>
                <a:ea typeface="Noto Sans SC"/>
                <a:cs typeface="Noto Sans SC"/>
                <a:sym typeface="Noto Sans SC"/>
              </a:rPr>
              <a:t>：</a:t>
            </a:r>
            <a:endParaRPr lang="en-US" sz="1100" dirty="0"/>
          </a:p>
          <a:p>
            <a:pPr indent="0" algn="l">
              <a:lnSpc>
                <a:spcPct val="116666"/>
              </a:lnSpc>
            </a:pPr>
            <a:r>
              <a:rPr lang="en-US" sz="1300" b="0" i="0" u="none" strike="noStrike" dirty="0" err="1">
                <a:solidFill>
                  <a:srgbClr val="6B7280"/>
                </a:solidFill>
                <a:latin typeface="Noto Sans SC"/>
                <a:ea typeface="Noto Sans SC"/>
                <a:cs typeface="Noto Sans SC"/>
                <a:sym typeface="Noto Sans SC"/>
              </a:rPr>
              <a:t>无特定冒险检查</a:t>
            </a:r>
            <a:r>
              <a:rPr lang="en-US" sz="1300" b="0" i="0" u="none" strike="noStrike" dirty="0">
                <a:solidFill>
                  <a:srgbClr val="6B7280"/>
                </a:solidFill>
                <a:latin typeface="Noto Sans SC"/>
                <a:ea typeface="Noto Sans SC"/>
                <a:cs typeface="Noto Sans SC"/>
                <a:sym typeface="Noto Sans SC"/>
              </a:rPr>
              <a:t>。</a:t>
            </a:r>
          </a:p>
          <a:p>
            <a:pPr indent="0" algn="l">
              <a:lnSpc>
                <a:spcPct val="125000"/>
              </a:lnSpc>
              <a:spcBef>
                <a:spcPts val="1500"/>
              </a:spcBef>
            </a:pPr>
            <a:r>
              <a:rPr lang="en-US" sz="1400" b="1" i="0" u="none" strike="noStrike" dirty="0">
                <a:solidFill>
                  <a:srgbClr val="1F2937"/>
                </a:solidFill>
                <a:latin typeface="Noto Sans SC"/>
                <a:ea typeface="Noto Sans SC"/>
                <a:cs typeface="Noto Sans SC"/>
                <a:sym typeface="Noto Sans SC"/>
              </a:rPr>
              <a:t>⚡️ </a:t>
            </a:r>
            <a:r>
              <a:rPr lang="en-US" sz="1400" b="1" i="0" u="none" strike="noStrike" dirty="0" err="1">
                <a:solidFill>
                  <a:srgbClr val="1F2937"/>
                </a:solidFill>
                <a:latin typeface="Noto Sans SC"/>
                <a:ea typeface="Noto Sans SC"/>
                <a:cs typeface="Noto Sans SC"/>
                <a:sym typeface="Noto Sans SC"/>
              </a:rPr>
              <a:t>动作</a:t>
            </a:r>
            <a:r>
              <a:rPr lang="en-US" sz="1400" b="1" i="0" u="none" strike="noStrike" dirty="0">
                <a:solidFill>
                  <a:srgbClr val="1F2937"/>
                </a:solidFill>
                <a:latin typeface="Noto Sans SC"/>
                <a:ea typeface="Noto Sans SC"/>
                <a:cs typeface="Noto Sans SC"/>
                <a:sym typeface="Noto Sans SC"/>
              </a:rPr>
              <a:t>：</a:t>
            </a:r>
          </a:p>
          <a:p>
            <a:pPr indent="0" algn="l">
              <a:lnSpc>
                <a:spcPct val="116666"/>
              </a:lnSpc>
            </a:pPr>
            <a:r>
              <a:rPr lang="en-US" sz="1300" b="0" i="0" u="none" strike="noStrike" dirty="0" err="1">
                <a:solidFill>
                  <a:srgbClr val="4B5563"/>
                </a:solidFill>
                <a:latin typeface="Noto Sans SC"/>
                <a:ea typeface="Noto Sans SC"/>
                <a:cs typeface="Noto Sans SC"/>
                <a:sym typeface="Noto Sans SC"/>
              </a:rPr>
              <a:t>功能单元接收到所有操作数后，执行具体运算</a:t>
            </a:r>
            <a:r>
              <a:rPr lang="en-US" sz="1300" b="0" i="0" u="none" strike="noStrike" dirty="0">
                <a:solidFill>
                  <a:srgbClr val="4B5563"/>
                </a:solidFill>
                <a:latin typeface="Noto Sans SC"/>
                <a:ea typeface="Noto Sans SC"/>
                <a:cs typeface="Noto Sans SC"/>
                <a:sym typeface="Noto Sans SC"/>
              </a:rPr>
              <a:t>。</a:t>
            </a:r>
          </a:p>
        </p:txBody>
      </p:sp>
      <p:sp>
        <p:nvSpPr>
          <p:cNvPr id="16" name="AutoShape 16"/>
          <p:cNvSpPr/>
          <p:nvPr/>
        </p:nvSpPr>
        <p:spPr>
          <a:xfrm>
            <a:off x="9144000" y="1778000"/>
            <a:ext cx="2540000" cy="4318000"/>
          </a:xfrm>
          <a:prstGeom prst="roundRect">
            <a:avLst>
              <a:gd name="adj" fmla="val 6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7" name="AutoShape 17"/>
          <p:cNvSpPr/>
          <p:nvPr/>
        </p:nvSpPr>
        <p:spPr>
          <a:xfrm>
            <a:off x="9144000" y="1778000"/>
            <a:ext cx="2540000" cy="1016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9334500" y="1905000"/>
            <a:ext cx="2159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04</a:t>
            </a:r>
            <a:r>
              <a:rPr lang="en-US" sz="2000" b="1" i="0" u="none" strike="noStrike">
                <a:solidFill>
                  <a:srgbClr val="FFFFFF"/>
                </a:solidFill>
                <a:latin typeface="Noto Sans SC"/>
                <a:ea typeface="Noto Sans SC"/>
                <a:cs typeface="Noto Sans SC"/>
                <a:sym typeface="Noto Sans SC"/>
              </a:rPr>
              <a:t>写回 (Write)</a:t>
            </a:r>
            <a:endParaRPr lang="en-US" sz="1100"/>
          </a:p>
        </p:txBody>
      </p:sp>
      <p:sp>
        <p:nvSpPr>
          <p:cNvPr id="19" name="AutoShape 19"/>
          <p:cNvSpPr/>
          <p:nvPr/>
        </p:nvSpPr>
        <p:spPr>
          <a:xfrm>
            <a:off x="9334500" y="3048000"/>
            <a:ext cx="2159000" cy="279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dirty="0" smtClean="0">
                <a:solidFill>
                  <a:srgbClr val="1F2937"/>
                </a:solidFill>
                <a:latin typeface="Noto Sans SC"/>
                <a:ea typeface="Noto Sans SC"/>
                <a:cs typeface="Noto Sans SC"/>
                <a:sym typeface="Noto Sans SC"/>
              </a:rPr>
              <a:t>🛡 </a:t>
            </a:r>
            <a:r>
              <a:rPr lang="en-US" sz="1400" b="1" i="0" u="none" strike="noStrike" dirty="0" err="1">
                <a:solidFill>
                  <a:srgbClr val="1F2937"/>
                </a:solidFill>
                <a:latin typeface="Noto Sans SC"/>
                <a:ea typeface="Noto Sans SC"/>
                <a:cs typeface="Noto Sans SC"/>
                <a:sym typeface="Noto Sans SC"/>
              </a:rPr>
              <a:t>检查</a:t>
            </a:r>
            <a:r>
              <a:rPr lang="en-US" sz="1400" b="1" i="0" u="none" strike="noStrike" dirty="0">
                <a:solidFill>
                  <a:srgbClr val="1F2937"/>
                </a:solidFill>
                <a:latin typeface="Noto Sans SC"/>
                <a:ea typeface="Noto Sans SC"/>
                <a:cs typeface="Noto Sans SC"/>
                <a:sym typeface="Noto Sans SC"/>
              </a:rPr>
              <a:t>：</a:t>
            </a:r>
            <a:endParaRPr lang="en-US" sz="1100" dirty="0"/>
          </a:p>
          <a:p>
            <a:pPr indent="0" algn="l">
              <a:lnSpc>
                <a:spcPct val="116666"/>
              </a:lnSpc>
            </a:pPr>
            <a:r>
              <a:rPr lang="en-US" sz="1300" b="0" i="0" u="none" strike="noStrike" dirty="0" err="1">
                <a:solidFill>
                  <a:srgbClr val="4B5563"/>
                </a:solidFill>
                <a:latin typeface="Noto Sans SC"/>
                <a:ea typeface="Noto Sans SC"/>
                <a:cs typeface="Noto Sans SC"/>
                <a:sym typeface="Noto Sans SC"/>
              </a:rPr>
              <a:t>WAR冒险（是否有其他指令正在读目标寄存器</a:t>
            </a:r>
            <a:r>
              <a:rPr lang="en-US" sz="1300" b="0" i="0" u="none" strike="noStrike" dirty="0">
                <a:solidFill>
                  <a:srgbClr val="4B5563"/>
                </a:solidFill>
                <a:latin typeface="Noto Sans SC"/>
                <a:ea typeface="Noto Sans SC"/>
                <a:cs typeface="Noto Sans SC"/>
                <a:sym typeface="Noto Sans SC"/>
              </a:rPr>
              <a:t>）。</a:t>
            </a:r>
          </a:p>
          <a:p>
            <a:pPr indent="0" algn="l">
              <a:lnSpc>
                <a:spcPct val="125000"/>
              </a:lnSpc>
              <a:spcBef>
                <a:spcPts val="1500"/>
              </a:spcBef>
            </a:pPr>
            <a:r>
              <a:rPr lang="en-US" sz="1400" b="1" i="0" u="none" strike="noStrike" dirty="0">
                <a:solidFill>
                  <a:srgbClr val="1F2937"/>
                </a:solidFill>
                <a:latin typeface="Noto Sans SC"/>
                <a:ea typeface="Noto Sans SC"/>
                <a:cs typeface="Noto Sans SC"/>
                <a:sym typeface="Noto Sans SC"/>
              </a:rPr>
              <a:t>⚡️ </a:t>
            </a:r>
            <a:r>
              <a:rPr lang="en-US" sz="1400" b="1" i="0" u="none" strike="noStrike" dirty="0" err="1">
                <a:solidFill>
                  <a:srgbClr val="1F2937"/>
                </a:solidFill>
                <a:latin typeface="Noto Sans SC"/>
                <a:ea typeface="Noto Sans SC"/>
                <a:cs typeface="Noto Sans SC"/>
                <a:sym typeface="Noto Sans SC"/>
              </a:rPr>
              <a:t>动作</a:t>
            </a:r>
            <a:r>
              <a:rPr lang="en-US" sz="1400" b="1" i="0" u="none" strike="noStrike" dirty="0">
                <a:solidFill>
                  <a:srgbClr val="1F2937"/>
                </a:solidFill>
                <a:latin typeface="Noto Sans SC"/>
                <a:ea typeface="Noto Sans SC"/>
                <a:cs typeface="Noto Sans SC"/>
                <a:sym typeface="Noto Sans SC"/>
              </a:rPr>
              <a:t>：</a:t>
            </a:r>
          </a:p>
          <a:p>
            <a:pPr indent="0" algn="l">
              <a:lnSpc>
                <a:spcPct val="116666"/>
              </a:lnSpc>
            </a:pPr>
            <a:r>
              <a:rPr lang="en-US" sz="1300" b="0" i="0" u="none" strike="noStrike" dirty="0" err="1">
                <a:solidFill>
                  <a:srgbClr val="4B5563"/>
                </a:solidFill>
                <a:latin typeface="Noto Sans SC"/>
                <a:ea typeface="Noto Sans SC"/>
                <a:cs typeface="Noto Sans SC"/>
                <a:sym typeface="Noto Sans SC"/>
              </a:rPr>
              <a:t>将计算结果写入寄存器堆，并释放功能单元</a:t>
            </a:r>
            <a:r>
              <a:rPr lang="en-US" sz="1300" b="0" i="0" u="none" strike="noStrike" dirty="0">
                <a:solidFill>
                  <a:srgbClr val="4B5563"/>
                </a:solidFill>
                <a:latin typeface="Noto Sans SC"/>
                <a:ea typeface="Noto Sans SC"/>
                <a:cs typeface="Noto Sans SC"/>
                <a:sym typeface="Noto Sans SC"/>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Scoreboard工作示例：处理RAW与WAR冒险</a:t>
            </a:r>
            <a:endParaRPr lang="en-US" sz="1100"/>
          </a:p>
        </p:txBody>
      </p:sp>
      <p:sp>
        <p:nvSpPr>
          <p:cNvPr id="4" name="AutoShape 4"/>
          <p:cNvSpPr/>
          <p:nvPr/>
        </p:nvSpPr>
        <p:spPr>
          <a:xfrm>
            <a:off x="762000" y="1651000"/>
            <a:ext cx="3302000" cy="4445000"/>
          </a:xfrm>
          <a:prstGeom prst="roundRect">
            <a:avLst>
              <a:gd name="adj" fmla="val 4615"/>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1968500"/>
            <a:ext cx="304800" cy="304800"/>
          </a:xfrm>
          <a:prstGeom prst="rect">
            <a:avLst/>
          </a:prstGeom>
        </p:spPr>
      </p:pic>
      <p:sp>
        <p:nvSpPr>
          <p:cNvPr id="6" name="AutoShape 6"/>
          <p:cNvSpPr/>
          <p:nvPr/>
        </p:nvSpPr>
        <p:spPr>
          <a:xfrm>
            <a:off x="1447800" y="19304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指令序列</a:t>
            </a:r>
            <a:endParaRPr lang="en-US" sz="1100"/>
          </a:p>
        </p:txBody>
      </p:sp>
      <p:sp>
        <p:nvSpPr>
          <p:cNvPr id="7" name="AutoShape 7"/>
          <p:cNvSpPr/>
          <p:nvPr/>
        </p:nvSpPr>
        <p:spPr>
          <a:xfrm>
            <a:off x="1016000" y="2667000"/>
            <a:ext cx="2794000" cy="1905000"/>
          </a:xfrm>
          <a:prstGeom prst="roundRect">
            <a:avLst>
              <a:gd name="adj" fmla="val 5333"/>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143000" y="2857500"/>
            <a:ext cx="2540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1F2937"/>
                </a:solidFill>
                <a:latin typeface="Roboto Mono"/>
                <a:ea typeface="Roboto Mono"/>
                <a:cs typeface="Roboto Mono"/>
                <a:sym typeface="Roboto Mono"/>
              </a:rPr>
              <a:t>DIV.D F0, F2, F4</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100" b="0" i="0" u="none" strike="noStrike">
                <a:solidFill>
                  <a:srgbClr val="6B7280"/>
                </a:solidFill>
                <a:latin typeface="Noto Sans SC"/>
                <a:ea typeface="Noto Sans SC"/>
                <a:cs typeface="Noto Sans SC"/>
                <a:sym typeface="Noto Sans SC"/>
              </a:rPr>
              <a:t>// 浮点除法，耗时较长</a:t>
            </a:r>
            <a:endParaRPr lang="en-US" sz="1100"/>
          </a:p>
          <a:p>
            <a:pPr indent="0" algn="l">
              <a:lnSpc>
                <a:spcPct val="125000"/>
              </a:lnSpc>
            </a:pPr>
            <a:r>
              <a:rPr lang="en-US" sz="1300" b="0" i="0" u="none" strike="noStrike">
                <a:solidFill>
                  <a:srgbClr val="DC2626"/>
                </a:solidFill>
                <a:latin typeface="Roboto Mono"/>
                <a:ea typeface="Roboto Mono"/>
                <a:cs typeface="Roboto Mono"/>
                <a:sym typeface="Roboto Mono"/>
              </a:rPr>
              <a:t>ADD.D F6, F0, F8</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100" b="0" i="0" u="none" strike="noStrike">
                <a:solidFill>
                  <a:srgbClr val="6B7280"/>
                </a:solidFill>
                <a:latin typeface="Noto Sans SC"/>
                <a:ea typeface="Noto Sans SC"/>
                <a:cs typeface="Noto Sans SC"/>
                <a:sym typeface="Noto Sans SC"/>
              </a:rPr>
              <a:t>// 数据RAW冒险 (依赖F0)</a:t>
            </a:r>
          </a:p>
          <a:p>
            <a:pPr indent="0" algn="l">
              <a:lnSpc>
                <a:spcPct val="125000"/>
              </a:lnSpc>
            </a:pPr>
            <a:r>
              <a:rPr lang="en-US" sz="1300" b="0" i="0" u="none" strike="noStrike">
                <a:solidFill>
                  <a:srgbClr val="D97706"/>
                </a:solidFill>
                <a:latin typeface="Roboto Mono"/>
                <a:ea typeface="Roboto Mono"/>
                <a:cs typeface="Roboto Mono"/>
                <a:sym typeface="Roboto Mono"/>
              </a:rPr>
              <a:t>SUB.D F8, F10, F12</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100" b="0" i="0" u="none" strike="noStrike">
                <a:solidFill>
                  <a:srgbClr val="6B7280"/>
                </a:solidFill>
                <a:latin typeface="Noto Sans SC"/>
                <a:ea typeface="Noto Sans SC"/>
                <a:cs typeface="Noto Sans SC"/>
                <a:sym typeface="Noto Sans SC"/>
              </a:rPr>
              <a:t>// 反相关WAR冒险 (F8)</a:t>
            </a:r>
          </a:p>
        </p:txBody>
      </p:sp>
      <p:sp>
        <p:nvSpPr>
          <p:cNvPr id="9" name="AutoShape 9"/>
          <p:cNvSpPr/>
          <p:nvPr/>
        </p:nvSpPr>
        <p:spPr>
          <a:xfrm>
            <a:off x="4445000" y="1651000"/>
            <a:ext cx="3302000" cy="4445000"/>
          </a:xfrm>
          <a:prstGeom prst="roundRect">
            <a:avLst>
              <a:gd name="adj" fmla="val 4615"/>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4699000" y="1968500"/>
            <a:ext cx="304800" cy="304800"/>
          </a:xfrm>
          <a:prstGeom prst="rect">
            <a:avLst/>
          </a:prstGeom>
        </p:spPr>
      </p:pic>
      <p:sp>
        <p:nvSpPr>
          <p:cNvPr id="11" name="AutoShape 11"/>
          <p:cNvSpPr/>
          <p:nvPr/>
        </p:nvSpPr>
        <p:spPr>
          <a:xfrm>
            <a:off x="5130800" y="19304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执行流程分析</a:t>
            </a:r>
            <a:endParaRPr lang="en-US" sz="1100"/>
          </a:p>
        </p:txBody>
      </p:sp>
      <p:sp>
        <p:nvSpPr>
          <p:cNvPr id="12" name="AutoShape 12"/>
          <p:cNvSpPr/>
          <p:nvPr/>
        </p:nvSpPr>
        <p:spPr>
          <a:xfrm>
            <a:off x="4699000" y="2667000"/>
            <a:ext cx="2794000" cy="3048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374151"/>
                </a:solidFill>
                <a:latin typeface="Noto Sans SC"/>
                <a:ea typeface="Noto Sans SC"/>
                <a:cs typeface="Noto Sans SC"/>
                <a:sym typeface="Noto Sans SC"/>
              </a:rPr>
              <a:t>•</a:t>
            </a:r>
            <a:r>
              <a:rPr lang="en-US" sz="1300" b="1" i="0" u="none" strike="noStrike">
                <a:solidFill>
                  <a:srgbClr val="374151"/>
                </a:solidFill>
                <a:latin typeface="Noto Sans SC"/>
                <a:ea typeface="Noto Sans SC"/>
                <a:cs typeface="Noto Sans SC"/>
                <a:sym typeface="Noto Sans SC"/>
              </a:rPr>
              <a:t>发射阶段：</a:t>
            </a:r>
            <a:r>
              <a:rPr lang="en-US" sz="1300" b="0" i="0" u="none" strike="noStrike">
                <a:solidFill>
                  <a:srgbClr val="374151"/>
                </a:solidFill>
                <a:latin typeface="Noto Sans SC"/>
                <a:ea typeface="Noto Sans SC"/>
                <a:cs typeface="Noto Sans SC"/>
                <a:sym typeface="Noto Sans SC"/>
              </a:rPr>
              <a:t>三条指令依次发射，Scoreboard记录寄存器状态。</a:t>
            </a:r>
            <a:endParaRPr lang="en-US" sz="1100"/>
          </a:p>
          <a:p>
            <a:pPr indent="0" algn="l">
              <a:lnSpc>
                <a:spcPct val="116666"/>
              </a:lnSpc>
            </a:pPr>
            <a:r>
              <a:rPr lang="en-US" sz="1300" b="0" i="0" u="none" strike="noStrike">
                <a:solidFill>
                  <a:srgbClr val="374151"/>
                </a:solidFill>
                <a:latin typeface="Noto Sans SC"/>
                <a:ea typeface="Noto Sans SC"/>
                <a:cs typeface="Noto Sans SC"/>
                <a:sym typeface="Noto Sans SC"/>
              </a:rPr>
              <a:t>•</a:t>
            </a:r>
            <a:r>
              <a:rPr lang="en-US" sz="1300" b="1" i="0" u="none" strike="noStrike">
                <a:solidFill>
                  <a:srgbClr val="374151"/>
                </a:solidFill>
                <a:latin typeface="Noto Sans SC"/>
                <a:ea typeface="Noto Sans SC"/>
                <a:cs typeface="Noto Sans SC"/>
                <a:sym typeface="Noto Sans SC"/>
              </a:rPr>
              <a:t>RAW阻塞：</a:t>
            </a:r>
            <a:r>
              <a:rPr lang="en-US" sz="1300" b="0" i="0" u="none" strike="noStrike">
                <a:solidFill>
                  <a:srgbClr val="374151"/>
                </a:solidFill>
                <a:latin typeface="Noto Sans SC"/>
                <a:ea typeface="Noto Sans SC"/>
                <a:cs typeface="Noto Sans SC"/>
                <a:sym typeface="Noto Sans SC"/>
              </a:rPr>
              <a:t>ADD.D因读取F0，被Scoreboard阻塞在“读操作数”阶段，直到DIV.D完成。</a:t>
            </a:r>
          </a:p>
          <a:p>
            <a:pPr indent="0" algn="l">
              <a:lnSpc>
                <a:spcPct val="116666"/>
              </a:lnSpc>
            </a:pPr>
            <a:r>
              <a:rPr lang="en-US" sz="1300" b="0" i="0" u="none" strike="noStrike">
                <a:solidFill>
                  <a:srgbClr val="374151"/>
                </a:solidFill>
                <a:latin typeface="Noto Sans SC"/>
                <a:ea typeface="Noto Sans SC"/>
                <a:cs typeface="Noto Sans SC"/>
                <a:sym typeface="Noto Sans SC"/>
              </a:rPr>
              <a:t>•</a:t>
            </a:r>
            <a:r>
              <a:rPr lang="en-US" sz="1300" b="1" i="0" u="none" strike="noStrike">
                <a:solidFill>
                  <a:srgbClr val="374151"/>
                </a:solidFill>
                <a:latin typeface="Noto Sans SC"/>
                <a:ea typeface="Noto Sans SC"/>
                <a:cs typeface="Noto Sans SC"/>
                <a:sym typeface="Noto Sans SC"/>
              </a:rPr>
              <a:t>WAR阻塞：</a:t>
            </a:r>
            <a:r>
              <a:rPr lang="en-US" sz="1300" b="0" i="0" u="none" strike="noStrike">
                <a:solidFill>
                  <a:srgbClr val="374151"/>
                </a:solidFill>
                <a:latin typeface="Noto Sans SC"/>
                <a:ea typeface="Noto Sans SC"/>
                <a:cs typeface="Noto Sans SC"/>
                <a:sym typeface="Noto Sans SC"/>
              </a:rPr>
              <a:t>SUB.D要写入F8，但ADD.D还需读取F8，因此被阻塞在“写回”阶段入口。</a:t>
            </a:r>
          </a:p>
          <a:p>
            <a:pPr indent="0" algn="l">
              <a:lnSpc>
                <a:spcPct val="116666"/>
              </a:lnSpc>
            </a:pPr>
            <a:r>
              <a:rPr lang="en-US" sz="1300" b="0" i="0" u="none" strike="noStrike">
                <a:solidFill>
                  <a:srgbClr val="374151"/>
                </a:solidFill>
                <a:latin typeface="Noto Sans SC"/>
                <a:ea typeface="Noto Sans SC"/>
                <a:cs typeface="Noto Sans SC"/>
                <a:sym typeface="Noto Sans SC"/>
              </a:rPr>
              <a:t>•</a:t>
            </a:r>
            <a:r>
              <a:rPr lang="en-US" sz="1300" b="1" i="0" u="none" strike="noStrike">
                <a:solidFill>
                  <a:srgbClr val="374151"/>
                </a:solidFill>
                <a:latin typeface="Noto Sans SC"/>
                <a:ea typeface="Noto Sans SC"/>
                <a:cs typeface="Noto Sans SC"/>
                <a:sym typeface="Noto Sans SC"/>
              </a:rPr>
              <a:t>解除阻塞：</a:t>
            </a:r>
            <a:r>
              <a:rPr lang="en-US" sz="1300" b="0" i="0" u="none" strike="noStrike">
                <a:solidFill>
                  <a:srgbClr val="374151"/>
                </a:solidFill>
                <a:latin typeface="Noto Sans SC"/>
                <a:ea typeface="Noto Sans SC"/>
                <a:cs typeface="Noto Sans SC"/>
                <a:sym typeface="Noto Sans SC"/>
              </a:rPr>
              <a:t>ADD.D完成后，F8被释放，SUB.D的写回才被允许。</a:t>
            </a:r>
          </a:p>
        </p:txBody>
      </p:sp>
      <p:sp>
        <p:nvSpPr>
          <p:cNvPr id="13" name="AutoShape 13"/>
          <p:cNvSpPr/>
          <p:nvPr/>
        </p:nvSpPr>
        <p:spPr>
          <a:xfrm>
            <a:off x="8128000" y="1651000"/>
            <a:ext cx="3302000" cy="4445000"/>
          </a:xfrm>
          <a:prstGeom prst="roundRect">
            <a:avLst>
              <a:gd name="adj" fmla="val 4615"/>
            </a:avLst>
          </a:prstGeom>
          <a:solidFill>
            <a:srgbClr val="3B82F6">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8382000" y="1968500"/>
            <a:ext cx="304800" cy="304800"/>
          </a:xfrm>
          <a:prstGeom prst="rect">
            <a:avLst/>
          </a:prstGeom>
        </p:spPr>
      </p:pic>
      <p:sp>
        <p:nvSpPr>
          <p:cNvPr id="15" name="AutoShape 15"/>
          <p:cNvSpPr/>
          <p:nvPr/>
        </p:nvSpPr>
        <p:spPr>
          <a:xfrm>
            <a:off x="8813800" y="19304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关键观察</a:t>
            </a:r>
            <a:endParaRPr lang="en-US" sz="1100"/>
          </a:p>
        </p:txBody>
      </p:sp>
      <p:sp>
        <p:nvSpPr>
          <p:cNvPr id="16" name="AutoShape 16"/>
          <p:cNvSpPr/>
          <p:nvPr/>
        </p:nvSpPr>
        <p:spPr>
          <a:xfrm>
            <a:off x="8382000" y="2794000"/>
            <a:ext cx="2794000" cy="2921000"/>
          </a:xfrm>
          <a:prstGeom prst="rect">
            <a:avLst/>
          </a:prstGeom>
          <a:noFill/>
          <a:ln w="12700" cap="flat" cmpd="sng">
            <a:noFill/>
            <a:prstDash val="solid"/>
            <a:round/>
          </a:ln>
        </p:spPr>
        <p:txBody>
          <a:bodyPr vert="horz" wrap="square" lIns="0" tIns="0" rIns="0" bIns="0" rtlCol="0" anchor="ctr" anchorCtr="0"/>
          <a:lstStyle/>
          <a:p>
            <a:pPr indent="0" algn="just">
              <a:lnSpc>
                <a:spcPct val="133333"/>
              </a:lnSpc>
              <a:defRPr/>
            </a:pPr>
            <a:r>
              <a:rPr lang="en-US" sz="1400" b="0" i="0" u="none" strike="noStrike">
                <a:solidFill>
                  <a:srgbClr val="FFFFFF">
                    <a:alpha val="90196"/>
                  </a:srgbClr>
                </a:solidFill>
                <a:latin typeface="Noto Sans SC"/>
                <a:ea typeface="Noto Sans SC"/>
                <a:cs typeface="Noto Sans SC"/>
                <a:sym typeface="Noto Sans SC"/>
              </a:rPr>
              <a:t>Scoreboard 机制能够有效保障指令执行的正确性，并解决了RAW数据冒险的问题。</a:t>
            </a:r>
            <a:endParaRPr lang="en-US" sz="1100"/>
          </a:p>
          <a:p>
            <a:pPr indent="0" algn="just">
              <a:lnSpc>
                <a:spcPct val="133333"/>
              </a:lnSpc>
              <a:spcBef>
                <a:spcPts val="1600"/>
              </a:spcBef>
            </a:pPr>
            <a:r>
              <a:rPr lang="en-US" sz="1400" b="1" i="0" u="none" strike="noStrike">
                <a:solidFill>
                  <a:srgbClr val="FEF3C7"/>
                </a:solidFill>
                <a:latin typeface="Noto Sans SC"/>
                <a:ea typeface="Noto Sans SC"/>
                <a:cs typeface="Noto Sans SC"/>
                <a:sym typeface="Noto Sans SC"/>
              </a:rPr>
              <a:t>但局限性在于：</a:t>
            </a:r>
            <a:r>
              <a:rPr lang="en-US" sz="1400" b="0" i="0" u="none" strike="noStrike">
                <a:solidFill>
                  <a:srgbClr val="1F2329"/>
                </a:solidFill>
                <a:latin typeface="Noto Sans SC"/>
                <a:ea typeface="Noto Sans SC"/>
                <a:cs typeface="Noto Sans SC"/>
                <a:sym typeface="Noto Sans SC"/>
              </a:rPr>
              <a:t/>
            </a:r>
            <a:br>
              <a:rPr lang="en-US" sz="1400" b="0" i="0" u="none" strike="noStrike">
                <a:solidFill>
                  <a:srgbClr val="1F2329"/>
                </a:solidFill>
                <a:latin typeface="Noto Sans SC"/>
                <a:ea typeface="Noto Sans SC"/>
                <a:cs typeface="Noto Sans SC"/>
                <a:sym typeface="Noto Sans SC"/>
              </a:rPr>
            </a:br>
            <a:r>
              <a:rPr lang="en-US" sz="1400" b="0" i="0" u="none" strike="noStrike">
                <a:solidFill>
                  <a:srgbClr val="FFFFFF">
                    <a:alpha val="90196"/>
                  </a:srgbClr>
                </a:solidFill>
                <a:latin typeface="Noto Sans SC"/>
                <a:ea typeface="Noto Sans SC"/>
                <a:cs typeface="Noto Sans SC"/>
                <a:sym typeface="Noto Sans SC"/>
              </a:rPr>
              <a:t>它对WAR冒险采取了过于保守的策略。即便两条指令并不真正冲突，也会强制插入不必要的等待周期，限制了处理器的指令级并行（ILP）性能。</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Scoreboard：开创性的设计与固有的局限</a:t>
            </a:r>
            <a:endParaRPr lang="en-US" sz="1100"/>
          </a:p>
        </p:txBody>
      </p:sp>
      <p:sp>
        <p:nvSpPr>
          <p:cNvPr id="4" name="AutoShape 4"/>
          <p:cNvSpPr/>
          <p:nvPr/>
        </p:nvSpPr>
        <p:spPr>
          <a:xfrm>
            <a:off x="762000" y="1651000"/>
            <a:ext cx="5207000" cy="4572000"/>
          </a:xfrm>
          <a:prstGeom prst="roundRect">
            <a:avLst>
              <a:gd name="adj" fmla="val 3333"/>
            </a:avLst>
          </a:prstGeom>
          <a:solidFill>
            <a:srgbClr val="EFF6FF">
              <a:alpha val="95000"/>
            </a:srgbClr>
          </a:solidFill>
          <a:ln w="12700" cap="flat" cmpd="sng">
            <a:solidFill>
              <a:srgbClr val="3B82F6">
                <a:alpha val="4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66800" y="1905000"/>
            <a:ext cx="355600" cy="355600"/>
          </a:xfrm>
          <a:prstGeom prst="rect">
            <a:avLst/>
          </a:prstGeom>
        </p:spPr>
      </p:pic>
      <p:sp>
        <p:nvSpPr>
          <p:cNvPr id="6" name="AutoShape 6"/>
          <p:cNvSpPr/>
          <p:nvPr/>
        </p:nvSpPr>
        <p:spPr>
          <a:xfrm>
            <a:off x="1549400" y="1879600"/>
            <a:ext cx="381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3B82F6"/>
                </a:solidFill>
                <a:latin typeface="Noto Sans SC"/>
                <a:ea typeface="Noto Sans SC"/>
                <a:cs typeface="Noto Sans SC"/>
                <a:sym typeface="Noto Sans SC"/>
              </a:rPr>
              <a:t>核心优势</a:t>
            </a:r>
            <a:endParaRPr lang="en-US" sz="1100"/>
          </a:p>
        </p:txBody>
      </p:sp>
      <p:sp>
        <p:nvSpPr>
          <p:cNvPr id="7" name="AutoShape 7"/>
          <p:cNvSpPr/>
          <p:nvPr/>
        </p:nvSpPr>
        <p:spPr>
          <a:xfrm>
            <a:off x="1016000" y="2667000"/>
            <a:ext cx="4699000" cy="330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spcBef>
                <a:spcPts val="1200"/>
              </a:spcBef>
              <a:defRPr/>
            </a:pPr>
            <a:r>
              <a:rPr lang="en-US" sz="1500" b="1" i="0" u="none" strike="noStrike">
                <a:solidFill>
                  <a:srgbClr val="1F2937"/>
                </a:solidFill>
                <a:latin typeface="Noto Sans SC"/>
                <a:ea typeface="Noto Sans SC"/>
                <a:cs typeface="Noto Sans SC"/>
                <a:sym typeface="Noto Sans SC"/>
              </a:rPr>
              <a:t>• 实现相对简单：</a:t>
            </a:r>
            <a:r>
              <a:rPr lang="en-US" sz="1300" b="0" i="0" u="none" strike="noStrike">
                <a:solidFill>
                  <a:srgbClr val="4B5563"/>
                </a:solidFill>
                <a:latin typeface="Noto Sans SC"/>
                <a:ea typeface="Noto Sans SC"/>
                <a:cs typeface="Noto Sans SC"/>
                <a:sym typeface="Noto Sans SC"/>
              </a:rPr>
              <a:t>集中式控制逻辑设计直观，便于硬件工程师理解与实现。</a:t>
            </a:r>
            <a:endParaRPr lang="en-US" sz="1100"/>
          </a:p>
          <a:p>
            <a:pPr indent="0" algn="l">
              <a:lnSpc>
                <a:spcPct val="116666"/>
              </a:lnSpc>
              <a:spcBef>
                <a:spcPts val="1600"/>
              </a:spcBef>
            </a:pPr>
            <a:r>
              <a:rPr lang="en-US" sz="1500" b="1" i="0" u="none" strike="noStrike">
                <a:solidFill>
                  <a:srgbClr val="1F2937"/>
                </a:solidFill>
                <a:latin typeface="Noto Sans SC"/>
                <a:ea typeface="Noto Sans SC"/>
                <a:cs typeface="Noto Sans SC"/>
                <a:sym typeface="Noto Sans SC"/>
              </a:rPr>
              <a:t>• 硬件开销较小：</a:t>
            </a:r>
            <a:r>
              <a:rPr lang="en-US" sz="1300" b="0" i="0" u="none" strike="noStrike">
                <a:solidFill>
                  <a:srgbClr val="4B5563"/>
                </a:solidFill>
                <a:latin typeface="Noto Sans SC"/>
                <a:ea typeface="Noto Sans SC"/>
                <a:cs typeface="Noto Sans SC"/>
                <a:sym typeface="Noto Sans SC"/>
              </a:rPr>
              <a:t>相比Tomasulo算法等后续架构，无需大量的缓冲器和复杂的广播网络。</a:t>
            </a:r>
          </a:p>
          <a:p>
            <a:pPr indent="0" algn="l">
              <a:lnSpc>
                <a:spcPct val="116666"/>
              </a:lnSpc>
              <a:spcBef>
                <a:spcPts val="1600"/>
              </a:spcBef>
            </a:pPr>
            <a:r>
              <a:rPr lang="en-US" sz="1500" b="1" i="0" u="none" strike="noStrike">
                <a:solidFill>
                  <a:srgbClr val="1F2937"/>
                </a:solidFill>
                <a:latin typeface="Noto Sans SC"/>
                <a:ea typeface="Noto Sans SC"/>
                <a:cs typeface="Noto Sans SC"/>
                <a:sym typeface="Noto Sans SC"/>
              </a:rPr>
              <a:t>• 挖掘一定ILP：</a:t>
            </a:r>
            <a:r>
              <a:rPr lang="en-US" sz="1300" b="0" i="0" u="none" strike="noStrike">
                <a:solidFill>
                  <a:srgbClr val="4B5563"/>
                </a:solidFill>
                <a:latin typeface="Noto Sans SC"/>
                <a:ea typeface="Noto Sans SC"/>
                <a:cs typeface="Noto Sans SC"/>
                <a:sym typeface="Noto Sans SC"/>
              </a:rPr>
              <a:t>能够在一定程度上检测并缓解数据冒险，提升指令级并行度。</a:t>
            </a:r>
          </a:p>
          <a:p>
            <a:pPr indent="0" algn="l">
              <a:lnSpc>
                <a:spcPct val="116666"/>
              </a:lnSpc>
              <a:spcBef>
                <a:spcPts val="1600"/>
              </a:spcBef>
            </a:pPr>
            <a:r>
              <a:rPr lang="en-US" sz="1500" b="1" i="0" u="none" strike="noStrike">
                <a:solidFill>
                  <a:srgbClr val="1F2937"/>
                </a:solidFill>
                <a:latin typeface="Noto Sans SC"/>
                <a:ea typeface="Noto Sans SC"/>
                <a:cs typeface="Noto Sans SC"/>
                <a:sym typeface="Noto Sans SC"/>
              </a:rPr>
              <a:t>• 软件透明性：</a:t>
            </a:r>
            <a:r>
              <a:rPr lang="en-US" sz="1300" b="0" i="0" u="none" strike="noStrike">
                <a:solidFill>
                  <a:srgbClr val="4B5563"/>
                </a:solidFill>
                <a:latin typeface="Noto Sans SC"/>
                <a:ea typeface="Noto Sans SC"/>
                <a:cs typeface="Noto Sans SC"/>
                <a:sym typeface="Noto Sans SC"/>
              </a:rPr>
              <a:t>完全由硬件逻辑实现调度功能，无需编译器进行额外的代码优化。</a:t>
            </a:r>
          </a:p>
        </p:txBody>
      </p:sp>
      <p:sp>
        <p:nvSpPr>
          <p:cNvPr id="8" name="AutoShape 8"/>
          <p:cNvSpPr/>
          <p:nvPr/>
        </p:nvSpPr>
        <p:spPr>
          <a:xfrm>
            <a:off x="6223000" y="1651000"/>
            <a:ext cx="5207000" cy="4572000"/>
          </a:xfrm>
          <a:prstGeom prst="roundRect">
            <a:avLst>
              <a:gd name="adj" fmla="val 3333"/>
            </a:avLst>
          </a:prstGeom>
          <a:solidFill>
            <a:srgbClr val="FEF2F2">
              <a:alpha val="95000"/>
            </a:srgbClr>
          </a:solidFill>
          <a:ln w="12700" cap="flat" cmpd="sng">
            <a:solidFill>
              <a:srgbClr val="EF4444">
                <a:alpha val="4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6527800" y="1905000"/>
            <a:ext cx="355600" cy="355600"/>
          </a:xfrm>
          <a:prstGeom prst="rect">
            <a:avLst/>
          </a:prstGeom>
        </p:spPr>
      </p:pic>
      <p:sp>
        <p:nvSpPr>
          <p:cNvPr id="10" name="AutoShape 10"/>
          <p:cNvSpPr/>
          <p:nvPr/>
        </p:nvSpPr>
        <p:spPr>
          <a:xfrm>
            <a:off x="7010400" y="1879600"/>
            <a:ext cx="381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DC2626"/>
                </a:solidFill>
                <a:latin typeface="Noto Sans SC"/>
                <a:ea typeface="Noto Sans SC"/>
                <a:cs typeface="Noto Sans SC"/>
                <a:sym typeface="Noto Sans SC"/>
              </a:rPr>
              <a:t>主要局限</a:t>
            </a:r>
            <a:endParaRPr lang="en-US" sz="1100"/>
          </a:p>
        </p:txBody>
      </p:sp>
      <p:sp>
        <p:nvSpPr>
          <p:cNvPr id="11" name="AutoShape 11"/>
          <p:cNvSpPr/>
          <p:nvPr/>
        </p:nvSpPr>
        <p:spPr>
          <a:xfrm>
            <a:off x="6477000" y="2667000"/>
            <a:ext cx="4699000" cy="330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spcBef>
                <a:spcPts val="1200"/>
              </a:spcBef>
              <a:defRPr/>
            </a:pPr>
            <a:r>
              <a:rPr lang="en-US" sz="1500" b="1" i="0" u="none" strike="noStrike">
                <a:solidFill>
                  <a:srgbClr val="1F2937"/>
                </a:solidFill>
                <a:latin typeface="Noto Sans SC"/>
                <a:ea typeface="Noto Sans SC"/>
                <a:cs typeface="Noto Sans SC"/>
                <a:sym typeface="Noto Sans SC"/>
              </a:rPr>
              <a:t>• 冒险解决不彻底：</a:t>
            </a:r>
            <a:r>
              <a:rPr lang="en-US" sz="1300" b="0" i="0" u="none" strike="noStrike">
                <a:solidFill>
                  <a:srgbClr val="4B5563"/>
                </a:solidFill>
                <a:latin typeface="Noto Sans SC"/>
                <a:ea typeface="Noto Sans SC"/>
                <a:cs typeface="Noto Sans SC"/>
                <a:sym typeface="Noto Sans SC"/>
              </a:rPr>
              <a:t>无法有效处理WAR与WAW冒险，只能通过延迟写回的保守策略，降低了执行效率。</a:t>
            </a:r>
            <a:endParaRPr lang="en-US" sz="1100"/>
          </a:p>
          <a:p>
            <a:pPr indent="0" algn="l">
              <a:lnSpc>
                <a:spcPct val="116666"/>
              </a:lnSpc>
              <a:spcBef>
                <a:spcPts val="1600"/>
              </a:spcBef>
            </a:pPr>
            <a:r>
              <a:rPr lang="en-US" sz="1500" b="1" i="0" u="none" strike="noStrike">
                <a:solidFill>
                  <a:srgbClr val="1F2937"/>
                </a:solidFill>
                <a:latin typeface="Noto Sans SC"/>
                <a:ea typeface="Noto Sans SC"/>
                <a:cs typeface="Noto Sans SC"/>
                <a:sym typeface="Noto Sans SC"/>
              </a:rPr>
              <a:t>• 集中式控制瓶颈：</a:t>
            </a:r>
            <a:r>
              <a:rPr lang="en-US" sz="1300" b="0" i="0" u="none" strike="noStrike">
                <a:solidFill>
                  <a:srgbClr val="4B5563"/>
                </a:solidFill>
                <a:latin typeface="Noto Sans SC"/>
                <a:ea typeface="Noto Sans SC"/>
                <a:cs typeface="Noto Sans SC"/>
                <a:sym typeface="Noto Sans SC"/>
              </a:rPr>
              <a:t>所有指令的调度与发射决策都依赖单一Scoreboard，限制了发射的宽度与频率。</a:t>
            </a:r>
          </a:p>
          <a:p>
            <a:pPr indent="0" algn="l">
              <a:lnSpc>
                <a:spcPct val="116666"/>
              </a:lnSpc>
              <a:spcBef>
                <a:spcPts val="1600"/>
              </a:spcBef>
            </a:pPr>
            <a:r>
              <a:rPr lang="en-US" sz="1500" b="1" i="0" u="none" strike="noStrike">
                <a:solidFill>
                  <a:srgbClr val="1F2937"/>
                </a:solidFill>
                <a:latin typeface="Noto Sans SC"/>
                <a:ea typeface="Noto Sans SC"/>
                <a:cs typeface="Noto Sans SC"/>
                <a:sym typeface="Noto Sans SC"/>
              </a:rPr>
              <a:t>• 通信依赖寄存器：</a:t>
            </a:r>
            <a:r>
              <a:rPr lang="en-US" sz="1300" b="0" i="0" u="none" strike="noStrike">
                <a:solidFill>
                  <a:srgbClr val="4B5563"/>
                </a:solidFill>
                <a:latin typeface="Noto Sans SC"/>
                <a:ea typeface="Noto Sans SC"/>
                <a:cs typeface="Noto Sans SC"/>
                <a:sym typeface="Noto Sans SC"/>
              </a:rPr>
              <a:t>功能单元计算结果必须先写回寄存器堆才能被读取，增加了不必要的数据延迟。</a:t>
            </a:r>
          </a:p>
          <a:p>
            <a:pPr indent="0" algn="l">
              <a:lnSpc>
                <a:spcPct val="116666"/>
              </a:lnSpc>
              <a:spcBef>
                <a:spcPts val="1600"/>
              </a:spcBef>
            </a:pPr>
            <a:r>
              <a:rPr lang="en-US" sz="1500" b="1" i="0" u="none" strike="noStrike">
                <a:solidFill>
                  <a:srgbClr val="1F2937"/>
                </a:solidFill>
                <a:latin typeface="Noto Sans SC"/>
                <a:ea typeface="Noto Sans SC"/>
                <a:cs typeface="Noto Sans SC"/>
                <a:sym typeface="Noto Sans SC"/>
              </a:rPr>
              <a:t>• 可扩展性不足：</a:t>
            </a:r>
            <a:r>
              <a:rPr lang="en-US" sz="1300" b="0" i="0" u="none" strike="noStrike">
                <a:solidFill>
                  <a:srgbClr val="4B5563"/>
                </a:solidFill>
                <a:latin typeface="Noto Sans SC"/>
                <a:ea typeface="Noto Sans SC"/>
                <a:cs typeface="Noto Sans SC"/>
                <a:sym typeface="Noto Sans SC"/>
              </a:rPr>
              <a:t>受限于集中式结构，难以扩展以适应现代宽发射超标量处理器的性能需求。</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3F4F6">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Tomasulo算法：乱序执行的革命</a:t>
            </a:r>
            <a:endParaRPr lang="en-US" sz="1100"/>
          </a:p>
        </p:txBody>
      </p:sp>
      <p:sp>
        <p:nvSpPr>
          <p:cNvPr id="4" name="AutoShape 4"/>
          <p:cNvSpPr/>
          <p:nvPr/>
        </p:nvSpPr>
        <p:spPr>
          <a:xfrm>
            <a:off x="762000" y="1524000"/>
            <a:ext cx="5207000" cy="1206500"/>
          </a:xfrm>
          <a:prstGeom prst="roundRect">
            <a:avLst>
              <a:gd name="adj" fmla="val 1263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524000"/>
            <a:ext cx="76200" cy="12065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79500" y="1651000"/>
            <a:ext cx="4699000" cy="952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800" b="1" i="0" u="none" strike="noStrike">
                <a:solidFill>
                  <a:srgbClr val="3B82F6"/>
                </a:solidFill>
                <a:latin typeface="Noto Sans SC"/>
                <a:ea typeface="Noto Sans SC"/>
                <a:cs typeface="Noto Sans SC"/>
                <a:sym typeface="Noto Sans SC"/>
              </a:rPr>
              <a:t>▍ 起源</a:t>
            </a:r>
            <a:r>
              <a:rPr lang="en-US" sz="1400" b="0" i="0" u="none" strike="noStrike">
                <a:solidFill>
                  <a:srgbClr val="4B5563"/>
                </a:solidFill>
                <a:latin typeface="Noto Sans SC"/>
                <a:ea typeface="Noto Sans SC"/>
                <a:cs typeface="Noto Sans SC"/>
                <a:sym typeface="Noto Sans SC"/>
              </a:rPr>
              <a:t>1967年，IBM为 System/360 Model 91 浮点运算单元设计的经典动态调度算法，旨在解决早期流水线处理器的性能瓶颈。</a:t>
            </a:r>
            <a:endParaRPr lang="en-US" sz="1100"/>
          </a:p>
        </p:txBody>
      </p:sp>
      <p:sp>
        <p:nvSpPr>
          <p:cNvPr id="7" name="AutoShape 7"/>
          <p:cNvSpPr/>
          <p:nvPr/>
        </p:nvSpPr>
        <p:spPr>
          <a:xfrm>
            <a:off x="762000" y="2921000"/>
            <a:ext cx="5207000" cy="1397000"/>
          </a:xfrm>
          <a:prstGeom prst="roundRect">
            <a:avLst>
              <a:gd name="adj" fmla="val 10909"/>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8" name="AutoShape 8"/>
          <p:cNvSpPr/>
          <p:nvPr/>
        </p:nvSpPr>
        <p:spPr>
          <a:xfrm>
            <a:off x="762000" y="2921000"/>
            <a:ext cx="76200" cy="1397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079500" y="3111500"/>
            <a:ext cx="4699000" cy="10795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800" b="1" i="0" u="none" strike="noStrike">
                <a:solidFill>
                  <a:srgbClr val="3B82F6"/>
                </a:solidFill>
                <a:latin typeface="Noto Sans SC"/>
                <a:ea typeface="Noto Sans SC"/>
                <a:cs typeface="Noto Sans SC"/>
                <a:sym typeface="Noto Sans SC"/>
              </a:rPr>
              <a:t>▍ 核心思想</a:t>
            </a:r>
            <a:r>
              <a:rPr lang="en-US" sz="1400" b="0" i="0" u="none" strike="noStrike">
                <a:solidFill>
                  <a:srgbClr val="4B5563"/>
                </a:solidFill>
                <a:latin typeface="Noto Sans SC"/>
                <a:ea typeface="Noto Sans SC"/>
                <a:cs typeface="Noto Sans SC"/>
                <a:sym typeface="Noto Sans SC"/>
              </a:rPr>
              <a:t>突破集中式控制限制，引入</a:t>
            </a:r>
            <a:r>
              <a:rPr lang="en-US" sz="1400" b="1" i="0" u="none" strike="noStrike">
                <a:solidFill>
                  <a:srgbClr val="2563EB"/>
                </a:solidFill>
                <a:latin typeface="Noto Sans SC"/>
                <a:ea typeface="Noto Sans SC"/>
                <a:cs typeface="Noto Sans SC"/>
                <a:sym typeface="Noto Sans SC"/>
              </a:rPr>
              <a:t>寄存器重命名</a:t>
            </a:r>
            <a:r>
              <a:rPr lang="en-US" sz="1400" b="0" i="0" u="none" strike="noStrike">
                <a:solidFill>
                  <a:srgbClr val="4B5563"/>
                </a:solidFill>
                <a:latin typeface="Noto Sans SC"/>
                <a:ea typeface="Noto Sans SC"/>
                <a:cs typeface="Noto Sans SC"/>
                <a:sym typeface="Noto Sans SC"/>
              </a:rPr>
              <a:t>与</a:t>
            </a:r>
            <a:r>
              <a:rPr lang="en-US" sz="1400" b="1" i="0" u="none" strike="noStrike">
                <a:solidFill>
                  <a:srgbClr val="2563EB"/>
                </a:solidFill>
                <a:latin typeface="Noto Sans SC"/>
                <a:ea typeface="Noto Sans SC"/>
                <a:cs typeface="Noto Sans SC"/>
                <a:sym typeface="Noto Sans SC"/>
              </a:rPr>
              <a:t>分布式控制逻辑</a:t>
            </a:r>
            <a:r>
              <a:rPr lang="en-US" sz="1400" b="0" i="0" u="none" strike="noStrike">
                <a:solidFill>
                  <a:srgbClr val="4B5563"/>
                </a:solidFill>
                <a:latin typeface="Noto Sans SC"/>
                <a:ea typeface="Noto Sans SC"/>
                <a:cs typeface="Noto Sans SC"/>
                <a:sym typeface="Noto Sans SC"/>
              </a:rPr>
              <a:t>，高效解决了Scoreboard算法的局限性，实现高吞吐的指令级并行(ILP)。</a:t>
            </a:r>
            <a:endParaRPr lang="en-US" sz="1100"/>
          </a:p>
        </p:txBody>
      </p:sp>
      <p:sp>
        <p:nvSpPr>
          <p:cNvPr id="10" name="AutoShape 10"/>
          <p:cNvSpPr/>
          <p:nvPr/>
        </p:nvSpPr>
        <p:spPr>
          <a:xfrm>
            <a:off x="762000" y="4572000"/>
            <a:ext cx="1651000" cy="1778000"/>
          </a:xfrm>
          <a:prstGeom prst="roundRect">
            <a:avLst>
              <a:gd name="adj" fmla="val 923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914400" y="4762500"/>
            <a:ext cx="304800" cy="304800"/>
          </a:xfrm>
          <a:prstGeom prst="rect">
            <a:avLst/>
          </a:prstGeom>
        </p:spPr>
      </p:pic>
      <p:sp>
        <p:nvSpPr>
          <p:cNvPr id="12" name="AutoShape 12"/>
          <p:cNvSpPr/>
          <p:nvPr/>
        </p:nvSpPr>
        <p:spPr>
          <a:xfrm>
            <a:off x="914400" y="5207000"/>
            <a:ext cx="13462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1F2937"/>
                </a:solidFill>
                <a:latin typeface="Noto Sans SC"/>
                <a:ea typeface="Noto Sans SC"/>
                <a:cs typeface="Noto Sans SC"/>
                <a:sym typeface="Noto Sans SC"/>
              </a:rPr>
              <a:t>寄存器重命名</a:t>
            </a:r>
            <a:endParaRPr lang="en-US" sz="1100"/>
          </a:p>
          <a:p>
            <a:pPr indent="0" algn="l">
              <a:lnSpc>
                <a:spcPct val="108333"/>
              </a:lnSpc>
              <a:spcBef>
                <a:spcPts val="600"/>
              </a:spcBef>
            </a:pPr>
            <a:r>
              <a:rPr lang="en-US" sz="1100" b="0" i="0" u="none" strike="noStrike">
                <a:solidFill>
                  <a:srgbClr val="6B7280"/>
                </a:solidFill>
                <a:latin typeface="Noto Sans SC"/>
                <a:ea typeface="Noto Sans SC"/>
                <a:cs typeface="Noto Sans SC"/>
                <a:sym typeface="Noto Sans SC"/>
              </a:rPr>
              <a:t>彻底消除WAR和WAW数据冒险，打破假相关。</a:t>
            </a:r>
          </a:p>
        </p:txBody>
      </p:sp>
      <p:sp>
        <p:nvSpPr>
          <p:cNvPr id="13" name="AutoShape 13"/>
          <p:cNvSpPr/>
          <p:nvPr/>
        </p:nvSpPr>
        <p:spPr>
          <a:xfrm>
            <a:off x="2540000" y="4572000"/>
            <a:ext cx="1651000" cy="1778000"/>
          </a:xfrm>
          <a:prstGeom prst="roundRect">
            <a:avLst>
              <a:gd name="adj" fmla="val 923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2692400" y="4762500"/>
            <a:ext cx="304800" cy="304800"/>
          </a:xfrm>
          <a:prstGeom prst="rect">
            <a:avLst/>
          </a:prstGeom>
        </p:spPr>
      </p:pic>
      <p:sp>
        <p:nvSpPr>
          <p:cNvPr id="15" name="AutoShape 15"/>
          <p:cNvSpPr/>
          <p:nvPr/>
        </p:nvSpPr>
        <p:spPr>
          <a:xfrm>
            <a:off x="2692400" y="5207000"/>
            <a:ext cx="13462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1F2937"/>
                </a:solidFill>
                <a:latin typeface="Noto Sans SC"/>
                <a:ea typeface="Noto Sans SC"/>
                <a:cs typeface="Noto Sans SC"/>
                <a:sym typeface="Noto Sans SC"/>
              </a:rPr>
              <a:t>保留站 (RS)</a:t>
            </a:r>
            <a:endParaRPr lang="en-US" sz="1100"/>
          </a:p>
          <a:p>
            <a:pPr indent="0" algn="l">
              <a:lnSpc>
                <a:spcPct val="108333"/>
              </a:lnSpc>
              <a:spcBef>
                <a:spcPts val="600"/>
              </a:spcBef>
            </a:pPr>
            <a:r>
              <a:rPr lang="en-US" sz="1100" b="0" i="0" u="none" strike="noStrike">
                <a:solidFill>
                  <a:srgbClr val="6B7280"/>
                </a:solidFill>
                <a:latin typeface="Noto Sans SC"/>
                <a:ea typeface="Noto Sans SC"/>
                <a:cs typeface="Noto Sans SC"/>
                <a:sym typeface="Noto Sans SC"/>
              </a:rPr>
              <a:t>分布式指令缓冲区，独立缓存操作数，实现异步执行。</a:t>
            </a:r>
          </a:p>
        </p:txBody>
      </p:sp>
      <p:sp>
        <p:nvSpPr>
          <p:cNvPr id="16" name="AutoShape 16"/>
          <p:cNvSpPr/>
          <p:nvPr/>
        </p:nvSpPr>
        <p:spPr>
          <a:xfrm>
            <a:off x="4318000" y="4572000"/>
            <a:ext cx="1651000" cy="1778000"/>
          </a:xfrm>
          <a:prstGeom prst="roundRect">
            <a:avLst>
              <a:gd name="adj" fmla="val 923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4470400" y="4762500"/>
            <a:ext cx="304800" cy="304800"/>
          </a:xfrm>
          <a:prstGeom prst="rect">
            <a:avLst/>
          </a:prstGeom>
        </p:spPr>
      </p:pic>
      <p:sp>
        <p:nvSpPr>
          <p:cNvPr id="18" name="AutoShape 18"/>
          <p:cNvSpPr/>
          <p:nvPr/>
        </p:nvSpPr>
        <p:spPr>
          <a:xfrm>
            <a:off x="4470400" y="5207000"/>
            <a:ext cx="13462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1F2937"/>
                </a:solidFill>
                <a:latin typeface="Noto Sans SC"/>
                <a:ea typeface="Noto Sans SC"/>
                <a:cs typeface="Noto Sans SC"/>
                <a:sym typeface="Noto Sans SC"/>
              </a:rPr>
              <a:t>公共数据总线 (CDB)</a:t>
            </a:r>
            <a:endParaRPr lang="en-US" sz="1100"/>
          </a:p>
          <a:p>
            <a:pPr indent="0" algn="l">
              <a:lnSpc>
                <a:spcPct val="108333"/>
              </a:lnSpc>
              <a:spcBef>
                <a:spcPts val="600"/>
              </a:spcBef>
            </a:pPr>
            <a:r>
              <a:rPr lang="en-US" sz="1100" b="0" i="0" u="none" strike="noStrike">
                <a:solidFill>
                  <a:srgbClr val="6B7280"/>
                </a:solidFill>
                <a:latin typeface="Noto Sans SC"/>
                <a:ea typeface="Noto Sans SC"/>
                <a:cs typeface="Noto Sans SC"/>
                <a:sym typeface="Noto Sans SC"/>
              </a:rPr>
              <a:t>广播计算结果，实现多单元同时读取，降低通信开销。</a:t>
            </a:r>
          </a:p>
        </p:txBody>
      </p:sp>
      <p:pic>
        <p:nvPicPr>
          <p:cNvPr id="19" name="Picture 19"/>
          <p:cNvPicPr>
            <a:picLocks noChangeAspect="1"/>
          </p:cNvPicPr>
          <p:nvPr/>
        </p:nvPicPr>
        <p:blipFill rotWithShape="1">
          <a:blip r:embed="rId10"/>
          <a:srcRect l="-81" r="-288"/>
          <a:stretch/>
        </p:blipFill>
        <p:spPr>
          <a:xfrm>
            <a:off x="6166022" y="1905000"/>
            <a:ext cx="5331940" cy="4191000"/>
          </a:xfrm>
          <a:prstGeom prst="roundRect">
            <a:avLst>
              <a:gd name="adj" fmla="val 3636"/>
            </a:avLst>
          </a:prstGeom>
          <a:noFill/>
          <a:ln w="38100" cap="flat" cmpd="sng">
            <a:solidFill>
              <a:srgbClr val="FFFFFF">
                <a:alpha val="100000"/>
              </a:srgbClr>
            </a:solidFill>
            <a:prstDash val="solid"/>
            <a:round/>
          </a:ln>
          <a:effectLst>
            <a:outerShdw blurRad="444500" dist="190500" dir="2700000" algn="tl" rotWithShape="0">
              <a:srgbClr val="000000">
                <a:alpha val="25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核心创新①：寄存器重命名</a:t>
            </a:r>
            <a:endParaRPr lang="en-US" sz="1100"/>
          </a:p>
        </p:txBody>
      </p:sp>
      <p:sp>
        <p:nvSpPr>
          <p:cNvPr id="4" name="AutoShape 4"/>
          <p:cNvSpPr/>
          <p:nvPr/>
        </p:nvSpPr>
        <p:spPr>
          <a:xfrm>
            <a:off x="762000" y="1778000"/>
            <a:ext cx="4826000" cy="4572000"/>
          </a:xfrm>
          <a:prstGeom prst="roundRect">
            <a:avLst>
              <a:gd name="adj" fmla="val 3333"/>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rotWithShape="1">
          <a:blip r:embed="rId4"/>
          <a:srcRect t="1563" b="-106"/>
          <a:stretch/>
        </p:blipFill>
        <p:spPr>
          <a:xfrm>
            <a:off x="952500" y="2125362"/>
            <a:ext cx="4445000" cy="3039762"/>
          </a:xfrm>
          <a:prstGeom prst="rect">
            <a:avLst/>
          </a:prstGeom>
          <a:noFill/>
          <a:ln w="25400" cap="flat" cmpd="sng">
            <a:noFill/>
            <a:prstDash val="solid"/>
            <a:round/>
          </a:ln>
        </p:spPr>
      </p:pic>
      <p:sp>
        <p:nvSpPr>
          <p:cNvPr id="6" name="AutoShape 6"/>
          <p:cNvSpPr/>
          <p:nvPr/>
        </p:nvSpPr>
        <p:spPr>
          <a:xfrm>
            <a:off x="952500" y="5334000"/>
            <a:ext cx="4445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6B7280"/>
                </a:solidFill>
                <a:latin typeface="Noto Sans SC"/>
                <a:ea typeface="Noto Sans SC"/>
                <a:cs typeface="Noto Sans SC"/>
                <a:sym typeface="Noto Sans SC"/>
              </a:rPr>
              <a:t>图示：逻辑寄存器 (Architected) 到物理寄存器 (Physical) 的动态映射机制</a:t>
            </a:r>
            <a:endParaRPr lang="en-US" sz="1100"/>
          </a:p>
        </p:txBody>
      </p:sp>
      <p:sp>
        <p:nvSpPr>
          <p:cNvPr id="7" name="AutoShape 7"/>
          <p:cNvSpPr/>
          <p:nvPr/>
        </p:nvSpPr>
        <p:spPr>
          <a:xfrm>
            <a:off x="5969000" y="1778000"/>
            <a:ext cx="5461000" cy="1270000"/>
          </a:xfrm>
          <a:prstGeom prst="roundRect">
            <a:avLst>
              <a:gd name="adj" fmla="val 8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6223000" y="2032000"/>
            <a:ext cx="406400" cy="406400"/>
          </a:xfrm>
          <a:prstGeom prst="rect">
            <a:avLst/>
          </a:prstGeom>
        </p:spPr>
      </p:pic>
      <p:sp>
        <p:nvSpPr>
          <p:cNvPr id="9" name="AutoShape 9"/>
          <p:cNvSpPr/>
          <p:nvPr/>
        </p:nvSpPr>
        <p:spPr>
          <a:xfrm>
            <a:off x="6858000" y="1968500"/>
            <a:ext cx="431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问题根源：命名冲突</a:t>
            </a:r>
            <a:endParaRPr lang="en-US" sz="1100"/>
          </a:p>
          <a:p>
            <a:pPr indent="0" algn="l">
              <a:lnSpc>
                <a:spcPct val="108333"/>
              </a:lnSpc>
            </a:pPr>
            <a:r>
              <a:rPr lang="en-US" sz="1300" b="0" i="0" u="none" strike="noStrike">
                <a:solidFill>
                  <a:srgbClr val="4B5563"/>
                </a:solidFill>
                <a:latin typeface="Noto Sans SC"/>
                <a:ea typeface="Noto Sans SC"/>
                <a:cs typeface="Noto Sans SC"/>
                <a:sym typeface="Noto Sans SC"/>
              </a:rPr>
              <a:t>指令级并行(ILP)中的WAR和WAW冒险，本质上不是数据依赖，而是</a:t>
            </a:r>
            <a:r>
              <a:rPr lang="en-US" sz="1300" b="1" i="0" u="none" strike="noStrike">
                <a:solidFill>
                  <a:srgbClr val="EF4444"/>
                </a:solidFill>
                <a:latin typeface="Noto Sans SC"/>
                <a:ea typeface="Noto Sans SC"/>
                <a:cs typeface="Noto Sans SC"/>
                <a:sym typeface="Noto Sans SC"/>
              </a:rPr>
              <a:t>逻辑寄存器数量不足导致的名字冲突</a:t>
            </a:r>
            <a:r>
              <a:rPr lang="en-US" sz="1300" b="0" i="0" u="none" strike="noStrike">
                <a:solidFill>
                  <a:srgbClr val="4B5563"/>
                </a:solidFill>
                <a:latin typeface="Noto Sans SC"/>
                <a:ea typeface="Noto Sans SC"/>
                <a:cs typeface="Noto Sans SC"/>
                <a:sym typeface="Noto Sans SC"/>
              </a:rPr>
              <a:t>。</a:t>
            </a:r>
          </a:p>
        </p:txBody>
      </p:sp>
      <p:sp>
        <p:nvSpPr>
          <p:cNvPr id="10" name="AutoShape 10"/>
          <p:cNvSpPr/>
          <p:nvPr/>
        </p:nvSpPr>
        <p:spPr>
          <a:xfrm>
            <a:off x="5969000" y="3302000"/>
            <a:ext cx="5461000" cy="1841500"/>
          </a:xfrm>
          <a:prstGeom prst="roundRect">
            <a:avLst>
              <a:gd name="adj" fmla="val 5517"/>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6223000" y="3619500"/>
            <a:ext cx="406400" cy="406400"/>
          </a:xfrm>
          <a:prstGeom prst="rect">
            <a:avLst/>
          </a:prstGeom>
        </p:spPr>
      </p:pic>
      <p:sp>
        <p:nvSpPr>
          <p:cNvPr id="12" name="AutoShape 12"/>
          <p:cNvSpPr/>
          <p:nvPr/>
        </p:nvSpPr>
        <p:spPr>
          <a:xfrm>
            <a:off x="6858000" y="3492500"/>
            <a:ext cx="4318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解决方案：物理化与动态映射</a:t>
            </a:r>
            <a:endParaRPr lang="en-US" sz="1100"/>
          </a:p>
          <a:p>
            <a:pPr indent="0" algn="l">
              <a:lnSpc>
                <a:spcPct val="116666"/>
              </a:lnSpc>
            </a:pPr>
            <a:r>
              <a:rPr lang="en-US" sz="1300" b="0" i="0" u="none" strike="noStrike">
                <a:solidFill>
                  <a:srgbClr val="4B5563"/>
                </a:solidFill>
                <a:latin typeface="Noto Sans SC"/>
                <a:ea typeface="Noto Sans SC"/>
                <a:cs typeface="Noto Sans SC"/>
                <a:sym typeface="Noto Sans SC"/>
              </a:rPr>
              <a:t>•</a:t>
            </a:r>
            <a:r>
              <a:rPr lang="en-US" sz="1300" b="1" i="0" u="none" strike="noStrike">
                <a:solidFill>
                  <a:srgbClr val="4B5563"/>
                </a:solidFill>
                <a:latin typeface="Noto Sans SC"/>
                <a:ea typeface="Noto Sans SC"/>
                <a:cs typeface="Noto Sans SC"/>
                <a:sym typeface="Noto Sans SC"/>
              </a:rPr>
              <a:t>引入PRF：</a:t>
            </a:r>
            <a:r>
              <a:rPr lang="en-US" sz="1300" b="0" i="0" u="none" strike="noStrike">
                <a:solidFill>
                  <a:srgbClr val="4B5563"/>
                </a:solidFill>
                <a:latin typeface="Noto Sans SC"/>
                <a:ea typeface="Noto Sans SC"/>
                <a:cs typeface="Noto Sans SC"/>
                <a:sym typeface="Noto Sans SC"/>
              </a:rPr>
              <a:t>扩充核心内部的物理寄存器堆(Physical Register File)，数量远大于架构可见的逻辑寄存器。</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a:t>
            </a:r>
            <a:r>
              <a:rPr lang="en-US" sz="1300" b="1" i="0" u="none" strike="noStrike">
                <a:solidFill>
                  <a:srgbClr val="4B5563"/>
                </a:solidFill>
                <a:latin typeface="Noto Sans SC"/>
                <a:ea typeface="Noto Sans SC"/>
                <a:cs typeface="Noto Sans SC"/>
                <a:sym typeface="Noto Sans SC"/>
              </a:rPr>
              <a:t>建立RAT：</a:t>
            </a:r>
            <a:r>
              <a:rPr lang="en-US" sz="1300" b="0" i="0" u="none" strike="noStrike">
                <a:solidFill>
                  <a:srgbClr val="4B5563"/>
                </a:solidFill>
                <a:latin typeface="Noto Sans SC"/>
                <a:ea typeface="Noto Sans SC"/>
                <a:cs typeface="Noto Sans SC"/>
                <a:sym typeface="Noto Sans SC"/>
              </a:rPr>
              <a:t>通过寄存器别名表(Register Alias Table)实时记录逻辑寄存器到物理寄存器的动态映射关系。</a:t>
            </a:r>
          </a:p>
        </p:txBody>
      </p:sp>
      <p:sp>
        <p:nvSpPr>
          <p:cNvPr id="13" name="AutoShape 13"/>
          <p:cNvSpPr/>
          <p:nvPr/>
        </p:nvSpPr>
        <p:spPr>
          <a:xfrm>
            <a:off x="5969000" y="5270500"/>
            <a:ext cx="5461000" cy="1206500"/>
          </a:xfrm>
          <a:prstGeom prst="roundRect">
            <a:avLst>
              <a:gd name="adj" fmla="val 8421"/>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6223000" y="5524500"/>
            <a:ext cx="406400" cy="406400"/>
          </a:xfrm>
          <a:prstGeom prst="rect">
            <a:avLst/>
          </a:prstGeom>
        </p:spPr>
      </p:pic>
      <p:sp>
        <p:nvSpPr>
          <p:cNvPr id="15" name="AutoShape 15"/>
          <p:cNvSpPr/>
          <p:nvPr/>
        </p:nvSpPr>
        <p:spPr>
          <a:xfrm>
            <a:off x="6858000" y="5397500"/>
            <a:ext cx="431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E40AF"/>
                </a:solidFill>
                <a:latin typeface="Noto Sans SC"/>
                <a:ea typeface="Noto Sans SC"/>
                <a:cs typeface="Noto Sans SC"/>
                <a:sym typeface="Noto Sans SC"/>
              </a:rPr>
              <a:t>彻底消除名字相关冒险</a:t>
            </a:r>
            <a:endParaRPr lang="en-US" sz="1100"/>
          </a:p>
          <a:p>
            <a:pPr indent="0" algn="l">
              <a:lnSpc>
                <a:spcPct val="108333"/>
              </a:lnSpc>
            </a:pPr>
            <a:r>
              <a:rPr lang="en-US" sz="1300" b="0" i="0" u="none" strike="noStrike">
                <a:solidFill>
                  <a:srgbClr val="374151"/>
                </a:solidFill>
                <a:latin typeface="Noto Sans SC"/>
                <a:ea typeface="Noto Sans SC"/>
                <a:cs typeface="Noto Sans SC"/>
                <a:sym typeface="Noto Sans SC"/>
              </a:rPr>
              <a:t>将对同一个逻辑寄存器的读写操作，透明地指向不同的物理寄存器，从硬件层面消除了WAR和WAW冒险。</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核心创新②：保留站与CDB</a:t>
            </a:r>
            <a:endParaRPr lang="en-US" sz="1100"/>
          </a:p>
        </p:txBody>
      </p:sp>
      <p:sp>
        <p:nvSpPr>
          <p:cNvPr id="4" name="AutoShape 4"/>
          <p:cNvSpPr/>
          <p:nvPr/>
        </p:nvSpPr>
        <p:spPr>
          <a:xfrm>
            <a:off x="762000" y="1651000"/>
            <a:ext cx="5207000" cy="2222500"/>
          </a:xfrm>
          <a:prstGeom prst="roundRect">
            <a:avLst>
              <a:gd name="adj" fmla="val 457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1905000"/>
            <a:ext cx="355600" cy="355600"/>
          </a:xfrm>
          <a:prstGeom prst="rect">
            <a:avLst/>
          </a:prstGeom>
        </p:spPr>
      </p:pic>
      <p:sp>
        <p:nvSpPr>
          <p:cNvPr id="6" name="AutoShape 6"/>
          <p:cNvSpPr/>
          <p:nvPr/>
        </p:nvSpPr>
        <p:spPr>
          <a:xfrm>
            <a:off x="1524000" y="1879600"/>
            <a:ext cx="4191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保留站 (Reservation Station, RS)</a:t>
            </a:r>
            <a:endParaRPr lang="en-US" sz="1100"/>
          </a:p>
        </p:txBody>
      </p:sp>
      <p:sp>
        <p:nvSpPr>
          <p:cNvPr id="7" name="AutoShape 7"/>
          <p:cNvSpPr/>
          <p:nvPr/>
        </p:nvSpPr>
        <p:spPr>
          <a:xfrm>
            <a:off x="1016000" y="2540000"/>
            <a:ext cx="4699000" cy="12065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1" i="0" u="none" strike="noStrike">
                <a:solidFill>
                  <a:srgbClr val="3B82F6"/>
                </a:solidFill>
                <a:latin typeface="Noto Sans SC"/>
                <a:ea typeface="Noto Sans SC"/>
                <a:cs typeface="Noto Sans SC"/>
                <a:sym typeface="Noto Sans SC"/>
              </a:rPr>
              <a:t>• 位置：</a:t>
            </a:r>
            <a:r>
              <a:rPr lang="en-US" sz="1300" b="0" i="0" u="none" strike="noStrike">
                <a:solidFill>
                  <a:srgbClr val="4B5563"/>
                </a:solidFill>
                <a:latin typeface="Noto Sans SC"/>
                <a:ea typeface="Noto Sans SC"/>
                <a:cs typeface="Noto Sans SC"/>
                <a:sym typeface="Noto Sans SC"/>
              </a:rPr>
              <a:t>每个功能单元前都配备一组保留站，作为指令缓冲池。</a:t>
            </a:r>
            <a:endParaRPr lang="en-US" sz="1100"/>
          </a:p>
          <a:p>
            <a:pPr indent="0" algn="l">
              <a:lnSpc>
                <a:spcPct val="116666"/>
              </a:lnSpc>
            </a:pPr>
            <a:r>
              <a:rPr lang="en-US" sz="1300" b="1" i="0" u="none" strike="noStrike">
                <a:solidFill>
                  <a:srgbClr val="3B82F6"/>
                </a:solidFill>
                <a:latin typeface="Noto Sans SC"/>
                <a:ea typeface="Noto Sans SC"/>
                <a:cs typeface="Noto Sans SC"/>
                <a:sym typeface="Noto Sans SC"/>
              </a:rPr>
              <a:t>• 功能：</a:t>
            </a:r>
            <a:r>
              <a:rPr lang="en-US" sz="1300" b="0" i="0" u="none" strike="noStrike">
                <a:solidFill>
                  <a:srgbClr val="4B5563"/>
                </a:solidFill>
                <a:latin typeface="Noto Sans SC"/>
                <a:ea typeface="Noto Sans SC"/>
                <a:cs typeface="Noto Sans SC"/>
                <a:sym typeface="Noto Sans SC"/>
              </a:rPr>
              <a:t>缓存等待执行的指令及其操作数。一旦操作数就绪即出发执行，实现了</a:t>
            </a:r>
            <a:r>
              <a:rPr lang="en-US" sz="1300" b="1" i="0" u="none" strike="noStrike">
                <a:solidFill>
                  <a:srgbClr val="4B5563"/>
                </a:solidFill>
                <a:latin typeface="Noto Sans SC"/>
                <a:ea typeface="Noto Sans SC"/>
                <a:cs typeface="Noto Sans SC"/>
                <a:sym typeface="Noto Sans SC"/>
              </a:rPr>
              <a:t>分布式控制</a:t>
            </a:r>
            <a:r>
              <a:rPr lang="en-US" sz="1300" b="0" i="0" u="none" strike="noStrike">
                <a:solidFill>
                  <a:srgbClr val="4B5563"/>
                </a:solidFill>
                <a:latin typeface="Noto Sans SC"/>
                <a:ea typeface="Noto Sans SC"/>
                <a:cs typeface="Noto Sans SC"/>
                <a:sym typeface="Noto Sans SC"/>
              </a:rPr>
              <a:t>，消除了集中瓶颈。</a:t>
            </a:r>
          </a:p>
        </p:txBody>
      </p:sp>
      <p:sp>
        <p:nvSpPr>
          <p:cNvPr id="8" name="AutoShape 8"/>
          <p:cNvSpPr/>
          <p:nvPr/>
        </p:nvSpPr>
        <p:spPr>
          <a:xfrm>
            <a:off x="762000" y="4191000"/>
            <a:ext cx="5207000" cy="2222500"/>
          </a:xfrm>
          <a:prstGeom prst="roundRect">
            <a:avLst>
              <a:gd name="adj" fmla="val 457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1016000" y="4445000"/>
            <a:ext cx="355600" cy="355600"/>
          </a:xfrm>
          <a:prstGeom prst="rect">
            <a:avLst/>
          </a:prstGeom>
        </p:spPr>
      </p:pic>
      <p:sp>
        <p:nvSpPr>
          <p:cNvPr id="10" name="AutoShape 10"/>
          <p:cNvSpPr/>
          <p:nvPr/>
        </p:nvSpPr>
        <p:spPr>
          <a:xfrm>
            <a:off x="1524000" y="4419600"/>
            <a:ext cx="4191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公共数据总线 (Common Data Bus, CDB)</a:t>
            </a:r>
            <a:endParaRPr lang="en-US" sz="1100"/>
          </a:p>
        </p:txBody>
      </p:sp>
      <p:sp>
        <p:nvSpPr>
          <p:cNvPr id="11" name="AutoShape 11"/>
          <p:cNvSpPr/>
          <p:nvPr/>
        </p:nvSpPr>
        <p:spPr>
          <a:xfrm>
            <a:off x="1016000" y="5080000"/>
            <a:ext cx="4699000" cy="12065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1" i="0" u="none" strike="noStrike">
                <a:solidFill>
                  <a:srgbClr val="3B82F6"/>
                </a:solidFill>
                <a:latin typeface="Noto Sans SC"/>
                <a:ea typeface="Noto Sans SC"/>
                <a:cs typeface="Noto Sans SC"/>
                <a:sym typeface="Noto Sans SC"/>
              </a:rPr>
              <a:t>• 广播机制：</a:t>
            </a:r>
            <a:r>
              <a:rPr lang="en-US" sz="1300" b="0" i="0" u="none" strike="noStrike">
                <a:solidFill>
                  <a:srgbClr val="4B5563"/>
                </a:solidFill>
                <a:latin typeface="Noto Sans SC"/>
                <a:ea typeface="Noto Sans SC"/>
                <a:cs typeface="Noto Sans SC"/>
                <a:sym typeface="Noto Sans SC"/>
              </a:rPr>
              <a:t>运算结果直接广播给所有等待它的保留站、寄存器堆和ROB。</a:t>
            </a:r>
            <a:endParaRPr lang="en-US" sz="1100"/>
          </a:p>
          <a:p>
            <a:pPr indent="0" algn="l">
              <a:lnSpc>
                <a:spcPct val="116666"/>
              </a:lnSpc>
            </a:pPr>
            <a:r>
              <a:rPr lang="en-US" sz="1300" b="1" i="0" u="none" strike="noStrike">
                <a:solidFill>
                  <a:srgbClr val="3B82F6"/>
                </a:solidFill>
                <a:latin typeface="Noto Sans SC"/>
                <a:ea typeface="Noto Sans SC"/>
                <a:cs typeface="Noto Sans SC"/>
                <a:sym typeface="Noto Sans SC"/>
              </a:rPr>
              <a:t>• 核心优势：</a:t>
            </a:r>
            <a:r>
              <a:rPr lang="en-US" sz="1300" b="0" i="0" u="none" strike="noStrike">
                <a:solidFill>
                  <a:srgbClr val="4B5563"/>
                </a:solidFill>
                <a:latin typeface="Noto Sans SC"/>
                <a:ea typeface="Noto Sans SC"/>
                <a:cs typeface="Noto Sans SC"/>
                <a:sym typeface="Noto Sans SC"/>
              </a:rPr>
              <a:t>建立高效的“生产者-消费者”模型，结果直传，</a:t>
            </a:r>
            <a:r>
              <a:rPr lang="en-US" sz="1300" b="1" i="0" u="none" strike="noStrike">
                <a:solidFill>
                  <a:srgbClr val="4B5563"/>
                </a:solidFill>
                <a:latin typeface="Noto Sans SC"/>
                <a:ea typeface="Noto Sans SC"/>
                <a:cs typeface="Noto Sans SC"/>
                <a:sym typeface="Noto Sans SC"/>
              </a:rPr>
              <a:t>绕过寄存器堆</a:t>
            </a:r>
            <a:r>
              <a:rPr lang="en-US" sz="1300" b="0" i="0" u="none" strike="noStrike">
                <a:solidFill>
                  <a:srgbClr val="4B5563"/>
                </a:solidFill>
                <a:latin typeface="Noto Sans SC"/>
                <a:ea typeface="Noto Sans SC"/>
                <a:cs typeface="Noto Sans SC"/>
                <a:sym typeface="Noto Sans SC"/>
              </a:rPr>
              <a:t>，大幅减少延迟。</a:t>
            </a:r>
          </a:p>
        </p:txBody>
      </p:sp>
      <p:pic>
        <p:nvPicPr>
          <p:cNvPr id="12" name="Picture 12"/>
          <p:cNvPicPr>
            <a:picLocks noChangeAspect="1"/>
          </p:cNvPicPr>
          <p:nvPr/>
        </p:nvPicPr>
        <p:blipFill>
          <a:blip r:embed="rId8"/>
          <a:srcRect t="137" b="137"/>
          <a:stretch>
            <a:fillRect/>
          </a:stretch>
        </p:blipFill>
        <p:spPr>
          <a:xfrm>
            <a:off x="6223000" y="1651000"/>
            <a:ext cx="5207000" cy="3911600"/>
          </a:xfrm>
          <a:prstGeom prst="roundRect">
            <a:avLst>
              <a:gd name="adj" fmla="val 2597"/>
            </a:avLst>
          </a:prstGeom>
          <a:noFill/>
          <a:ln w="25400" cap="flat" cmpd="sng">
            <a:solidFill>
              <a:srgbClr val="2B2F36">
                <a:alpha val="100000"/>
              </a:srgbClr>
            </a:solidFill>
            <a:prstDash val="solid"/>
            <a:round/>
          </a:ln>
          <a:effectLst>
            <a:outerShdw blurRad="444500" dist="190500" dir="2700000" algn="tl" rotWithShape="0">
              <a:srgbClr val="000000">
                <a:alpha val="25000"/>
              </a:srgbClr>
            </a:outerShdw>
          </a:effectLst>
        </p:spPr>
      </p:pic>
      <p:sp>
        <p:nvSpPr>
          <p:cNvPr id="13" name="AutoShape 13"/>
          <p:cNvSpPr/>
          <p:nvPr/>
        </p:nvSpPr>
        <p:spPr>
          <a:xfrm>
            <a:off x="6223000" y="5778500"/>
            <a:ext cx="5207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4B5563"/>
                </a:solidFill>
                <a:latin typeface="Noto Sans SC"/>
                <a:ea typeface="Noto Sans SC"/>
                <a:cs typeface="Noto Sans SC"/>
                <a:sym typeface="Noto Sans SC"/>
              </a:rPr>
              <a:t>图示：保留站与CDB协同工作逻辑</a:t>
            </a:r>
            <a:endParaRPr lang="en-US" sz="1100"/>
          </a:p>
          <a:p>
            <a:pPr indent="0" algn="ctr">
              <a:lnSpc>
                <a:spcPct val="125000"/>
              </a:lnSpc>
            </a:pPr>
            <a:r>
              <a:rPr lang="en-US" sz="1100" b="0" i="0" u="none" strike="noStrike">
                <a:solidFill>
                  <a:srgbClr val="6B7280"/>
                </a:solidFill>
                <a:latin typeface="Noto Sans SC"/>
                <a:ea typeface="Noto Sans SC"/>
                <a:cs typeface="Noto Sans SC"/>
                <a:sym typeface="Noto Sans SC"/>
              </a:rPr>
              <a:t>结果在功能单元与等待指令间的直接传输示意</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Tomasulo的执行流程</a:t>
            </a:r>
            <a:endParaRPr lang="en-US" sz="1100"/>
          </a:p>
        </p:txBody>
      </p:sp>
      <p:sp>
        <p:nvSpPr>
          <p:cNvPr id="4" name="AutoShape 4"/>
          <p:cNvSpPr/>
          <p:nvPr/>
        </p:nvSpPr>
        <p:spPr>
          <a:xfrm>
            <a:off x="762000" y="1651000"/>
            <a:ext cx="5207000" cy="2286000"/>
          </a:xfrm>
          <a:prstGeom prst="roundRect">
            <a:avLst>
              <a:gd name="adj" fmla="val 4444"/>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2032000"/>
            <a:ext cx="609600" cy="609600"/>
          </a:xfrm>
          <a:prstGeom prst="rect">
            <a:avLst/>
          </a:prstGeom>
        </p:spPr>
      </p:pic>
      <p:sp>
        <p:nvSpPr>
          <p:cNvPr id="6" name="AutoShape 6"/>
          <p:cNvSpPr/>
          <p:nvPr/>
        </p:nvSpPr>
        <p:spPr>
          <a:xfrm>
            <a:off x="1905000" y="1905000"/>
            <a:ext cx="3810000" cy="177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01 发射 (Issue)</a:t>
            </a:r>
            <a:endParaRPr lang="en-US" sz="1100"/>
          </a:p>
          <a:p>
            <a:pPr indent="0" algn="l">
              <a:lnSpc>
                <a:spcPct val="116666"/>
              </a:lnSpc>
              <a:spcBef>
                <a:spcPts val="1200"/>
              </a:spcBef>
            </a:pPr>
            <a:r>
              <a:rPr lang="en-US" sz="1400" b="1" i="0" u="none" strike="noStrike">
                <a:solidFill>
                  <a:srgbClr val="4B5563"/>
                </a:solidFill>
                <a:latin typeface="Noto Sans SC"/>
                <a:ea typeface="Noto Sans SC"/>
                <a:cs typeface="Noto Sans SC"/>
                <a:sym typeface="Noto Sans SC"/>
              </a:rPr>
              <a:t>动作：</a:t>
            </a:r>
            <a:r>
              <a:rPr lang="en-US" sz="1400" b="0" i="0" u="none" strike="noStrike">
                <a:solidFill>
                  <a:srgbClr val="4B5563"/>
                </a:solidFill>
                <a:latin typeface="Noto Sans SC"/>
                <a:ea typeface="Noto Sans SC"/>
                <a:cs typeface="Noto Sans SC"/>
                <a:sym typeface="Noto Sans SC"/>
              </a:rPr>
              <a:t>进行寄存器重命名，将指令发送到相应功能单元的保留站，消除名相关冲突。</a:t>
            </a:r>
          </a:p>
        </p:txBody>
      </p:sp>
      <p:sp>
        <p:nvSpPr>
          <p:cNvPr id="7" name="AutoShape 7"/>
          <p:cNvSpPr/>
          <p:nvPr/>
        </p:nvSpPr>
        <p:spPr>
          <a:xfrm>
            <a:off x="6223000" y="1651000"/>
            <a:ext cx="5207000" cy="2286000"/>
          </a:xfrm>
          <a:prstGeom prst="roundRect">
            <a:avLst>
              <a:gd name="adj" fmla="val 4444"/>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6477000" y="2032000"/>
            <a:ext cx="609600" cy="609600"/>
          </a:xfrm>
          <a:prstGeom prst="rect">
            <a:avLst/>
          </a:prstGeom>
        </p:spPr>
      </p:pic>
      <p:sp>
        <p:nvSpPr>
          <p:cNvPr id="9" name="AutoShape 9"/>
          <p:cNvSpPr/>
          <p:nvPr/>
        </p:nvSpPr>
        <p:spPr>
          <a:xfrm>
            <a:off x="7366000" y="1905000"/>
            <a:ext cx="3810000" cy="177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02 执行 (Execute)</a:t>
            </a:r>
            <a:endParaRPr lang="en-US" sz="1100"/>
          </a:p>
          <a:p>
            <a:pPr indent="0" algn="l">
              <a:lnSpc>
                <a:spcPct val="116666"/>
              </a:lnSpc>
              <a:spcBef>
                <a:spcPts val="1200"/>
              </a:spcBef>
            </a:pPr>
            <a:r>
              <a:rPr lang="en-US" sz="1400" b="1" i="0" u="none" strike="noStrike">
                <a:solidFill>
                  <a:srgbClr val="4B5563"/>
                </a:solidFill>
                <a:latin typeface="Noto Sans SC"/>
                <a:ea typeface="Noto Sans SC"/>
                <a:cs typeface="Noto Sans SC"/>
                <a:sym typeface="Noto Sans SC"/>
              </a:rPr>
              <a:t>检查：</a:t>
            </a:r>
            <a:r>
              <a:rPr lang="en-US" sz="1400" b="0" i="0" u="none" strike="noStrike">
                <a:solidFill>
                  <a:srgbClr val="4B5563"/>
                </a:solidFill>
                <a:latin typeface="Noto Sans SC"/>
                <a:ea typeface="Noto Sans SC"/>
                <a:cs typeface="Noto Sans SC"/>
                <a:sym typeface="Noto Sans SC"/>
              </a:rPr>
              <a:t>保留站中的所有源操作数是否都已就绪？</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400" b="1" i="0" u="none" strike="noStrike">
                <a:solidFill>
                  <a:srgbClr val="4B5563"/>
                </a:solidFill>
                <a:latin typeface="Noto Sans SC"/>
                <a:ea typeface="Noto Sans SC"/>
                <a:cs typeface="Noto Sans SC"/>
                <a:sym typeface="Noto Sans SC"/>
              </a:rPr>
              <a:t>动作：</a:t>
            </a:r>
            <a:r>
              <a:rPr lang="en-US" sz="1400" b="0" i="0" u="none" strike="noStrike">
                <a:solidFill>
                  <a:srgbClr val="4B5563"/>
                </a:solidFill>
                <a:latin typeface="Noto Sans SC"/>
                <a:ea typeface="Noto Sans SC"/>
                <a:cs typeface="Noto Sans SC"/>
                <a:sym typeface="Noto Sans SC"/>
              </a:rPr>
              <a:t>一旦就绪，指令从保留站进入功能单元，开始并行执行。</a:t>
            </a:r>
          </a:p>
        </p:txBody>
      </p:sp>
      <p:sp>
        <p:nvSpPr>
          <p:cNvPr id="10" name="AutoShape 10"/>
          <p:cNvSpPr/>
          <p:nvPr/>
        </p:nvSpPr>
        <p:spPr>
          <a:xfrm>
            <a:off x="762000" y="4191000"/>
            <a:ext cx="5207000" cy="2286000"/>
          </a:xfrm>
          <a:prstGeom prst="roundRect">
            <a:avLst>
              <a:gd name="adj" fmla="val 4444"/>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1016000" y="4572000"/>
            <a:ext cx="609600" cy="609600"/>
          </a:xfrm>
          <a:prstGeom prst="rect">
            <a:avLst/>
          </a:prstGeom>
        </p:spPr>
      </p:pic>
      <p:sp>
        <p:nvSpPr>
          <p:cNvPr id="12" name="AutoShape 12"/>
          <p:cNvSpPr/>
          <p:nvPr/>
        </p:nvSpPr>
        <p:spPr>
          <a:xfrm>
            <a:off x="1905000" y="4445000"/>
            <a:ext cx="3810000" cy="177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03 写结果 (Write Result)</a:t>
            </a:r>
            <a:endParaRPr lang="en-US" sz="1100"/>
          </a:p>
          <a:p>
            <a:pPr indent="0" algn="l">
              <a:lnSpc>
                <a:spcPct val="116666"/>
              </a:lnSpc>
              <a:spcBef>
                <a:spcPts val="1200"/>
              </a:spcBef>
            </a:pPr>
            <a:r>
              <a:rPr lang="en-US" sz="1400" b="1" i="0" u="none" strike="noStrike">
                <a:solidFill>
                  <a:srgbClr val="4B5563"/>
                </a:solidFill>
                <a:latin typeface="Noto Sans SC"/>
                <a:ea typeface="Noto Sans SC"/>
                <a:cs typeface="Noto Sans SC"/>
                <a:sym typeface="Noto Sans SC"/>
              </a:rPr>
              <a:t>动作：</a:t>
            </a:r>
            <a:r>
              <a:rPr lang="en-US" sz="1400" b="0" i="0" u="none" strike="noStrike">
                <a:solidFill>
                  <a:srgbClr val="4B5563"/>
                </a:solidFill>
                <a:latin typeface="Noto Sans SC"/>
                <a:ea typeface="Noto Sans SC"/>
                <a:cs typeface="Noto Sans SC"/>
                <a:sym typeface="Noto Sans SC"/>
              </a:rPr>
              <a:t>将运算结果和目标物理寄存器编号，通过</a:t>
            </a:r>
            <a:r>
              <a:rPr lang="en-US" sz="1400" b="1" i="0" u="none" strike="noStrike">
                <a:solidFill>
                  <a:srgbClr val="3B82F6"/>
                </a:solidFill>
                <a:latin typeface="Noto Sans SC"/>
                <a:ea typeface="Noto Sans SC"/>
                <a:cs typeface="Noto Sans SC"/>
                <a:sym typeface="Noto Sans SC"/>
              </a:rPr>
              <a:t>公共数据总线 (CDB)</a:t>
            </a:r>
            <a:r>
              <a:rPr lang="en-US" sz="1400" b="0" i="0" u="none" strike="noStrike">
                <a:solidFill>
                  <a:srgbClr val="4B5563"/>
                </a:solidFill>
                <a:latin typeface="Noto Sans SC"/>
                <a:ea typeface="Noto Sans SC"/>
                <a:cs typeface="Noto Sans SC"/>
                <a:sym typeface="Noto Sans SC"/>
              </a:rPr>
              <a:t>广播给所有等待该数据的保留站与重排序缓冲。</a:t>
            </a:r>
          </a:p>
        </p:txBody>
      </p:sp>
      <p:sp>
        <p:nvSpPr>
          <p:cNvPr id="13" name="AutoShape 13"/>
          <p:cNvSpPr/>
          <p:nvPr/>
        </p:nvSpPr>
        <p:spPr>
          <a:xfrm>
            <a:off x="6223000" y="4191000"/>
            <a:ext cx="5207000" cy="2286000"/>
          </a:xfrm>
          <a:prstGeom prst="roundRect">
            <a:avLst>
              <a:gd name="adj" fmla="val 4444"/>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6477000" y="4572000"/>
            <a:ext cx="609600" cy="609600"/>
          </a:xfrm>
          <a:prstGeom prst="rect">
            <a:avLst/>
          </a:prstGeom>
        </p:spPr>
      </p:pic>
      <p:sp>
        <p:nvSpPr>
          <p:cNvPr id="15" name="AutoShape 15"/>
          <p:cNvSpPr/>
          <p:nvPr/>
        </p:nvSpPr>
        <p:spPr>
          <a:xfrm>
            <a:off x="7366000" y="4445000"/>
            <a:ext cx="3810000" cy="177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04 提交 (Commit)</a:t>
            </a:r>
            <a:endParaRPr lang="en-US" sz="1100"/>
          </a:p>
          <a:p>
            <a:pPr indent="0" algn="l">
              <a:lnSpc>
                <a:spcPct val="116666"/>
              </a:lnSpc>
              <a:spcBef>
                <a:spcPts val="1200"/>
              </a:spcBef>
            </a:pPr>
            <a:r>
              <a:rPr lang="en-US" sz="1400" b="1" i="0" u="none" strike="noStrike">
                <a:solidFill>
                  <a:srgbClr val="4B5563"/>
                </a:solidFill>
                <a:latin typeface="Noto Sans SC"/>
                <a:ea typeface="Noto Sans SC"/>
                <a:cs typeface="Noto Sans SC"/>
                <a:sym typeface="Noto Sans SC"/>
              </a:rPr>
              <a:t>机制：</a:t>
            </a:r>
            <a:r>
              <a:rPr lang="en-US" sz="1400" b="0" i="0" u="none" strike="noStrike">
                <a:solidFill>
                  <a:srgbClr val="4B5563"/>
                </a:solidFill>
                <a:latin typeface="Noto Sans SC"/>
                <a:ea typeface="Noto Sans SC"/>
                <a:cs typeface="Noto Sans SC"/>
                <a:sym typeface="Noto Sans SC"/>
              </a:rPr>
              <a:t>通过</a:t>
            </a:r>
            <a:r>
              <a:rPr lang="en-US" sz="1400" b="1" i="0" u="none" strike="noStrike">
                <a:solidFill>
                  <a:srgbClr val="3B82F6"/>
                </a:solidFill>
                <a:latin typeface="Noto Sans SC"/>
                <a:ea typeface="Noto Sans SC"/>
                <a:cs typeface="Noto Sans SC"/>
                <a:sym typeface="Noto Sans SC"/>
              </a:rPr>
              <a:t>重排序缓冲区 (ROB)</a:t>
            </a:r>
            <a:r>
              <a:rPr lang="en-US" sz="1400" b="0" i="0" u="none" strike="noStrike">
                <a:solidFill>
                  <a:srgbClr val="4B5563"/>
                </a:solidFill>
                <a:latin typeface="Noto Sans SC"/>
                <a:ea typeface="Noto Sans SC"/>
                <a:cs typeface="Noto Sans SC"/>
                <a:sym typeface="Noto Sans SC"/>
              </a:rPr>
              <a:t>确保指令按程序原序对架构状态进行写回，以支持精确异常的处理。</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Tomasulo工作示例：WAR冒险的消除</a:t>
            </a:r>
            <a:endParaRPr lang="en-US" sz="1100"/>
          </a:p>
        </p:txBody>
      </p:sp>
      <p:sp>
        <p:nvSpPr>
          <p:cNvPr id="4" name="AutoShape 4"/>
          <p:cNvSpPr/>
          <p:nvPr/>
        </p:nvSpPr>
        <p:spPr>
          <a:xfrm>
            <a:off x="762000" y="1778000"/>
            <a:ext cx="5207000" cy="4318000"/>
          </a:xfrm>
          <a:prstGeom prst="roundRect">
            <a:avLst>
              <a:gd name="adj" fmla="val 3529"/>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66800" y="2082800"/>
            <a:ext cx="304800" cy="304800"/>
          </a:xfrm>
          <a:prstGeom prst="rect">
            <a:avLst/>
          </a:prstGeom>
        </p:spPr>
      </p:pic>
      <p:sp>
        <p:nvSpPr>
          <p:cNvPr id="6" name="AutoShape 6"/>
          <p:cNvSpPr/>
          <p:nvPr/>
        </p:nvSpPr>
        <p:spPr>
          <a:xfrm>
            <a:off x="1524000" y="20574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指令序列 (Instruction Sequence)</a:t>
            </a:r>
            <a:endParaRPr lang="en-US" sz="1100"/>
          </a:p>
        </p:txBody>
      </p:sp>
      <p:sp>
        <p:nvSpPr>
          <p:cNvPr id="7" name="AutoShape 7"/>
          <p:cNvSpPr/>
          <p:nvPr/>
        </p:nvSpPr>
        <p:spPr>
          <a:xfrm>
            <a:off x="1066800" y="2794000"/>
            <a:ext cx="4597400" cy="2794000"/>
          </a:xfrm>
          <a:prstGeom prst="roundRect">
            <a:avLst>
              <a:gd name="adj" fmla="val 3636"/>
            </a:avLst>
          </a:prstGeom>
          <a:solidFill>
            <a:srgbClr val="1E293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270000" y="3048000"/>
            <a:ext cx="4191000" cy="2286000"/>
          </a:xfrm>
          <a:prstGeom prst="rect">
            <a:avLst/>
          </a:prstGeom>
          <a:noFill/>
          <a:ln w="12700" cap="flat" cmpd="sng">
            <a:noFill/>
            <a:prstDash val="solid"/>
            <a:round/>
          </a:ln>
        </p:spPr>
        <p:txBody>
          <a:bodyPr vert="horz" wrap="square" lIns="0" tIns="0" rIns="0" bIns="0" rtlCol="0" anchor="ctr" anchorCtr="0"/>
          <a:lstStyle/>
          <a:p>
            <a:pPr indent="0" algn="l">
              <a:lnSpc>
                <a:spcPct val="133333"/>
              </a:lnSpc>
              <a:defRPr/>
            </a:pPr>
            <a:r>
              <a:rPr lang="en-US" sz="1500" b="0" i="0" u="none" strike="noStrike">
                <a:solidFill>
                  <a:srgbClr val="A7F3D0"/>
                </a:solidFill>
                <a:latin typeface="Source Code Pro"/>
                <a:ea typeface="Source Code Pro"/>
                <a:cs typeface="Source Code Pro"/>
                <a:sym typeface="Source Code Pro"/>
              </a:rPr>
              <a:t>DIV.D F0, F2, F4</a:t>
            </a:r>
            <a:r>
              <a:rPr lang="en-US" sz="1300" b="0" i="0" u="none" strike="noStrike">
                <a:solidFill>
                  <a:srgbClr val="94A3B8"/>
                </a:solidFill>
                <a:latin typeface="Source Code Pro"/>
                <a:ea typeface="Source Code Pro"/>
                <a:cs typeface="Source Code Pro"/>
                <a:sym typeface="Source Code Pro"/>
              </a:rPr>
              <a:t>// F0 → P1 (目标重命名)</a:t>
            </a:r>
            <a:endParaRPr lang="en-US" sz="1100"/>
          </a:p>
          <a:p>
            <a:pPr indent="0" algn="l">
              <a:lnSpc>
                <a:spcPct val="133333"/>
              </a:lnSpc>
            </a:pPr>
            <a:r>
              <a:rPr lang="en-US" sz="1500" b="0" i="0" u="none" strike="noStrike">
                <a:solidFill>
                  <a:srgbClr val="BFDBFE"/>
                </a:solidFill>
                <a:latin typeface="Source Code Pro"/>
                <a:ea typeface="Source Code Pro"/>
                <a:cs typeface="Source Code Pro"/>
                <a:sym typeface="Source Code Pro"/>
              </a:rPr>
              <a:t>ADD.D F6, F0, F8</a:t>
            </a:r>
            <a:r>
              <a:rPr lang="en-US" sz="1300" b="0" i="0" u="none" strike="noStrike">
                <a:solidFill>
                  <a:srgbClr val="94A3B8"/>
                </a:solidFill>
                <a:latin typeface="Source Code Pro"/>
                <a:ea typeface="Source Code Pro"/>
                <a:cs typeface="Source Code Pro"/>
                <a:sym typeface="Source Code Pro"/>
              </a:rPr>
              <a:t>// F6 → P2; 等待 P1 结果</a:t>
            </a:r>
          </a:p>
          <a:p>
            <a:pPr indent="0" algn="l">
              <a:lnSpc>
                <a:spcPct val="133333"/>
              </a:lnSpc>
            </a:pPr>
            <a:r>
              <a:rPr lang="en-US" sz="1500" b="0" i="0" u="none" strike="noStrike">
                <a:solidFill>
                  <a:srgbClr val="FDBA74"/>
                </a:solidFill>
                <a:latin typeface="Source Code Pro"/>
                <a:ea typeface="Source Code Pro"/>
                <a:cs typeface="Source Code Pro"/>
                <a:sym typeface="Source Code Pro"/>
              </a:rPr>
              <a:t>SUB.D F8, F10, F12</a:t>
            </a:r>
            <a:r>
              <a:rPr lang="en-US" sz="1300" b="0" i="0" u="none" strike="noStrike">
                <a:solidFill>
                  <a:srgbClr val="94A3B8"/>
                </a:solidFill>
                <a:latin typeface="Source Code Pro"/>
                <a:ea typeface="Source Code Pro"/>
                <a:cs typeface="Source Code Pro"/>
                <a:sym typeface="Source Code Pro"/>
              </a:rPr>
              <a:t>// F8 → P3 (目标重命名)</a:t>
            </a:r>
          </a:p>
          <a:p>
            <a:pPr indent="0" algn="l">
              <a:lnSpc>
                <a:spcPct val="116666"/>
              </a:lnSpc>
              <a:spcBef>
                <a:spcPts val="1200"/>
              </a:spcBef>
            </a:pPr>
            <a:r>
              <a:rPr lang="en-US" sz="1200" b="0" i="1" u="none" strike="noStrike">
                <a:solidFill>
                  <a:srgbClr val="CBD5E1"/>
                </a:solidFill>
                <a:latin typeface="Noto Sans SC"/>
                <a:ea typeface="Noto Sans SC"/>
                <a:cs typeface="Noto Sans SC"/>
                <a:sym typeface="Noto Sans SC"/>
              </a:rPr>
              <a:t>注：F代表逻辑寄存器，P代表保留站/ROB中的物理寄存器</a:t>
            </a:r>
          </a:p>
        </p:txBody>
      </p:sp>
      <p:sp>
        <p:nvSpPr>
          <p:cNvPr id="9" name="AutoShape 9"/>
          <p:cNvSpPr/>
          <p:nvPr/>
        </p:nvSpPr>
        <p:spPr>
          <a:xfrm>
            <a:off x="6223000" y="1778000"/>
            <a:ext cx="5207000" cy="4318000"/>
          </a:xfrm>
          <a:prstGeom prst="roundRect">
            <a:avLst>
              <a:gd name="adj" fmla="val 3529"/>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6527800" y="2082800"/>
            <a:ext cx="304800" cy="304800"/>
          </a:xfrm>
          <a:prstGeom prst="rect">
            <a:avLst/>
          </a:prstGeom>
        </p:spPr>
      </p:pic>
      <p:sp>
        <p:nvSpPr>
          <p:cNvPr id="11" name="AutoShape 11"/>
          <p:cNvSpPr/>
          <p:nvPr/>
        </p:nvSpPr>
        <p:spPr>
          <a:xfrm>
            <a:off x="6985000" y="2057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执行流程分析 (Execution Flow)</a:t>
            </a:r>
            <a:endParaRPr lang="en-US" sz="1100"/>
          </a:p>
        </p:txBody>
      </p:sp>
      <p:sp>
        <p:nvSpPr>
          <p:cNvPr id="12" name="AutoShape 12"/>
          <p:cNvSpPr/>
          <p:nvPr/>
        </p:nvSpPr>
        <p:spPr>
          <a:xfrm>
            <a:off x="6527800" y="2921000"/>
            <a:ext cx="4597400" cy="279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spcBef>
                <a:spcPct val="0"/>
              </a:spcBef>
              <a:defRPr/>
            </a:pPr>
            <a:r>
              <a:rPr lang="en-US" sz="1400" b="0" i="0" u="none" strike="noStrike">
                <a:solidFill>
                  <a:srgbClr val="374151"/>
                </a:solidFill>
                <a:latin typeface="Noto Sans SC"/>
                <a:ea typeface="Noto Sans SC"/>
                <a:cs typeface="Noto Sans SC"/>
                <a:sym typeface="Noto Sans SC"/>
              </a:rPr>
              <a:t>1.</a:t>
            </a:r>
            <a:r>
              <a:rPr lang="en-US" sz="1400" b="1" i="0" u="none" strike="noStrike">
                <a:solidFill>
                  <a:srgbClr val="374151"/>
                </a:solidFill>
                <a:latin typeface="Noto Sans SC"/>
                <a:ea typeface="Noto Sans SC"/>
                <a:cs typeface="Noto Sans SC"/>
                <a:sym typeface="Noto Sans SC"/>
              </a:rPr>
              <a:t>DIV.D</a:t>
            </a:r>
            <a:r>
              <a:rPr lang="en-US" sz="1400" b="0" i="0" u="none" strike="noStrike">
                <a:solidFill>
                  <a:srgbClr val="374151"/>
                </a:solidFill>
                <a:latin typeface="Noto Sans SC"/>
                <a:ea typeface="Noto Sans SC"/>
                <a:cs typeface="Noto Sans SC"/>
                <a:sym typeface="Noto Sans SC"/>
              </a:rPr>
              <a:t>指令发射：目标逻辑寄存器 F0 被重命名为物理寄存器 P1。</a:t>
            </a:r>
            <a:endParaRPr lang="en-US" sz="1100"/>
          </a:p>
          <a:p>
            <a:pPr indent="0" algn="l">
              <a:lnSpc>
                <a:spcPct val="125000"/>
              </a:lnSpc>
              <a:spcBef>
                <a:spcPts val="1200"/>
              </a:spcBef>
            </a:pPr>
            <a:r>
              <a:rPr lang="en-US" sz="1400" b="0" i="0" u="none" strike="noStrike">
                <a:solidFill>
                  <a:srgbClr val="374151"/>
                </a:solidFill>
                <a:latin typeface="Noto Sans SC"/>
                <a:ea typeface="Noto Sans SC"/>
                <a:cs typeface="Noto Sans SC"/>
                <a:sym typeface="Noto Sans SC"/>
              </a:rPr>
              <a:t>2.</a:t>
            </a:r>
            <a:r>
              <a:rPr lang="en-US" sz="1400" b="1" i="0" u="none" strike="noStrike">
                <a:solidFill>
                  <a:srgbClr val="374151"/>
                </a:solidFill>
                <a:latin typeface="Noto Sans SC"/>
                <a:ea typeface="Noto Sans SC"/>
                <a:cs typeface="Noto Sans SC"/>
                <a:sym typeface="Noto Sans SC"/>
              </a:rPr>
              <a:t>ADD.D</a:t>
            </a:r>
            <a:r>
              <a:rPr lang="en-US" sz="1400" b="0" i="0" u="none" strike="noStrike">
                <a:solidFill>
                  <a:srgbClr val="374151"/>
                </a:solidFill>
                <a:latin typeface="Noto Sans SC"/>
                <a:ea typeface="Noto Sans SC"/>
                <a:cs typeface="Noto Sans SC"/>
                <a:sym typeface="Noto Sans SC"/>
              </a:rPr>
              <a:t>指令发射：目标 F6 重命名为 P2。其源操作数 F0 已映射至 P1，故需等待 P1 的计算结果。</a:t>
            </a:r>
          </a:p>
          <a:p>
            <a:pPr indent="0" algn="l">
              <a:lnSpc>
                <a:spcPct val="125000"/>
              </a:lnSpc>
              <a:spcBef>
                <a:spcPts val="1200"/>
              </a:spcBef>
            </a:pPr>
            <a:r>
              <a:rPr lang="en-US" sz="1400" b="0" i="0" u="none" strike="noStrike">
                <a:solidFill>
                  <a:srgbClr val="374151"/>
                </a:solidFill>
                <a:latin typeface="Noto Sans SC"/>
                <a:ea typeface="Noto Sans SC"/>
                <a:cs typeface="Noto Sans SC"/>
                <a:sym typeface="Noto Sans SC"/>
              </a:rPr>
              <a:t>3.</a:t>
            </a:r>
            <a:r>
              <a:rPr lang="en-US" sz="1400" b="1" i="0" u="none" strike="noStrike">
                <a:solidFill>
                  <a:srgbClr val="374151"/>
                </a:solidFill>
                <a:latin typeface="Noto Sans SC"/>
                <a:ea typeface="Noto Sans SC"/>
                <a:cs typeface="Noto Sans SC"/>
                <a:sym typeface="Noto Sans SC"/>
              </a:rPr>
              <a:t>SUB.D</a:t>
            </a:r>
            <a:r>
              <a:rPr lang="en-US" sz="1400" b="0" i="0" u="none" strike="noStrike">
                <a:solidFill>
                  <a:srgbClr val="374151"/>
                </a:solidFill>
                <a:latin typeface="Noto Sans SC"/>
                <a:ea typeface="Noto Sans SC"/>
                <a:cs typeface="Noto Sans SC"/>
                <a:sym typeface="Noto Sans SC"/>
              </a:rPr>
              <a:t>指令发射：目标 F8 被重命名为 P3。其源操作数 F10/F12 均就绪，因此</a:t>
            </a:r>
            <a:r>
              <a:rPr lang="en-US" sz="1400" b="1" i="0" u="none" strike="noStrike">
                <a:solidFill>
                  <a:srgbClr val="10B981"/>
                </a:solidFill>
                <a:latin typeface="Noto Sans SC"/>
                <a:ea typeface="Noto Sans SC"/>
                <a:cs typeface="Noto Sans SC"/>
                <a:sym typeface="Noto Sans SC"/>
              </a:rPr>
              <a:t>立即开始执行</a:t>
            </a:r>
            <a:r>
              <a:rPr lang="en-US" sz="1400" b="0" i="0" u="none" strike="noStrike">
                <a:solidFill>
                  <a:srgbClr val="374151"/>
                </a:solidFill>
                <a:latin typeface="Noto Sans SC"/>
                <a:ea typeface="Noto Sans SC"/>
                <a:cs typeface="Noto Sans SC"/>
                <a:sym typeface="Noto Sans SC"/>
              </a:rPr>
              <a:t>。</a:t>
            </a:r>
          </a:p>
          <a:p>
            <a:pPr indent="0" algn="l">
              <a:lnSpc>
                <a:spcPct val="116666"/>
              </a:lnSpc>
              <a:spcBef>
                <a:spcPts val="1600"/>
              </a:spcBef>
            </a:pPr>
            <a:r>
              <a:rPr lang="en-US" sz="1400" b="1" i="0" u="none" strike="noStrike">
                <a:solidFill>
                  <a:srgbClr val="3B82F6"/>
                </a:solidFill>
                <a:latin typeface="Noto Sans SC"/>
                <a:ea typeface="Noto Sans SC"/>
                <a:cs typeface="Noto Sans SC"/>
                <a:sym typeface="Noto Sans SC"/>
              </a:rPr>
              <a:t>✨ 关键结论：WAR冒险被彻底消除！</a:t>
            </a:r>
            <a:r>
              <a:rPr lang="en-US" sz="1300" b="0" i="0" u="none" strike="noStrike">
                <a:solidFill>
                  <a:srgbClr val="6B7280"/>
                </a:solidFill>
                <a:latin typeface="Noto Sans SC"/>
                <a:ea typeface="Noto Sans SC"/>
                <a:cs typeface="Noto Sans SC"/>
                <a:sym typeface="Noto Sans SC"/>
              </a:rPr>
              <a:t>SUB.D 指令写入的是新的 P3，与 ADD.D 指令读取的旧 F8 完全独立，无需等待。三条指令实现了高效并行。</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Tomasulo：高性能的代价与回报</a:t>
            </a:r>
            <a:endParaRPr lang="en-US" sz="1100"/>
          </a:p>
        </p:txBody>
      </p:sp>
      <p:sp>
        <p:nvSpPr>
          <p:cNvPr id="4" name="AutoShape 4"/>
          <p:cNvSpPr/>
          <p:nvPr/>
        </p:nvSpPr>
        <p:spPr>
          <a:xfrm>
            <a:off x="762000" y="1524000"/>
            <a:ext cx="5207000" cy="4826000"/>
          </a:xfrm>
          <a:prstGeom prst="roundRect">
            <a:avLst>
              <a:gd name="adj" fmla="val 0"/>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524000"/>
            <a:ext cx="5207000" cy="762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1841500"/>
            <a:ext cx="304800" cy="304800"/>
          </a:xfrm>
          <a:prstGeom prst="rect">
            <a:avLst/>
          </a:prstGeom>
        </p:spPr>
      </p:pic>
      <p:sp>
        <p:nvSpPr>
          <p:cNvPr id="7" name="AutoShape 7"/>
          <p:cNvSpPr/>
          <p:nvPr/>
        </p:nvSpPr>
        <p:spPr>
          <a:xfrm>
            <a:off x="1460500" y="1803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err="1" smtClean="0">
                <a:solidFill>
                  <a:srgbClr val="3B82F6"/>
                </a:solidFill>
                <a:latin typeface="Noto Sans SC"/>
                <a:ea typeface="Noto Sans SC"/>
                <a:cs typeface="Noto Sans SC"/>
                <a:sym typeface="Noto Sans SC"/>
              </a:rPr>
              <a:t>核心优势</a:t>
            </a:r>
            <a:endParaRPr lang="en-US" sz="1100" dirty="0"/>
          </a:p>
        </p:txBody>
      </p:sp>
      <p:sp>
        <p:nvSpPr>
          <p:cNvPr id="8" name="AutoShape 8"/>
          <p:cNvSpPr/>
          <p:nvPr/>
        </p:nvSpPr>
        <p:spPr>
          <a:xfrm>
            <a:off x="1016000" y="2540000"/>
            <a:ext cx="4699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1F2937"/>
                </a:solidFill>
                <a:latin typeface="Noto Sans SC"/>
                <a:ea typeface="Noto Sans SC"/>
                <a:cs typeface="Noto Sans SC"/>
                <a:sym typeface="Noto Sans SC"/>
              </a:rPr>
              <a:t>彻底消除WAR和WAW冒险</a:t>
            </a:r>
            <a:endParaRPr lang="en-US" sz="1100"/>
          </a:p>
          <a:p>
            <a:pPr indent="0" algn="l">
              <a:lnSpc>
                <a:spcPct val="108333"/>
              </a:lnSpc>
            </a:pPr>
            <a:r>
              <a:rPr lang="en-US" sz="1200" b="0" i="0" u="none" strike="noStrike">
                <a:solidFill>
                  <a:srgbClr val="4B5563"/>
                </a:solidFill>
                <a:latin typeface="Noto Sans SC"/>
                <a:ea typeface="Noto Sans SC"/>
                <a:cs typeface="Noto Sans SC"/>
                <a:sym typeface="Noto Sans SC"/>
              </a:rPr>
              <a:t>通过寄存器重命名技术，打破了数据依赖的限制，最大化挖掘指令级并行性(ILP)。</a:t>
            </a:r>
          </a:p>
        </p:txBody>
      </p:sp>
      <p:sp>
        <p:nvSpPr>
          <p:cNvPr id="9" name="AutoShape 9"/>
          <p:cNvSpPr/>
          <p:nvPr/>
        </p:nvSpPr>
        <p:spPr>
          <a:xfrm>
            <a:off x="1016000" y="3556000"/>
            <a:ext cx="4699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1F2937"/>
                </a:solidFill>
                <a:latin typeface="Noto Sans SC"/>
                <a:ea typeface="Noto Sans SC"/>
                <a:cs typeface="Noto Sans SC"/>
                <a:sym typeface="Noto Sans SC"/>
              </a:rPr>
              <a:t>分布式控制，可扩展性强</a:t>
            </a:r>
            <a:endParaRPr lang="en-US" sz="1100"/>
          </a:p>
          <a:p>
            <a:pPr indent="0" algn="l">
              <a:lnSpc>
                <a:spcPct val="108333"/>
              </a:lnSpc>
            </a:pPr>
            <a:r>
              <a:rPr lang="en-US" sz="1200" b="0" i="0" u="none" strike="noStrike">
                <a:solidFill>
                  <a:srgbClr val="4B5563"/>
                </a:solidFill>
                <a:latin typeface="Noto Sans SC"/>
                <a:ea typeface="Noto Sans SC"/>
                <a:cs typeface="Noto Sans SC"/>
                <a:sym typeface="Noto Sans SC"/>
              </a:rPr>
              <a:t>功能单元的独立性设计，让处理器能更轻松地扩展到多发射、超标量甚至多线程架构。</a:t>
            </a:r>
          </a:p>
        </p:txBody>
      </p:sp>
      <p:sp>
        <p:nvSpPr>
          <p:cNvPr id="10" name="AutoShape 10"/>
          <p:cNvSpPr/>
          <p:nvPr/>
        </p:nvSpPr>
        <p:spPr>
          <a:xfrm>
            <a:off x="1016000" y="4572000"/>
            <a:ext cx="4699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1F2937"/>
                </a:solidFill>
                <a:latin typeface="Noto Sans SC"/>
                <a:ea typeface="Noto Sans SC"/>
                <a:cs typeface="Noto Sans SC"/>
                <a:sym typeface="Noto Sans SC"/>
              </a:rPr>
              <a:t>高效的结果传播与低延迟</a:t>
            </a:r>
            <a:endParaRPr lang="en-US" sz="1100"/>
          </a:p>
          <a:p>
            <a:pPr indent="0" algn="l">
              <a:lnSpc>
                <a:spcPct val="108333"/>
              </a:lnSpc>
            </a:pPr>
            <a:r>
              <a:rPr lang="en-US" sz="1200" b="0" i="0" u="none" strike="noStrike">
                <a:solidFill>
                  <a:srgbClr val="4B5563"/>
                </a:solidFill>
                <a:latin typeface="Noto Sans SC"/>
                <a:ea typeface="Noto Sans SC"/>
                <a:cs typeface="Noto Sans SC"/>
                <a:sym typeface="Noto Sans SC"/>
              </a:rPr>
              <a:t>利用公共数据总线(CDB)广播结果，实现结果的快速转发，大幅减少等待时间。</a:t>
            </a:r>
          </a:p>
        </p:txBody>
      </p:sp>
      <p:sp>
        <p:nvSpPr>
          <p:cNvPr id="11" name="AutoShape 11"/>
          <p:cNvSpPr/>
          <p:nvPr/>
        </p:nvSpPr>
        <p:spPr>
          <a:xfrm>
            <a:off x="1016000" y="5461000"/>
            <a:ext cx="4699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1F2937"/>
                </a:solidFill>
                <a:latin typeface="Noto Sans SC"/>
                <a:ea typeface="Noto Sans SC"/>
                <a:cs typeface="Noto Sans SC"/>
                <a:sym typeface="Noto Sans SC"/>
              </a:rPr>
              <a:t>支持乱序执行与精确异常</a:t>
            </a:r>
            <a:endParaRPr lang="en-US" sz="1100"/>
          </a:p>
          <a:p>
            <a:pPr indent="0" algn="l">
              <a:lnSpc>
                <a:spcPct val="108333"/>
              </a:lnSpc>
            </a:pPr>
            <a:r>
              <a:rPr lang="en-US" sz="1200" b="0" i="0" u="none" strike="noStrike">
                <a:solidFill>
                  <a:srgbClr val="4B5563"/>
                </a:solidFill>
                <a:latin typeface="Noto Sans SC"/>
                <a:ea typeface="Noto Sans SC"/>
                <a:cs typeface="Noto Sans SC"/>
                <a:sym typeface="Noto Sans SC"/>
              </a:rPr>
              <a:t>配合重排序缓冲(ROB)，既能实现指令的乱序执行，又能保证指令按序提交，满足现代OS要求。</a:t>
            </a:r>
          </a:p>
        </p:txBody>
      </p:sp>
      <p:sp>
        <p:nvSpPr>
          <p:cNvPr id="12" name="AutoShape 12"/>
          <p:cNvSpPr/>
          <p:nvPr/>
        </p:nvSpPr>
        <p:spPr>
          <a:xfrm>
            <a:off x="6223000" y="1524000"/>
            <a:ext cx="5207000" cy="4826000"/>
          </a:xfrm>
          <a:prstGeom prst="roundRect">
            <a:avLst>
              <a:gd name="adj" fmla="val 0"/>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3" name="AutoShape 13"/>
          <p:cNvSpPr/>
          <p:nvPr/>
        </p:nvSpPr>
        <p:spPr>
          <a:xfrm>
            <a:off x="6223000" y="1524000"/>
            <a:ext cx="5207000" cy="762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6477000" y="1841500"/>
            <a:ext cx="304800" cy="304800"/>
          </a:xfrm>
          <a:prstGeom prst="rect">
            <a:avLst/>
          </a:prstGeom>
        </p:spPr>
      </p:pic>
      <p:sp>
        <p:nvSpPr>
          <p:cNvPr id="15" name="AutoShape 15"/>
          <p:cNvSpPr/>
          <p:nvPr/>
        </p:nvSpPr>
        <p:spPr>
          <a:xfrm>
            <a:off x="6921500" y="1803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err="1" smtClean="0">
                <a:solidFill>
                  <a:srgbClr val="F97316"/>
                </a:solidFill>
                <a:latin typeface="Noto Sans SC"/>
                <a:ea typeface="Noto Sans SC"/>
                <a:cs typeface="Noto Sans SC"/>
                <a:sym typeface="Noto Sans SC"/>
              </a:rPr>
              <a:t>潜在挑战</a:t>
            </a:r>
            <a:endParaRPr lang="en-US" sz="1100" dirty="0"/>
          </a:p>
        </p:txBody>
      </p:sp>
      <p:sp>
        <p:nvSpPr>
          <p:cNvPr id="16" name="AutoShape 16"/>
          <p:cNvSpPr/>
          <p:nvPr/>
        </p:nvSpPr>
        <p:spPr>
          <a:xfrm>
            <a:off x="6477000" y="2540000"/>
            <a:ext cx="4699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1F2937"/>
                </a:solidFill>
                <a:latin typeface="Noto Sans SC"/>
                <a:ea typeface="Noto Sans SC"/>
                <a:cs typeface="Noto Sans SC"/>
                <a:sym typeface="Noto Sans SC"/>
              </a:rPr>
              <a:t>硬件逻辑复杂度极高</a:t>
            </a:r>
            <a:endParaRPr lang="en-US" sz="1100"/>
          </a:p>
          <a:p>
            <a:pPr indent="0" algn="l">
              <a:lnSpc>
                <a:spcPct val="108333"/>
              </a:lnSpc>
            </a:pPr>
            <a:r>
              <a:rPr lang="en-US" sz="1200" b="0" i="0" u="none" strike="noStrike">
                <a:solidFill>
                  <a:srgbClr val="4B5563"/>
                </a:solidFill>
                <a:latin typeface="Noto Sans SC"/>
                <a:ea typeface="Noto Sans SC"/>
                <a:cs typeface="Noto Sans SC"/>
                <a:sym typeface="Noto Sans SC"/>
              </a:rPr>
              <a:t>保留站、CDB、ROB与寄存器重命名等模块交织，控制逻辑非常复杂，极易出现设计漏洞。</a:t>
            </a:r>
          </a:p>
        </p:txBody>
      </p:sp>
      <p:sp>
        <p:nvSpPr>
          <p:cNvPr id="17" name="AutoShape 17"/>
          <p:cNvSpPr/>
          <p:nvPr/>
        </p:nvSpPr>
        <p:spPr>
          <a:xfrm>
            <a:off x="6477000" y="3556000"/>
            <a:ext cx="4699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1F2937"/>
                </a:solidFill>
                <a:latin typeface="Noto Sans SC"/>
                <a:ea typeface="Noto Sans SC"/>
                <a:cs typeface="Noto Sans SC"/>
                <a:sym typeface="Noto Sans SC"/>
              </a:rPr>
              <a:t>巨大的芯片面积与功耗开销</a:t>
            </a:r>
            <a:endParaRPr lang="en-US" sz="1100"/>
          </a:p>
          <a:p>
            <a:pPr indent="0" algn="l">
              <a:lnSpc>
                <a:spcPct val="108333"/>
              </a:lnSpc>
            </a:pPr>
            <a:r>
              <a:rPr lang="en-US" sz="1200" b="0" i="0" u="none" strike="noStrike">
                <a:solidFill>
                  <a:srgbClr val="4B5563"/>
                </a:solidFill>
                <a:latin typeface="Noto Sans SC"/>
                <a:ea typeface="Noto Sans SC"/>
                <a:cs typeface="Noto Sans SC"/>
                <a:sym typeface="Noto Sans SC"/>
              </a:rPr>
              <a:t>需要大量的物理寄存器、保留站条目和复杂的比较电路，这直接转化为高昂的芯片成本与功耗。</a:t>
            </a:r>
          </a:p>
        </p:txBody>
      </p:sp>
      <p:sp>
        <p:nvSpPr>
          <p:cNvPr id="18" name="AutoShape 18"/>
          <p:cNvSpPr/>
          <p:nvPr/>
        </p:nvSpPr>
        <p:spPr>
          <a:xfrm>
            <a:off x="6477000" y="4572000"/>
            <a:ext cx="4699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1F2937"/>
                </a:solidFill>
                <a:latin typeface="Noto Sans SC"/>
                <a:ea typeface="Noto Sans SC"/>
                <a:cs typeface="Noto Sans SC"/>
                <a:sym typeface="Noto Sans SC"/>
              </a:rPr>
              <a:t>CDB 可能成为性能瓶颈</a:t>
            </a:r>
            <a:endParaRPr lang="en-US" sz="1100"/>
          </a:p>
          <a:p>
            <a:pPr indent="0" algn="l">
              <a:lnSpc>
                <a:spcPct val="108333"/>
              </a:lnSpc>
            </a:pPr>
            <a:r>
              <a:rPr lang="en-US" sz="1200" b="0" i="0" u="none" strike="noStrike">
                <a:solidFill>
                  <a:srgbClr val="4B5563"/>
                </a:solidFill>
                <a:latin typeface="Noto Sans SC"/>
                <a:ea typeface="Noto Sans SC"/>
                <a:cs typeface="Noto Sans SC"/>
                <a:sym typeface="Noto Sans SC"/>
              </a:rPr>
              <a:t>在极高并行度的场景下，单条CDB总线可能会成为结果广播的争用热点，限制吞吐率。</a:t>
            </a:r>
          </a:p>
        </p:txBody>
      </p:sp>
      <p:sp>
        <p:nvSpPr>
          <p:cNvPr id="19" name="AutoShape 19"/>
          <p:cNvSpPr/>
          <p:nvPr/>
        </p:nvSpPr>
        <p:spPr>
          <a:xfrm>
            <a:off x="6477000" y="5461000"/>
            <a:ext cx="4699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1F2937"/>
                </a:solidFill>
                <a:latin typeface="Noto Sans SC"/>
                <a:ea typeface="Noto Sans SC"/>
                <a:cs typeface="Noto Sans SC"/>
                <a:sym typeface="Noto Sans SC"/>
              </a:rPr>
              <a:t>漫长的设计与验证周期</a:t>
            </a:r>
            <a:endParaRPr lang="en-US" sz="1100"/>
          </a:p>
          <a:p>
            <a:pPr indent="0" algn="l">
              <a:lnSpc>
                <a:spcPct val="108333"/>
              </a:lnSpc>
            </a:pPr>
            <a:r>
              <a:rPr lang="en-US" sz="1200" b="0" i="0" u="none" strike="noStrike">
                <a:solidFill>
                  <a:srgbClr val="4B5563"/>
                </a:solidFill>
                <a:latin typeface="Noto Sans SC"/>
                <a:ea typeface="Noto Sans SC"/>
                <a:cs typeface="Noto Sans SC"/>
                <a:sym typeface="Noto Sans SC"/>
              </a:rPr>
              <a:t>复杂的异步与并发逻辑使得处理器的功能验证变得极具挑战，拉长了产品上市的时间。</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Scoreboard vs. Tomasulo 核心特性对比</a:t>
            </a:r>
            <a:endParaRPr lang="en-US" sz="1100"/>
          </a:p>
        </p:txBody>
      </p:sp>
      <p:sp>
        <p:nvSpPr>
          <p:cNvPr id="4" name="AutoShape 4"/>
          <p:cNvSpPr/>
          <p:nvPr/>
        </p:nvSpPr>
        <p:spPr>
          <a:xfrm>
            <a:off x="762000" y="1524000"/>
            <a:ext cx="5207000" cy="3556000"/>
          </a:xfrm>
          <a:prstGeom prst="roundRect">
            <a:avLst>
              <a:gd name="adj" fmla="val 428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524000"/>
            <a:ext cx="5207000" cy="635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6510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74151"/>
                </a:solidFill>
                <a:latin typeface="Noto Sans SC"/>
                <a:ea typeface="Noto Sans SC"/>
                <a:cs typeface="Noto Sans SC"/>
                <a:sym typeface="Noto Sans SC"/>
              </a:rPr>
              <a:t>Scoreboard 算法 (基础方案)</a:t>
            </a:r>
            <a:endParaRPr lang="en-US" sz="1100"/>
          </a:p>
        </p:txBody>
      </p:sp>
      <p:sp>
        <p:nvSpPr>
          <p:cNvPr id="7" name="AutoShape 7"/>
          <p:cNvSpPr/>
          <p:nvPr/>
        </p:nvSpPr>
        <p:spPr>
          <a:xfrm>
            <a:off x="952500" y="2413000"/>
            <a:ext cx="2349500" cy="241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6B7280"/>
                </a:solidFill>
                <a:latin typeface="Noto Sans SC"/>
                <a:ea typeface="Noto Sans SC"/>
                <a:cs typeface="Noto Sans SC"/>
                <a:sym typeface="Noto Sans SC"/>
              </a:rPr>
              <a:t>🎯 核心思想：</a:t>
            </a:r>
            <a:r>
              <a:rPr lang="en-US" sz="1300" b="0" i="0" u="none" strike="noStrike">
                <a:solidFill>
                  <a:srgbClr val="374151"/>
                </a:solidFill>
                <a:latin typeface="Noto Sans SC"/>
                <a:ea typeface="Noto Sans SC"/>
                <a:cs typeface="Noto Sans SC"/>
                <a:sym typeface="Noto Sans SC"/>
              </a:rPr>
              <a:t>集中式指令与数据跟踪</a:t>
            </a:r>
            <a:endParaRPr lang="en-US" sz="1100"/>
          </a:p>
          <a:p>
            <a:pPr indent="0" algn="l">
              <a:lnSpc>
                <a:spcPct val="125000"/>
              </a:lnSpc>
            </a:pPr>
            <a:r>
              <a:rPr lang="en-US" sz="1300" b="1" i="0" u="none" strike="noStrike">
                <a:solidFill>
                  <a:srgbClr val="6B7280"/>
                </a:solidFill>
                <a:latin typeface="Noto Sans SC"/>
                <a:ea typeface="Noto Sans SC"/>
                <a:cs typeface="Noto Sans SC"/>
                <a:sym typeface="Noto Sans SC"/>
              </a:rPr>
              <a:t>🔄 寄存器重命名：</a:t>
            </a:r>
            <a:r>
              <a:rPr lang="en-US" sz="1300" b="0" i="0" u="none" strike="noStrike">
                <a:solidFill>
                  <a:srgbClr val="DC2626"/>
                </a:solidFill>
                <a:latin typeface="Noto Sans SC"/>
                <a:ea typeface="Noto Sans SC"/>
                <a:cs typeface="Noto Sans SC"/>
                <a:sym typeface="Noto Sans SC"/>
              </a:rPr>
              <a:t>❌ 不支持，依赖编译优化</a:t>
            </a:r>
          </a:p>
          <a:p>
            <a:pPr indent="0" algn="l">
              <a:lnSpc>
                <a:spcPct val="125000"/>
              </a:lnSpc>
            </a:pPr>
            <a:r>
              <a:rPr lang="en-US" sz="1300" b="1" i="0" u="none" strike="noStrike">
                <a:solidFill>
                  <a:srgbClr val="6B7280"/>
                </a:solidFill>
                <a:latin typeface="Noto Sans SC"/>
                <a:ea typeface="Noto Sans SC"/>
                <a:cs typeface="Noto Sans SC"/>
                <a:sym typeface="Noto Sans SC"/>
              </a:rPr>
              <a:t>⚠️ 冒险处理：</a:t>
            </a:r>
            <a:r>
              <a:rPr lang="en-US" sz="1300" b="0" i="0" u="none" strike="noStrike">
                <a:solidFill>
                  <a:srgbClr val="374151"/>
                </a:solidFill>
                <a:latin typeface="Noto Sans SC"/>
                <a:ea typeface="Noto Sans SC"/>
                <a:cs typeface="Noto Sans SC"/>
                <a:sym typeface="Noto Sans SC"/>
              </a:rPr>
              <a:t>仅解决部分RAW冒险，不支持WAR/WAW</a:t>
            </a:r>
          </a:p>
          <a:p>
            <a:pPr indent="0" algn="l">
              <a:lnSpc>
                <a:spcPct val="125000"/>
              </a:lnSpc>
            </a:pPr>
            <a:r>
              <a:rPr lang="en-US" sz="1300" b="1" i="0" u="none" strike="noStrike">
                <a:solidFill>
                  <a:srgbClr val="6B7280"/>
                </a:solidFill>
                <a:latin typeface="Noto Sans SC"/>
                <a:ea typeface="Noto Sans SC"/>
                <a:cs typeface="Noto Sans SC"/>
                <a:sym typeface="Noto Sans SC"/>
              </a:rPr>
              <a:t>⚙️ 控制方式：</a:t>
            </a:r>
            <a:r>
              <a:rPr lang="en-US" sz="1300" b="0" i="0" u="none" strike="noStrike">
                <a:solidFill>
                  <a:srgbClr val="374151"/>
                </a:solidFill>
                <a:latin typeface="Noto Sans SC"/>
                <a:ea typeface="Noto Sans SC"/>
                <a:cs typeface="Noto Sans SC"/>
                <a:sym typeface="Noto Sans SC"/>
              </a:rPr>
              <a:t>单一集中控制器调度</a:t>
            </a:r>
          </a:p>
        </p:txBody>
      </p:sp>
      <p:sp>
        <p:nvSpPr>
          <p:cNvPr id="8" name="AutoShape 8"/>
          <p:cNvSpPr/>
          <p:nvPr/>
        </p:nvSpPr>
        <p:spPr>
          <a:xfrm>
            <a:off x="3429000" y="2413000"/>
            <a:ext cx="2349500" cy="241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6B7280"/>
                </a:solidFill>
                <a:latin typeface="Noto Sans SC"/>
                <a:ea typeface="Noto Sans SC"/>
                <a:cs typeface="Noto Sans SC"/>
                <a:sym typeface="Noto Sans SC"/>
              </a:rPr>
              <a:t>📉 硬件开销：</a:t>
            </a:r>
            <a:r>
              <a:rPr lang="en-US" sz="1300" b="1" i="0" u="none" strike="noStrike">
                <a:solidFill>
                  <a:srgbClr val="10B981"/>
                </a:solidFill>
                <a:latin typeface="Noto Sans SC"/>
                <a:ea typeface="Noto Sans SC"/>
                <a:cs typeface="Noto Sans SC"/>
                <a:sym typeface="Noto Sans SC"/>
              </a:rPr>
              <a:t>复杂度低 / 面积开销小</a:t>
            </a:r>
            <a:endParaRPr lang="en-US" sz="1100"/>
          </a:p>
          <a:p>
            <a:pPr indent="0" algn="l">
              <a:lnSpc>
                <a:spcPct val="125000"/>
              </a:lnSpc>
            </a:pPr>
            <a:r>
              <a:rPr lang="en-US" sz="1300" b="1" i="0" u="none" strike="noStrike">
                <a:solidFill>
                  <a:srgbClr val="6B7280"/>
                </a:solidFill>
                <a:latin typeface="Noto Sans SC"/>
                <a:ea typeface="Noto Sans SC"/>
                <a:cs typeface="Noto Sans SC"/>
                <a:sym typeface="Noto Sans SC"/>
              </a:rPr>
              <a:t>📈 可扩展性：</a:t>
            </a:r>
            <a:r>
              <a:rPr lang="en-US" sz="1300" b="0" i="0" u="none" strike="noStrike">
                <a:solidFill>
                  <a:srgbClr val="374151"/>
                </a:solidFill>
                <a:latin typeface="Noto Sans SC"/>
                <a:ea typeface="Noto Sans SC"/>
                <a:cs typeface="Noto Sans SC"/>
                <a:sym typeface="Noto Sans SC"/>
              </a:rPr>
              <a:t>差，难以适应多发射结构</a:t>
            </a:r>
          </a:p>
          <a:p>
            <a:pPr indent="0" algn="l">
              <a:lnSpc>
                <a:spcPct val="125000"/>
              </a:lnSpc>
            </a:pPr>
            <a:r>
              <a:rPr lang="en-US" sz="1300" b="1" i="0" u="none" strike="noStrike">
                <a:solidFill>
                  <a:srgbClr val="6B7280"/>
                </a:solidFill>
                <a:latin typeface="Noto Sans SC"/>
                <a:ea typeface="Noto Sans SC"/>
                <a:cs typeface="Noto Sans SC"/>
                <a:sym typeface="Noto Sans SC"/>
              </a:rPr>
              <a:t>🚀 ILP挖掘：</a:t>
            </a:r>
            <a:r>
              <a:rPr lang="en-US" sz="1300" b="0" i="0" u="none" strike="noStrike">
                <a:solidFill>
                  <a:srgbClr val="374151"/>
                </a:solidFill>
                <a:latin typeface="Noto Sans SC"/>
                <a:ea typeface="Noto Sans SC"/>
                <a:cs typeface="Noto Sans SC"/>
                <a:sym typeface="Noto Sans SC"/>
              </a:rPr>
              <a:t>受限于程序顺序和寄存器依赖，能力有限</a:t>
            </a:r>
          </a:p>
          <a:p>
            <a:pPr indent="0" algn="l">
              <a:lnSpc>
                <a:spcPct val="125000"/>
              </a:lnSpc>
            </a:pPr>
            <a:r>
              <a:rPr lang="en-US" sz="1300" b="1" i="0" u="none" strike="noStrike">
                <a:solidFill>
                  <a:srgbClr val="6B7280"/>
                </a:solidFill>
                <a:latin typeface="Noto Sans SC"/>
                <a:ea typeface="Noto Sans SC"/>
                <a:cs typeface="Noto Sans SC"/>
                <a:sym typeface="Noto Sans SC"/>
              </a:rPr>
              <a:t>💻 现状：</a:t>
            </a:r>
            <a:r>
              <a:rPr lang="en-US" sz="1300" b="0" i="0" u="none" strike="noStrike">
                <a:solidFill>
                  <a:srgbClr val="6B7280"/>
                </a:solidFill>
                <a:latin typeface="Noto Sans SC"/>
                <a:ea typeface="Noto Sans SC"/>
                <a:cs typeface="Noto Sans SC"/>
                <a:sym typeface="Noto Sans SC"/>
              </a:rPr>
              <a:t>已淘汰，仅作为理论基础</a:t>
            </a:r>
          </a:p>
        </p:txBody>
      </p:sp>
      <p:sp>
        <p:nvSpPr>
          <p:cNvPr id="9" name="AutoShape 9"/>
          <p:cNvSpPr/>
          <p:nvPr/>
        </p:nvSpPr>
        <p:spPr>
          <a:xfrm>
            <a:off x="6223000" y="1524000"/>
            <a:ext cx="5207000" cy="3556000"/>
          </a:xfrm>
          <a:prstGeom prst="roundRect">
            <a:avLst>
              <a:gd name="adj" fmla="val 4285"/>
            </a:avLst>
          </a:prstGeom>
          <a:solidFill>
            <a:srgbClr val="FFFFFF">
              <a:alpha val="100000"/>
            </a:srgbClr>
          </a:solidFill>
          <a:ln w="25400" cap="flat" cmpd="sng">
            <a:solidFill>
              <a:srgbClr val="3B82F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6223000" y="1524000"/>
            <a:ext cx="5207000" cy="635000"/>
          </a:xfrm>
          <a:prstGeom prst="roundRect">
            <a:avLst>
              <a:gd name="adj" fmla="val 0"/>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413500" y="16510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2563EB"/>
                </a:solidFill>
                <a:latin typeface="Noto Sans SC"/>
                <a:ea typeface="Noto Sans SC"/>
                <a:cs typeface="Noto Sans SC"/>
                <a:sym typeface="Noto Sans SC"/>
              </a:rPr>
              <a:t>Tomasulo 算法 (现代标准)</a:t>
            </a:r>
            <a:endParaRPr lang="en-US" sz="1100"/>
          </a:p>
        </p:txBody>
      </p:sp>
      <p:sp>
        <p:nvSpPr>
          <p:cNvPr id="12" name="AutoShape 12"/>
          <p:cNvSpPr/>
          <p:nvPr/>
        </p:nvSpPr>
        <p:spPr>
          <a:xfrm>
            <a:off x="6413500" y="2413000"/>
            <a:ext cx="2349500" cy="241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2563EB"/>
                </a:solidFill>
                <a:latin typeface="Noto Sans SC"/>
                <a:ea typeface="Noto Sans SC"/>
                <a:cs typeface="Noto Sans SC"/>
                <a:sym typeface="Noto Sans SC"/>
              </a:rPr>
              <a:t>🎯 核心思想：</a:t>
            </a:r>
            <a:r>
              <a:rPr lang="en-US" sz="1300" b="0" i="0" u="none" strike="noStrike">
                <a:solidFill>
                  <a:srgbClr val="1F2937"/>
                </a:solidFill>
                <a:latin typeface="Noto Sans SC"/>
                <a:ea typeface="Noto Sans SC"/>
                <a:cs typeface="Noto Sans SC"/>
                <a:sym typeface="Noto Sans SC"/>
              </a:rPr>
              <a:t>分布式Reservation Station + 公共数据总线(CDB)</a:t>
            </a:r>
            <a:endParaRPr lang="en-US" sz="1100"/>
          </a:p>
          <a:p>
            <a:pPr indent="0" algn="l">
              <a:lnSpc>
                <a:spcPct val="125000"/>
              </a:lnSpc>
            </a:pPr>
            <a:r>
              <a:rPr lang="en-US" sz="1300" b="1" i="0" u="none" strike="noStrike">
                <a:solidFill>
                  <a:srgbClr val="2563EB"/>
                </a:solidFill>
                <a:latin typeface="Noto Sans SC"/>
                <a:ea typeface="Noto Sans SC"/>
                <a:cs typeface="Noto Sans SC"/>
                <a:sym typeface="Noto Sans SC"/>
              </a:rPr>
              <a:t>🔄 寄存器重命名：</a:t>
            </a:r>
            <a:r>
              <a:rPr lang="en-US" sz="1300" b="1" i="0" u="none" strike="noStrike">
                <a:solidFill>
                  <a:srgbClr val="10B981"/>
                </a:solidFill>
                <a:latin typeface="Noto Sans SC"/>
                <a:ea typeface="Noto Sans SC"/>
                <a:cs typeface="Noto Sans SC"/>
                <a:sym typeface="Noto Sans SC"/>
              </a:rPr>
              <a:t>✅ 硬件动态重命名，核心优势</a:t>
            </a:r>
          </a:p>
          <a:p>
            <a:pPr indent="0" algn="l">
              <a:lnSpc>
                <a:spcPct val="125000"/>
              </a:lnSpc>
            </a:pPr>
            <a:r>
              <a:rPr lang="en-US" sz="1300" b="1" i="0" u="none" strike="noStrike">
                <a:solidFill>
                  <a:srgbClr val="2563EB"/>
                </a:solidFill>
                <a:latin typeface="Noto Sans SC"/>
                <a:ea typeface="Noto Sans SC"/>
                <a:cs typeface="Noto Sans SC"/>
                <a:sym typeface="Noto Sans SC"/>
              </a:rPr>
              <a:t>⚠️ 冒险处理：</a:t>
            </a:r>
            <a:r>
              <a:rPr lang="en-US" sz="1300" b="0" i="0" u="none" strike="noStrike">
                <a:solidFill>
                  <a:srgbClr val="1F2937"/>
                </a:solidFill>
                <a:latin typeface="Noto Sans SC"/>
                <a:ea typeface="Noto Sans SC"/>
                <a:cs typeface="Noto Sans SC"/>
                <a:sym typeface="Noto Sans SC"/>
              </a:rPr>
              <a:t>彻底解决 RAW, WAR, WAW 三类数据冒险</a:t>
            </a:r>
          </a:p>
          <a:p>
            <a:pPr indent="0" algn="l">
              <a:lnSpc>
                <a:spcPct val="125000"/>
              </a:lnSpc>
            </a:pPr>
            <a:r>
              <a:rPr lang="en-US" sz="1300" b="1" i="0" u="none" strike="noStrike">
                <a:solidFill>
                  <a:srgbClr val="2563EB"/>
                </a:solidFill>
                <a:latin typeface="Noto Sans SC"/>
                <a:ea typeface="Noto Sans SC"/>
                <a:cs typeface="Noto Sans SC"/>
                <a:sym typeface="Noto Sans SC"/>
              </a:rPr>
              <a:t>⚙️ 控制方式：</a:t>
            </a:r>
            <a:r>
              <a:rPr lang="en-US" sz="1300" b="0" i="0" u="none" strike="noStrike">
                <a:solidFill>
                  <a:srgbClr val="1F2937"/>
                </a:solidFill>
                <a:latin typeface="Noto Sans SC"/>
                <a:ea typeface="Noto Sans SC"/>
                <a:cs typeface="Noto Sans SC"/>
                <a:sym typeface="Noto Sans SC"/>
              </a:rPr>
              <a:t>去中心化，各功能单元自治</a:t>
            </a:r>
          </a:p>
        </p:txBody>
      </p:sp>
      <p:sp>
        <p:nvSpPr>
          <p:cNvPr id="13" name="AutoShape 13"/>
          <p:cNvSpPr/>
          <p:nvPr/>
        </p:nvSpPr>
        <p:spPr>
          <a:xfrm>
            <a:off x="8890000" y="2413000"/>
            <a:ext cx="2349500" cy="241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2563EB"/>
                </a:solidFill>
                <a:latin typeface="Noto Sans SC"/>
                <a:ea typeface="Noto Sans SC"/>
                <a:cs typeface="Noto Sans SC"/>
                <a:sym typeface="Noto Sans SC"/>
              </a:rPr>
              <a:t>📉 硬件开销：</a:t>
            </a:r>
            <a:r>
              <a:rPr lang="en-US" sz="1300" b="0" i="0" u="none" strike="noStrike">
                <a:solidFill>
                  <a:srgbClr val="EF4444"/>
                </a:solidFill>
                <a:latin typeface="Noto Sans SC"/>
                <a:ea typeface="Noto Sans SC"/>
                <a:cs typeface="Noto Sans SC"/>
                <a:sym typeface="Noto Sans SC"/>
              </a:rPr>
              <a:t>复杂度高 / 面积开销大</a:t>
            </a:r>
            <a:endParaRPr lang="en-US" sz="1100"/>
          </a:p>
          <a:p>
            <a:pPr indent="0" algn="l">
              <a:lnSpc>
                <a:spcPct val="125000"/>
              </a:lnSpc>
            </a:pPr>
            <a:r>
              <a:rPr lang="en-US" sz="1300" b="1" i="0" u="none" strike="noStrike">
                <a:solidFill>
                  <a:srgbClr val="2563EB"/>
                </a:solidFill>
                <a:latin typeface="Noto Sans SC"/>
                <a:ea typeface="Noto Sans SC"/>
                <a:cs typeface="Noto Sans SC"/>
                <a:sym typeface="Noto Sans SC"/>
              </a:rPr>
              <a:t>📈 可扩展性：</a:t>
            </a:r>
            <a:r>
              <a:rPr lang="en-US" sz="1300" b="0" i="0" u="none" strike="noStrike">
                <a:solidFill>
                  <a:srgbClr val="1F2937"/>
                </a:solidFill>
                <a:latin typeface="Noto Sans SC"/>
                <a:ea typeface="Noto Sans SC"/>
                <a:cs typeface="Noto Sans SC"/>
                <a:sym typeface="Noto Sans SC"/>
              </a:rPr>
              <a:t>优秀，支持大规模多发射处理器</a:t>
            </a:r>
          </a:p>
          <a:p>
            <a:pPr indent="0" algn="l">
              <a:lnSpc>
                <a:spcPct val="125000"/>
              </a:lnSpc>
            </a:pPr>
            <a:r>
              <a:rPr lang="en-US" sz="1300" b="1" i="0" u="none" strike="noStrike">
                <a:solidFill>
                  <a:srgbClr val="2563EB"/>
                </a:solidFill>
                <a:latin typeface="Noto Sans SC"/>
                <a:ea typeface="Noto Sans SC"/>
                <a:cs typeface="Noto Sans SC"/>
                <a:sym typeface="Noto Sans SC"/>
              </a:rPr>
              <a:t>🚀 ILP挖掘：</a:t>
            </a:r>
            <a:r>
              <a:rPr lang="en-US" sz="1300" b="0" i="0" u="none" strike="noStrike">
                <a:solidFill>
                  <a:srgbClr val="1F2937"/>
                </a:solidFill>
                <a:latin typeface="Noto Sans SC"/>
                <a:ea typeface="Noto Sans SC"/>
                <a:cs typeface="Noto Sans SC"/>
                <a:sym typeface="Noto Sans SC"/>
              </a:rPr>
              <a:t>能充分挖掘程序指令级并行潜力</a:t>
            </a:r>
          </a:p>
          <a:p>
            <a:pPr indent="0" algn="l">
              <a:lnSpc>
                <a:spcPct val="125000"/>
              </a:lnSpc>
            </a:pPr>
            <a:r>
              <a:rPr lang="en-US" sz="1300" b="1" i="0" u="none" strike="noStrike">
                <a:solidFill>
                  <a:srgbClr val="2563EB"/>
                </a:solidFill>
                <a:latin typeface="Noto Sans SC"/>
                <a:ea typeface="Noto Sans SC"/>
                <a:cs typeface="Noto Sans SC"/>
                <a:sym typeface="Noto Sans SC"/>
              </a:rPr>
              <a:t>💻 现状：</a:t>
            </a:r>
            <a:r>
              <a:rPr lang="en-US" sz="1300" b="0" i="0" u="none" strike="noStrike">
                <a:solidFill>
                  <a:srgbClr val="1F2937"/>
                </a:solidFill>
                <a:latin typeface="Noto Sans SC"/>
                <a:ea typeface="Noto Sans SC"/>
                <a:cs typeface="Noto Sans SC"/>
                <a:sym typeface="Noto Sans SC"/>
              </a:rPr>
              <a:t>所有现代高性能CPU乱序执行的基石</a:t>
            </a:r>
          </a:p>
        </p:txBody>
      </p:sp>
      <p:sp>
        <p:nvSpPr>
          <p:cNvPr id="14" name="AutoShape 14"/>
          <p:cNvSpPr/>
          <p:nvPr/>
        </p:nvSpPr>
        <p:spPr>
          <a:xfrm>
            <a:off x="762000" y="5397500"/>
            <a:ext cx="10668000" cy="1143000"/>
          </a:xfrm>
          <a:prstGeom prst="roundRect">
            <a:avLst>
              <a:gd name="adj" fmla="val 13333"/>
            </a:avLst>
          </a:prstGeom>
          <a:solidFill>
            <a:srgbClr val="1E3A8A">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79500" y="5651500"/>
            <a:ext cx="609600" cy="609600"/>
          </a:xfrm>
          <a:prstGeom prst="rect">
            <a:avLst/>
          </a:prstGeom>
        </p:spPr>
      </p:pic>
      <p:sp>
        <p:nvSpPr>
          <p:cNvPr id="16" name="AutoShape 16"/>
          <p:cNvSpPr/>
          <p:nvPr/>
        </p:nvSpPr>
        <p:spPr>
          <a:xfrm>
            <a:off x="2032000" y="5588000"/>
            <a:ext cx="9017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关键结论：</a:t>
            </a:r>
            <a:r>
              <a:rPr lang="en-US" sz="1400" b="0" i="0" u="none" strike="noStrike">
                <a:solidFill>
                  <a:srgbClr val="DBEAFE"/>
                </a:solidFill>
                <a:latin typeface="Noto Sans SC"/>
                <a:ea typeface="Noto Sans SC"/>
                <a:cs typeface="Noto Sans SC"/>
                <a:sym typeface="Noto Sans SC"/>
              </a:rPr>
              <a:t>Tomasulo算法通过引入硬件寄存器重命名和分布式Reservation Station控制，解决了Scoreboard算法的局限性，成为了现代高性能乱序执行处理器的标准架构方案。</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案例研究：香山南湖架构的Tomasulo实现</a:t>
            </a:r>
            <a:endParaRPr lang="en-US" sz="1100"/>
          </a:p>
        </p:txBody>
      </p:sp>
      <p:pic>
        <p:nvPicPr>
          <p:cNvPr id="4" name="Picture 4"/>
          <p:cNvPicPr>
            <a:picLocks noChangeAspect="1"/>
          </p:cNvPicPr>
          <p:nvPr/>
        </p:nvPicPr>
        <p:blipFill>
          <a:blip r:embed="rId4"/>
          <a:srcRect l="22646" r="22646"/>
          <a:stretch>
            <a:fillRect/>
          </a:stretch>
        </p:blipFill>
        <p:spPr>
          <a:xfrm>
            <a:off x="762000" y="1905000"/>
            <a:ext cx="4318000" cy="4191000"/>
          </a:xfrm>
          <a:prstGeom prst="roundRect">
            <a:avLst>
              <a:gd name="adj" fmla="val 3636"/>
            </a:avLst>
          </a:prstGeom>
          <a:noFill/>
          <a:ln w="50800" cap="flat" cmpd="sng">
            <a:solidFill>
              <a:srgbClr val="FFFFFF">
                <a:alpha val="100000"/>
              </a:srgbClr>
            </a:solidFill>
            <a:prstDash val="solid"/>
            <a:round/>
          </a:ln>
          <a:effectLst>
            <a:outerShdw blurRad="444500" dist="190500" dir="2700000" algn="tl" rotWithShape="0">
              <a:srgbClr val="000000">
                <a:alpha val="25000"/>
              </a:srgbClr>
            </a:outerShdw>
          </a:effectLst>
        </p:spPr>
      </p:pic>
      <p:sp>
        <p:nvSpPr>
          <p:cNvPr id="5" name="AutoShape 5"/>
          <p:cNvSpPr/>
          <p:nvPr/>
        </p:nvSpPr>
        <p:spPr>
          <a:xfrm>
            <a:off x="5588000" y="1778000"/>
            <a:ext cx="5842000" cy="1206500"/>
          </a:xfrm>
          <a:prstGeom prst="roundRect">
            <a:avLst>
              <a:gd name="adj" fmla="val 8421"/>
            </a:avLst>
          </a:prstGeom>
          <a:solidFill>
            <a:srgbClr val="FFFFFF">
              <a:alpha val="9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6" name="AutoShape 6"/>
          <p:cNvSpPr/>
          <p:nvPr/>
        </p:nvSpPr>
        <p:spPr>
          <a:xfrm>
            <a:off x="5778500" y="1968500"/>
            <a:ext cx="5461000" cy="8255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1" i="0" u="none" strike="noStrike">
                <a:solidFill>
                  <a:srgbClr val="374151"/>
                </a:solidFill>
                <a:latin typeface="Noto Sans SC"/>
                <a:ea typeface="Noto Sans SC"/>
                <a:cs typeface="Noto Sans SC"/>
                <a:sym typeface="Noto Sans SC"/>
              </a:rPr>
              <a:t>背景：</a:t>
            </a:r>
            <a:r>
              <a:rPr lang="en-US" sz="1300" b="0" i="0" u="none" strike="noStrike">
                <a:solidFill>
                  <a:srgbClr val="374151"/>
                </a:solidFill>
                <a:latin typeface="Noto Sans SC"/>
                <a:ea typeface="Noto Sans SC"/>
                <a:cs typeface="Noto Sans SC"/>
                <a:sym typeface="Noto Sans SC"/>
              </a:rPr>
              <a:t>香山 (XiangShan) 是一款由中科院计算所主导开发的高性能开源 RISC-V 处理器。其</a:t>
            </a:r>
            <a:r>
              <a:rPr lang="en-US" sz="1300" b="1" i="0" u="none" strike="noStrike">
                <a:solidFill>
                  <a:srgbClr val="374151"/>
                </a:solidFill>
                <a:latin typeface="Noto Sans SC"/>
                <a:ea typeface="Noto Sans SC"/>
                <a:cs typeface="Noto Sans SC"/>
                <a:sym typeface="Noto Sans SC"/>
              </a:rPr>
              <a:t>“南湖 (Nanhu)”</a:t>
            </a:r>
            <a:r>
              <a:rPr lang="en-US" sz="1300" b="0" i="0" u="none" strike="noStrike">
                <a:solidFill>
                  <a:srgbClr val="374151"/>
                </a:solidFill>
                <a:latin typeface="Noto Sans SC"/>
                <a:ea typeface="Noto Sans SC"/>
                <a:cs typeface="Noto Sans SC"/>
                <a:sym typeface="Noto Sans SC"/>
              </a:rPr>
              <a:t>微架构版本，核心计算单元采用了经典的</a:t>
            </a:r>
            <a:r>
              <a:rPr lang="en-US" sz="1300" b="1" i="0" u="none" strike="noStrike">
                <a:solidFill>
                  <a:srgbClr val="374151"/>
                </a:solidFill>
                <a:latin typeface="Noto Sans SC"/>
                <a:ea typeface="Noto Sans SC"/>
                <a:cs typeface="Noto Sans SC"/>
                <a:sym typeface="Noto Sans SC"/>
              </a:rPr>
              <a:t>Tomasulo 动态调度算法</a:t>
            </a:r>
            <a:r>
              <a:rPr lang="en-US" sz="1300" b="0" i="0" u="none" strike="noStrike">
                <a:solidFill>
                  <a:srgbClr val="374151"/>
                </a:solidFill>
                <a:latin typeface="Noto Sans SC"/>
                <a:ea typeface="Noto Sans SC"/>
                <a:cs typeface="Noto Sans SC"/>
                <a:sym typeface="Noto Sans SC"/>
              </a:rPr>
              <a:t>，以实现高吞吐率的乱序执行能力。</a:t>
            </a:r>
            <a:endParaRPr lang="en-US" sz="1100"/>
          </a:p>
        </p:txBody>
      </p:sp>
      <p:sp>
        <p:nvSpPr>
          <p:cNvPr id="7" name="AutoShape 7"/>
          <p:cNvSpPr/>
          <p:nvPr/>
        </p:nvSpPr>
        <p:spPr>
          <a:xfrm>
            <a:off x="5588000" y="3175000"/>
            <a:ext cx="2794000" cy="1143000"/>
          </a:xfrm>
          <a:prstGeom prst="roundRect">
            <a:avLst>
              <a:gd name="adj" fmla="val 8888"/>
            </a:avLst>
          </a:prstGeom>
          <a:solidFill>
            <a:srgbClr val="FFFFFF">
              <a:alpha val="9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8" name="AutoShape 8"/>
          <p:cNvSpPr/>
          <p:nvPr/>
        </p:nvSpPr>
        <p:spPr>
          <a:xfrm>
            <a:off x="5588000" y="3175000"/>
            <a:ext cx="76200" cy="1143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5842000" y="3302000"/>
            <a:ext cx="2286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发射宽度 (Issue Width)</a:t>
            </a:r>
            <a:endParaRPr lang="en-US" sz="1100"/>
          </a:p>
          <a:p>
            <a:pPr indent="0" algn="l">
              <a:lnSpc>
                <a:spcPct val="125000"/>
              </a:lnSpc>
              <a:spcBef>
                <a:spcPts val="600"/>
              </a:spcBef>
            </a:pPr>
            <a:r>
              <a:rPr lang="en-US" sz="1800" b="1" i="0" u="none" strike="noStrike">
                <a:solidFill>
                  <a:srgbClr val="3B82F6"/>
                </a:solidFill>
                <a:latin typeface="Noto Sans SC"/>
                <a:ea typeface="Noto Sans SC"/>
                <a:cs typeface="Noto Sans SC"/>
                <a:sym typeface="Noto Sans SC"/>
              </a:rPr>
              <a:t>4 条指令 / 周期</a:t>
            </a:r>
          </a:p>
        </p:txBody>
      </p:sp>
      <p:sp>
        <p:nvSpPr>
          <p:cNvPr id="10" name="AutoShape 10"/>
          <p:cNvSpPr/>
          <p:nvPr/>
        </p:nvSpPr>
        <p:spPr>
          <a:xfrm>
            <a:off x="8636000" y="3175000"/>
            <a:ext cx="2794000" cy="1143000"/>
          </a:xfrm>
          <a:prstGeom prst="roundRect">
            <a:avLst>
              <a:gd name="adj" fmla="val 8888"/>
            </a:avLst>
          </a:prstGeom>
          <a:solidFill>
            <a:srgbClr val="FFFFFF">
              <a:alpha val="9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8636000" y="3175000"/>
            <a:ext cx="76200" cy="1143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8890000" y="3302000"/>
            <a:ext cx="2286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重排序缓冲区 (ROB)</a:t>
            </a:r>
            <a:endParaRPr lang="en-US" sz="1100"/>
          </a:p>
          <a:p>
            <a:pPr indent="0" algn="l">
              <a:lnSpc>
                <a:spcPct val="125000"/>
              </a:lnSpc>
              <a:spcBef>
                <a:spcPts val="600"/>
              </a:spcBef>
            </a:pPr>
            <a:r>
              <a:rPr lang="en-US" sz="1800" b="1" i="0" u="none" strike="noStrike">
                <a:solidFill>
                  <a:srgbClr val="3B82F6"/>
                </a:solidFill>
                <a:latin typeface="Noto Sans SC"/>
                <a:ea typeface="Noto Sans SC"/>
                <a:cs typeface="Noto Sans SC"/>
                <a:sym typeface="Noto Sans SC"/>
              </a:rPr>
              <a:t>256 项 (Entries)</a:t>
            </a:r>
          </a:p>
        </p:txBody>
      </p:sp>
      <p:sp>
        <p:nvSpPr>
          <p:cNvPr id="13" name="AutoShape 13"/>
          <p:cNvSpPr/>
          <p:nvPr/>
        </p:nvSpPr>
        <p:spPr>
          <a:xfrm>
            <a:off x="5588000" y="4572000"/>
            <a:ext cx="2794000" cy="1143000"/>
          </a:xfrm>
          <a:prstGeom prst="roundRect">
            <a:avLst>
              <a:gd name="adj" fmla="val 8888"/>
            </a:avLst>
          </a:prstGeom>
          <a:solidFill>
            <a:srgbClr val="FFFFFF">
              <a:alpha val="9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5588000" y="4572000"/>
            <a:ext cx="76200" cy="1143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5842000" y="4699000"/>
            <a:ext cx="2286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物理寄存器堆 (PRF)</a:t>
            </a:r>
            <a:endParaRPr lang="en-US" sz="1100"/>
          </a:p>
          <a:p>
            <a:pPr indent="0" algn="l">
              <a:lnSpc>
                <a:spcPct val="125000"/>
              </a:lnSpc>
              <a:spcBef>
                <a:spcPts val="600"/>
              </a:spcBef>
            </a:pPr>
            <a:r>
              <a:rPr lang="en-US" sz="1400" b="1" i="0" u="none" strike="noStrike">
                <a:solidFill>
                  <a:srgbClr val="3B82F6"/>
                </a:solidFill>
                <a:latin typeface="Noto Sans SC"/>
                <a:ea typeface="Noto Sans SC"/>
                <a:cs typeface="Noto Sans SC"/>
                <a:sym typeface="Noto Sans SC"/>
              </a:rPr>
              <a:t>192 (Int) + 192 (FP)</a:t>
            </a:r>
          </a:p>
        </p:txBody>
      </p:sp>
      <p:sp>
        <p:nvSpPr>
          <p:cNvPr id="16" name="AutoShape 16"/>
          <p:cNvSpPr/>
          <p:nvPr/>
        </p:nvSpPr>
        <p:spPr>
          <a:xfrm>
            <a:off x="8636000" y="4572000"/>
            <a:ext cx="2794000" cy="1143000"/>
          </a:xfrm>
          <a:prstGeom prst="roundRect">
            <a:avLst>
              <a:gd name="adj" fmla="val 8888"/>
            </a:avLst>
          </a:prstGeom>
          <a:solidFill>
            <a:srgbClr val="FFFFFF">
              <a:alpha val="9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7" name="AutoShape 17"/>
          <p:cNvSpPr/>
          <p:nvPr/>
        </p:nvSpPr>
        <p:spPr>
          <a:xfrm>
            <a:off x="8636000" y="4572000"/>
            <a:ext cx="76200" cy="1143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890000" y="4699000"/>
            <a:ext cx="2286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保留站 (Reservation Stations)</a:t>
            </a:r>
            <a:endParaRPr lang="en-US" sz="1100"/>
          </a:p>
          <a:p>
            <a:pPr indent="0" algn="l">
              <a:lnSpc>
                <a:spcPct val="125000"/>
              </a:lnSpc>
              <a:spcBef>
                <a:spcPts val="600"/>
              </a:spcBef>
            </a:pPr>
            <a:r>
              <a:rPr lang="en-US" sz="1400" b="1" i="0" u="none" strike="noStrike">
                <a:solidFill>
                  <a:srgbClr val="3B82F6"/>
                </a:solidFill>
                <a:latin typeface="Noto Sans SC"/>
                <a:ea typeface="Noto Sans SC"/>
                <a:cs typeface="Noto Sans SC"/>
                <a:sym typeface="Noto Sans SC"/>
              </a:rPr>
              <a:t>32 (Int) + 24 (FP)</a:t>
            </a:r>
          </a:p>
        </p:txBody>
      </p:sp>
      <p:sp>
        <p:nvSpPr>
          <p:cNvPr id="19" name="AutoShape 19"/>
          <p:cNvSpPr/>
          <p:nvPr/>
        </p:nvSpPr>
        <p:spPr>
          <a:xfrm>
            <a:off x="5588000" y="5842000"/>
            <a:ext cx="5842000" cy="889000"/>
          </a:xfrm>
          <a:prstGeom prst="roundRect">
            <a:avLst>
              <a:gd name="adj" fmla="val 11428"/>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5778500" y="5994400"/>
            <a:ext cx="558800" cy="558800"/>
          </a:xfrm>
          <a:prstGeom prst="rect">
            <a:avLst/>
          </a:prstGeom>
        </p:spPr>
      </p:pic>
      <p:sp>
        <p:nvSpPr>
          <p:cNvPr id="21" name="AutoShape 21"/>
          <p:cNvSpPr/>
          <p:nvPr/>
        </p:nvSpPr>
        <p:spPr>
          <a:xfrm>
            <a:off x="6604000" y="5994400"/>
            <a:ext cx="4699000" cy="584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公共数据总线 (CDB) ：</a:t>
            </a:r>
            <a:r>
              <a:rPr lang="en-US" sz="1600" b="1" i="0" u="none" strike="noStrike">
                <a:solidFill>
                  <a:srgbClr val="2563EB"/>
                </a:solidFill>
                <a:latin typeface="Noto Sans SC"/>
                <a:ea typeface="Noto Sans SC"/>
                <a:cs typeface="Noto Sans SC"/>
                <a:sym typeface="Noto Sans SC"/>
              </a:rPr>
              <a:t>4 条 （支持高并发广播）</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香山Tomasulo实现的设计亮点</a:t>
            </a:r>
            <a:endParaRPr lang="en-US" sz="1100"/>
          </a:p>
        </p:txBody>
      </p:sp>
      <p:sp>
        <p:nvSpPr>
          <p:cNvPr id="4" name="AutoShape 4"/>
          <p:cNvSpPr/>
          <p:nvPr/>
        </p:nvSpPr>
        <p:spPr>
          <a:xfrm>
            <a:off x="762000" y="1778000"/>
            <a:ext cx="5207000" cy="21590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778000"/>
            <a:ext cx="76200" cy="2159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92200" y="2032000"/>
            <a:ext cx="406400" cy="406400"/>
          </a:xfrm>
          <a:prstGeom prst="rect">
            <a:avLst/>
          </a:prstGeom>
        </p:spPr>
      </p:pic>
      <p:sp>
        <p:nvSpPr>
          <p:cNvPr id="7" name="AutoShape 7"/>
          <p:cNvSpPr/>
          <p:nvPr/>
        </p:nvSpPr>
        <p:spPr>
          <a:xfrm>
            <a:off x="1778000" y="1968500"/>
            <a:ext cx="3937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分层式保留站设计</a:t>
            </a:r>
            <a:endParaRPr lang="en-US" sz="1100"/>
          </a:p>
        </p:txBody>
      </p:sp>
      <p:sp>
        <p:nvSpPr>
          <p:cNvPr id="8" name="AutoShape 8"/>
          <p:cNvSpPr/>
          <p:nvPr/>
        </p:nvSpPr>
        <p:spPr>
          <a:xfrm>
            <a:off x="1778000" y="2667000"/>
            <a:ext cx="39370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将整数和浮点指令的保留站分离，提高了整体的资源利用率，并大幅提升了指令分发的并行效率。</a:t>
            </a:r>
            <a:endParaRPr lang="en-US" sz="1100"/>
          </a:p>
        </p:txBody>
      </p:sp>
      <p:sp>
        <p:nvSpPr>
          <p:cNvPr id="9" name="AutoShape 9"/>
          <p:cNvSpPr/>
          <p:nvPr/>
        </p:nvSpPr>
        <p:spPr>
          <a:xfrm>
            <a:off x="6223000" y="1778000"/>
            <a:ext cx="5207000" cy="21590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6223000" y="1778000"/>
            <a:ext cx="76200" cy="2159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6553200" y="2032000"/>
            <a:ext cx="406400" cy="406400"/>
          </a:xfrm>
          <a:prstGeom prst="rect">
            <a:avLst/>
          </a:prstGeom>
        </p:spPr>
      </p:pic>
      <p:sp>
        <p:nvSpPr>
          <p:cNvPr id="12" name="AutoShape 12"/>
          <p:cNvSpPr/>
          <p:nvPr/>
        </p:nvSpPr>
        <p:spPr>
          <a:xfrm>
            <a:off x="7239000" y="1968500"/>
            <a:ext cx="3937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多CDB架构</a:t>
            </a:r>
            <a:endParaRPr lang="en-US" sz="1100"/>
          </a:p>
        </p:txBody>
      </p:sp>
      <p:sp>
        <p:nvSpPr>
          <p:cNvPr id="13" name="AutoShape 13"/>
          <p:cNvSpPr/>
          <p:nvPr/>
        </p:nvSpPr>
        <p:spPr>
          <a:xfrm>
            <a:off x="7239000" y="2667000"/>
            <a:ext cx="39370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创新性地采用4条独立的公共数据总线（CDB），有效缓解了总线带宽瓶颈，是处理器实现4发射高吞吐率的关键架构基础。</a:t>
            </a:r>
            <a:endParaRPr lang="en-US" sz="1100"/>
          </a:p>
        </p:txBody>
      </p:sp>
      <p:sp>
        <p:nvSpPr>
          <p:cNvPr id="14" name="AutoShape 14"/>
          <p:cNvSpPr/>
          <p:nvPr/>
        </p:nvSpPr>
        <p:spPr>
          <a:xfrm>
            <a:off x="762000" y="4191000"/>
            <a:ext cx="5207000" cy="21590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762000" y="4191000"/>
            <a:ext cx="76200" cy="2159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1092200" y="4445000"/>
            <a:ext cx="406400" cy="406400"/>
          </a:xfrm>
          <a:prstGeom prst="rect">
            <a:avLst/>
          </a:prstGeom>
        </p:spPr>
      </p:pic>
      <p:sp>
        <p:nvSpPr>
          <p:cNvPr id="17" name="AutoShape 17"/>
          <p:cNvSpPr/>
          <p:nvPr/>
        </p:nvSpPr>
        <p:spPr>
          <a:xfrm>
            <a:off x="1778000" y="4381500"/>
            <a:ext cx="3937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物理寄存器堆优化</a:t>
            </a:r>
            <a:endParaRPr lang="en-US" sz="1100"/>
          </a:p>
        </p:txBody>
      </p:sp>
      <p:sp>
        <p:nvSpPr>
          <p:cNvPr id="18" name="AutoShape 18"/>
          <p:cNvSpPr/>
          <p:nvPr/>
        </p:nvSpPr>
        <p:spPr>
          <a:xfrm>
            <a:off x="1778000" y="5080000"/>
            <a:ext cx="39370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将整数与浮点物理寄存器堆物理分离，并配合读写端口分区设计，在降低电路设计复杂度的同时，显著降低了功耗。</a:t>
            </a:r>
            <a:endParaRPr lang="en-US" sz="1100"/>
          </a:p>
        </p:txBody>
      </p:sp>
      <p:sp>
        <p:nvSpPr>
          <p:cNvPr id="19" name="AutoShape 19"/>
          <p:cNvSpPr/>
          <p:nvPr/>
        </p:nvSpPr>
        <p:spPr>
          <a:xfrm>
            <a:off x="6223000" y="4191000"/>
            <a:ext cx="5207000" cy="21590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0" name="AutoShape 20"/>
          <p:cNvSpPr/>
          <p:nvPr/>
        </p:nvSpPr>
        <p:spPr>
          <a:xfrm>
            <a:off x="6223000" y="4191000"/>
            <a:ext cx="76200" cy="2159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6553200" y="4445000"/>
            <a:ext cx="406400" cy="406400"/>
          </a:xfrm>
          <a:prstGeom prst="rect">
            <a:avLst/>
          </a:prstGeom>
        </p:spPr>
      </p:pic>
      <p:sp>
        <p:nvSpPr>
          <p:cNvPr id="22" name="AutoShape 22"/>
          <p:cNvSpPr/>
          <p:nvPr/>
        </p:nvSpPr>
        <p:spPr>
          <a:xfrm>
            <a:off x="7239000" y="4381500"/>
            <a:ext cx="3937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精确异常处理</a:t>
            </a:r>
            <a:endParaRPr lang="en-US" sz="1100"/>
          </a:p>
        </p:txBody>
      </p:sp>
      <p:sp>
        <p:nvSpPr>
          <p:cNvPr id="23" name="AutoShape 23"/>
          <p:cNvSpPr/>
          <p:nvPr/>
        </p:nvSpPr>
        <p:spPr>
          <a:xfrm>
            <a:off x="7239000" y="5080000"/>
            <a:ext cx="39370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集成大型重排序缓冲器（ROB）以确保指令最终按程序顺序提交，完美支持精确异常检测和外部中断响应。</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从Scoreboard到Tomasulo：乱序执行的演进之路</a:t>
            </a:r>
            <a:endParaRPr lang="en-US" sz="1100"/>
          </a:p>
        </p:txBody>
      </p:sp>
      <p:sp>
        <p:nvSpPr>
          <p:cNvPr id="4" name="AutoShape 4"/>
          <p:cNvSpPr/>
          <p:nvPr/>
        </p:nvSpPr>
        <p:spPr>
          <a:xfrm>
            <a:off x="762000" y="1778000"/>
            <a:ext cx="3302000" cy="20320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778000"/>
            <a:ext cx="3302000" cy="508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2082800"/>
            <a:ext cx="355600" cy="355600"/>
          </a:xfrm>
          <a:prstGeom prst="rect">
            <a:avLst/>
          </a:prstGeom>
        </p:spPr>
      </p:pic>
      <p:sp>
        <p:nvSpPr>
          <p:cNvPr id="7" name="AutoShape 7"/>
          <p:cNvSpPr/>
          <p:nvPr/>
        </p:nvSpPr>
        <p:spPr>
          <a:xfrm>
            <a:off x="1524000" y="2032000"/>
            <a:ext cx="2286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动态调度技术</a:t>
            </a:r>
            <a:endParaRPr lang="en-US" sz="1100"/>
          </a:p>
        </p:txBody>
      </p:sp>
      <p:sp>
        <p:nvSpPr>
          <p:cNvPr id="8" name="AutoShape 8"/>
          <p:cNvSpPr/>
          <p:nvPr/>
        </p:nvSpPr>
        <p:spPr>
          <a:xfrm>
            <a:off x="1016000" y="26670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解决指令间的依赖关系，挖掘指令级并行性 (ILP) 的关键手段，让处理器不再按序等待。</a:t>
            </a:r>
            <a:endParaRPr lang="en-US" sz="1100"/>
          </a:p>
        </p:txBody>
      </p:sp>
      <p:sp>
        <p:nvSpPr>
          <p:cNvPr id="9" name="AutoShape 9"/>
          <p:cNvSpPr/>
          <p:nvPr/>
        </p:nvSpPr>
        <p:spPr>
          <a:xfrm>
            <a:off x="4445000" y="1778000"/>
            <a:ext cx="3302000" cy="20320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4445000" y="1778000"/>
            <a:ext cx="3302000" cy="508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4699000" y="2082800"/>
            <a:ext cx="355600" cy="355600"/>
          </a:xfrm>
          <a:prstGeom prst="rect">
            <a:avLst/>
          </a:prstGeom>
        </p:spPr>
      </p:pic>
      <p:sp>
        <p:nvSpPr>
          <p:cNvPr id="12" name="AutoShape 12"/>
          <p:cNvSpPr/>
          <p:nvPr/>
        </p:nvSpPr>
        <p:spPr>
          <a:xfrm>
            <a:off x="5207000" y="2032000"/>
            <a:ext cx="2286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Scoreboard 算法</a:t>
            </a:r>
            <a:endParaRPr lang="en-US" sz="1100"/>
          </a:p>
        </p:txBody>
      </p:sp>
      <p:sp>
        <p:nvSpPr>
          <p:cNvPr id="13" name="AutoShape 13"/>
          <p:cNvSpPr/>
          <p:nvPr/>
        </p:nvSpPr>
        <p:spPr>
          <a:xfrm>
            <a:off x="4699000" y="26670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乱序执行的开山之作，但受限于集中式控制架构，无法有效处理 WAR/WAW 冒险，可扩展性较弱。</a:t>
            </a:r>
            <a:endParaRPr lang="en-US" sz="1100"/>
          </a:p>
        </p:txBody>
      </p:sp>
      <p:sp>
        <p:nvSpPr>
          <p:cNvPr id="14" name="AutoShape 14"/>
          <p:cNvSpPr/>
          <p:nvPr/>
        </p:nvSpPr>
        <p:spPr>
          <a:xfrm>
            <a:off x="8128000" y="1778000"/>
            <a:ext cx="3302000" cy="20320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8128000" y="1778000"/>
            <a:ext cx="3302000" cy="508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8382000" y="2082800"/>
            <a:ext cx="355600" cy="355600"/>
          </a:xfrm>
          <a:prstGeom prst="rect">
            <a:avLst/>
          </a:prstGeom>
        </p:spPr>
      </p:pic>
      <p:sp>
        <p:nvSpPr>
          <p:cNvPr id="17" name="AutoShape 17"/>
          <p:cNvSpPr/>
          <p:nvPr/>
        </p:nvSpPr>
        <p:spPr>
          <a:xfrm>
            <a:off x="8890000" y="2032000"/>
            <a:ext cx="2286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Tomasulo 算法</a:t>
            </a:r>
            <a:endParaRPr lang="en-US" sz="1100"/>
          </a:p>
        </p:txBody>
      </p:sp>
      <p:sp>
        <p:nvSpPr>
          <p:cNvPr id="18" name="AutoShape 18"/>
          <p:cNvSpPr/>
          <p:nvPr/>
        </p:nvSpPr>
        <p:spPr>
          <a:xfrm>
            <a:off x="8382000" y="26670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现代乱序执行基石。三大创新：</a:t>
            </a:r>
            <a:r>
              <a:rPr lang="en-US" sz="1300" b="1" i="0" u="none" strike="noStrike">
                <a:solidFill>
                  <a:srgbClr val="3B82F6"/>
                </a:solidFill>
                <a:latin typeface="Noto Sans SC"/>
                <a:ea typeface="Noto Sans SC"/>
                <a:cs typeface="Noto Sans SC"/>
                <a:sym typeface="Noto Sans SC"/>
              </a:rPr>
              <a:t>寄存器重命名、分布式保留站、公共数据总线 (CDB)</a:t>
            </a:r>
            <a:r>
              <a:rPr lang="en-US" sz="1300" b="0" i="0" u="none" strike="noStrike">
                <a:solidFill>
                  <a:srgbClr val="4B5563"/>
                </a:solidFill>
                <a:latin typeface="Noto Sans SC"/>
                <a:ea typeface="Noto Sans SC"/>
                <a:cs typeface="Noto Sans SC"/>
                <a:sym typeface="Noto Sans SC"/>
              </a:rPr>
              <a:t>，彻底解决了Scoreboard的缺陷。</a:t>
            </a:r>
            <a:endParaRPr lang="en-US" sz="1100"/>
          </a:p>
        </p:txBody>
      </p:sp>
      <p:sp>
        <p:nvSpPr>
          <p:cNvPr id="19" name="AutoShape 19"/>
          <p:cNvSpPr/>
          <p:nvPr/>
        </p:nvSpPr>
        <p:spPr>
          <a:xfrm>
            <a:off x="762000" y="4191000"/>
            <a:ext cx="5270500" cy="20320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0" name="AutoShape 20"/>
          <p:cNvSpPr/>
          <p:nvPr/>
        </p:nvSpPr>
        <p:spPr>
          <a:xfrm>
            <a:off x="762000" y="4191000"/>
            <a:ext cx="5270500" cy="508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1016000" y="4495800"/>
            <a:ext cx="355600" cy="355600"/>
          </a:xfrm>
          <a:prstGeom prst="rect">
            <a:avLst/>
          </a:prstGeom>
        </p:spPr>
      </p:pic>
      <p:sp>
        <p:nvSpPr>
          <p:cNvPr id="22" name="AutoShape 22"/>
          <p:cNvSpPr/>
          <p:nvPr/>
        </p:nvSpPr>
        <p:spPr>
          <a:xfrm>
            <a:off x="1524000" y="4445000"/>
            <a:ext cx="4191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核心差异对比</a:t>
            </a:r>
            <a:endParaRPr lang="en-US" sz="1100"/>
          </a:p>
        </p:txBody>
      </p:sp>
      <p:sp>
        <p:nvSpPr>
          <p:cNvPr id="23" name="AutoShape 23"/>
          <p:cNvSpPr/>
          <p:nvPr/>
        </p:nvSpPr>
        <p:spPr>
          <a:xfrm>
            <a:off x="1016000" y="5080000"/>
            <a:ext cx="47625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Tomasulo在冒险处理能力、可扩展性和性能潜力上全面超越Scoreboard。但为了换取更高的并行度，其设计也引入了更高的硬件复杂度与面积开销。</a:t>
            </a:r>
            <a:endParaRPr lang="en-US" sz="1100"/>
          </a:p>
        </p:txBody>
      </p:sp>
      <p:sp>
        <p:nvSpPr>
          <p:cNvPr id="24" name="AutoShape 24"/>
          <p:cNvSpPr/>
          <p:nvPr/>
        </p:nvSpPr>
        <p:spPr>
          <a:xfrm>
            <a:off x="6159500" y="4191000"/>
            <a:ext cx="5270500" cy="20320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5" name="AutoShape 25"/>
          <p:cNvSpPr/>
          <p:nvPr/>
        </p:nvSpPr>
        <p:spPr>
          <a:xfrm>
            <a:off x="6159500" y="4191000"/>
            <a:ext cx="5270500" cy="508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xmlns="" r:embed="rId13"/>
              </a:ext>
            </a:extLst>
          </a:blip>
          <a:stretch>
            <a:fillRect/>
          </a:stretch>
        </p:blipFill>
        <p:spPr>
          <a:xfrm>
            <a:off x="6413500" y="4495800"/>
            <a:ext cx="355600" cy="355600"/>
          </a:xfrm>
          <a:prstGeom prst="rect">
            <a:avLst/>
          </a:prstGeom>
        </p:spPr>
      </p:pic>
      <p:sp>
        <p:nvSpPr>
          <p:cNvPr id="27" name="AutoShape 27"/>
          <p:cNvSpPr/>
          <p:nvPr/>
        </p:nvSpPr>
        <p:spPr>
          <a:xfrm>
            <a:off x="6921500" y="4445000"/>
            <a:ext cx="4191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“香山” 开源处理器实践</a:t>
            </a:r>
            <a:endParaRPr lang="en-US" sz="1100"/>
          </a:p>
        </p:txBody>
      </p:sp>
      <p:sp>
        <p:nvSpPr>
          <p:cNvPr id="28" name="AutoShape 28"/>
          <p:cNvSpPr/>
          <p:nvPr/>
        </p:nvSpPr>
        <p:spPr>
          <a:xfrm>
            <a:off x="6413500" y="5080000"/>
            <a:ext cx="47625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作为一款追求高性能的开源 RISC-V 处理器核，“香山”采用了基于 Tomasulo 架构的乱序流水线设计，充分证明了该算法仍是现代高性能处理器设计的主流选择。</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9FAFB">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进阶思考与拓展</a:t>
            </a:r>
            <a:endParaRPr lang="en-US" sz="1100"/>
          </a:p>
        </p:txBody>
      </p:sp>
      <p:sp>
        <p:nvSpPr>
          <p:cNvPr id="4" name="AutoShape 4"/>
          <p:cNvSpPr/>
          <p:nvPr/>
        </p:nvSpPr>
        <p:spPr>
          <a:xfrm>
            <a:off x="762000" y="1651000"/>
            <a:ext cx="5207000" cy="4572000"/>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66800" y="1955800"/>
            <a:ext cx="355600" cy="355600"/>
          </a:xfrm>
          <a:prstGeom prst="rect">
            <a:avLst/>
          </a:prstGeom>
        </p:spPr>
      </p:pic>
      <p:sp>
        <p:nvSpPr>
          <p:cNvPr id="6" name="AutoShape 6"/>
          <p:cNvSpPr/>
          <p:nvPr/>
        </p:nvSpPr>
        <p:spPr>
          <a:xfrm>
            <a:off x="1574800" y="1930400"/>
            <a:ext cx="381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深度思考 · 核心追问</a:t>
            </a:r>
            <a:endParaRPr lang="en-US" sz="1100"/>
          </a:p>
        </p:txBody>
      </p:sp>
      <p:sp>
        <p:nvSpPr>
          <p:cNvPr id="7" name="AutoShape 7"/>
          <p:cNvSpPr/>
          <p:nvPr/>
        </p:nvSpPr>
        <p:spPr>
          <a:xfrm>
            <a:off x="1066800" y="2794000"/>
            <a:ext cx="50800" cy="762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270000" y="2730500"/>
            <a:ext cx="4381500" cy="952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111827"/>
                </a:solidFill>
                <a:latin typeface="Noto Sans SC"/>
                <a:ea typeface="Noto Sans SC"/>
                <a:cs typeface="Noto Sans SC"/>
                <a:sym typeface="Noto Sans SC"/>
              </a:rPr>
              <a:t>资源受限场景的算法抉择</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在低功耗IoT设备或嵌入式芯片中，Scoreboard 相比 Tomasulo 算法在硬件成本与功耗上有何优势？在什么场景下它反而是更优解？</a:t>
            </a:r>
            <a:endParaRPr lang="en-US" sz="1100"/>
          </a:p>
        </p:txBody>
      </p:sp>
      <p:sp>
        <p:nvSpPr>
          <p:cNvPr id="9" name="AutoShape 9"/>
          <p:cNvSpPr/>
          <p:nvPr/>
        </p:nvSpPr>
        <p:spPr>
          <a:xfrm>
            <a:off x="1066800" y="3937000"/>
            <a:ext cx="50800" cy="762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1270000" y="3873500"/>
            <a:ext cx="4381500" cy="952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111827"/>
                </a:solidFill>
                <a:latin typeface="Noto Sans SC"/>
                <a:ea typeface="Noto Sans SC"/>
                <a:cs typeface="Noto Sans SC"/>
                <a:sym typeface="Noto Sans SC"/>
              </a:rPr>
              <a:t>ROB 大小的物理极限</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现代处理器的乱序执行窗口（ROB）为何鲜有超过512项的设计？限制其规模进一步扩大的瓶颈是面积、功耗还是延迟？</a:t>
            </a:r>
            <a:endParaRPr lang="en-US" sz="1100"/>
          </a:p>
        </p:txBody>
      </p:sp>
      <p:sp>
        <p:nvSpPr>
          <p:cNvPr id="11" name="AutoShape 11"/>
          <p:cNvSpPr/>
          <p:nvPr/>
        </p:nvSpPr>
        <p:spPr>
          <a:xfrm>
            <a:off x="1066800" y="5080000"/>
            <a:ext cx="50800" cy="762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1270000" y="5016500"/>
            <a:ext cx="43815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111827"/>
                </a:solidFill>
                <a:latin typeface="Noto Sans SC"/>
                <a:ea typeface="Noto Sans SC"/>
                <a:cs typeface="Noto Sans SC"/>
                <a:sym typeface="Noto Sans SC"/>
              </a:rPr>
              <a:t>SMT 与乱序执行的协同</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超线程（SMT）技术是如何与 Tomasulo 算法的保留站、ROB 等模块结合，最大化利用处理器资源并提升整体吞吐量的？</a:t>
            </a:r>
            <a:endParaRPr lang="en-US" sz="1100"/>
          </a:p>
        </p:txBody>
      </p:sp>
      <p:sp>
        <p:nvSpPr>
          <p:cNvPr id="13" name="AutoShape 13"/>
          <p:cNvSpPr/>
          <p:nvPr/>
        </p:nvSpPr>
        <p:spPr>
          <a:xfrm>
            <a:off x="6223000" y="1651000"/>
            <a:ext cx="5207000" cy="4572000"/>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6527800" y="1955800"/>
            <a:ext cx="355600" cy="355600"/>
          </a:xfrm>
          <a:prstGeom prst="rect">
            <a:avLst/>
          </a:prstGeom>
        </p:spPr>
      </p:pic>
      <p:sp>
        <p:nvSpPr>
          <p:cNvPr id="15" name="AutoShape 15"/>
          <p:cNvSpPr/>
          <p:nvPr/>
        </p:nvSpPr>
        <p:spPr>
          <a:xfrm>
            <a:off x="7035800" y="1930400"/>
            <a:ext cx="381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拓展视野 · 技术延伸</a:t>
            </a:r>
            <a:endParaRPr lang="en-US" sz="1100"/>
          </a:p>
        </p:txBody>
      </p:sp>
      <p:sp>
        <p:nvSpPr>
          <p:cNvPr id="16" name="AutoShape 16"/>
          <p:cNvSpPr/>
          <p:nvPr/>
        </p:nvSpPr>
        <p:spPr>
          <a:xfrm>
            <a:off x="6527800" y="2794000"/>
            <a:ext cx="50800" cy="762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731000" y="2730500"/>
            <a:ext cx="4381500" cy="952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111827"/>
                </a:solidFill>
                <a:latin typeface="Noto Sans SC"/>
                <a:ea typeface="Noto Sans SC"/>
                <a:cs typeface="Noto Sans SC"/>
                <a:sym typeface="Noto Sans SC"/>
              </a:rPr>
              <a:t>Tomasulo 算法的架构演进</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探索从经典的纯 Tomasulo 架构，到现代高性能处理器中融合了重排序缓冲器（ROB）、分支预测与推测执行的流水线演变。</a:t>
            </a:r>
            <a:endParaRPr lang="en-US" sz="1100"/>
          </a:p>
        </p:txBody>
      </p:sp>
      <p:sp>
        <p:nvSpPr>
          <p:cNvPr id="18" name="AutoShape 18"/>
          <p:cNvSpPr/>
          <p:nvPr/>
        </p:nvSpPr>
        <p:spPr>
          <a:xfrm>
            <a:off x="6527800" y="3937000"/>
            <a:ext cx="50800" cy="762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6731000" y="3873500"/>
            <a:ext cx="4381500" cy="952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111827"/>
                </a:solidFill>
                <a:latin typeface="Noto Sans SC"/>
                <a:ea typeface="Noto Sans SC"/>
                <a:cs typeface="Noto Sans SC"/>
                <a:sym typeface="Noto Sans SC"/>
              </a:rPr>
              <a:t>寄存器重命名的工程实现</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对比分析“基于重命名映射表 (RAT)”与“基于交换 (Exchange)”两种主流策略在延迟与复杂度上的区别。</a:t>
            </a:r>
            <a:endParaRPr lang="en-US" sz="1100"/>
          </a:p>
        </p:txBody>
      </p:sp>
      <p:sp>
        <p:nvSpPr>
          <p:cNvPr id="20" name="AutoShape 20"/>
          <p:cNvSpPr/>
          <p:nvPr/>
        </p:nvSpPr>
        <p:spPr>
          <a:xfrm>
            <a:off x="6527800" y="5080000"/>
            <a:ext cx="50800" cy="762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6731000" y="5016500"/>
            <a:ext cx="43815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111827"/>
                </a:solidFill>
                <a:latin typeface="Noto Sans SC"/>
                <a:ea typeface="Noto Sans SC"/>
                <a:cs typeface="Noto Sans SC"/>
                <a:sym typeface="Noto Sans SC"/>
              </a:rPr>
              <a:t>访存指令的依赖预测机制</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深入研究 Store/Load 队列 (SLQ) 如何高效处理 Load 与 Store 指令间的地址依赖，解决乱序执行中的“内存墙”问题。</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778000"/>
            <a:ext cx="12192000" cy="165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9600" b="1" i="0" u="none" strike="noStrike">
                <a:solidFill>
                  <a:srgbClr val="FFFFFF"/>
                </a:solidFill>
                <a:latin typeface="Noto Sans SC"/>
                <a:ea typeface="Noto Sans SC"/>
                <a:cs typeface="Noto Sans SC"/>
                <a:sym typeface="Noto Sans SC"/>
              </a:rPr>
              <a:t>Q &amp; A</a:t>
            </a:r>
            <a:endParaRPr lang="en-US" sz="1100"/>
          </a:p>
        </p:txBody>
      </p:sp>
      <p:sp>
        <p:nvSpPr>
          <p:cNvPr id="4" name="AutoShape 4"/>
          <p:cNvSpPr/>
          <p:nvPr/>
        </p:nvSpPr>
        <p:spPr>
          <a:xfrm>
            <a:off x="5715000" y="3683000"/>
            <a:ext cx="762000" cy="508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0" y="4191000"/>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FFFFF">
                    <a:alpha val="94902"/>
                  </a:srgbClr>
                </a:solidFill>
                <a:latin typeface="Noto Sans SC"/>
                <a:ea typeface="Noto Sans SC"/>
                <a:cs typeface="Noto Sans SC"/>
                <a:sym typeface="Noto Sans SC"/>
              </a:rPr>
              <a:t>感谢聆听！</a:t>
            </a:r>
            <a:endParaRPr lang="en-US" sz="1100"/>
          </a:p>
        </p:txBody>
      </p:sp>
      <p:sp>
        <p:nvSpPr>
          <p:cNvPr id="6" name="AutoShape 6"/>
          <p:cNvSpPr/>
          <p:nvPr/>
        </p:nvSpPr>
        <p:spPr>
          <a:xfrm>
            <a:off x="0" y="5461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spc="300">
                <a:solidFill>
                  <a:srgbClr val="FFFFFF">
                    <a:alpha val="60000"/>
                  </a:srgbClr>
                </a:solidFill>
                <a:latin typeface="Noto Sans SC"/>
                <a:ea typeface="Noto Sans SC"/>
                <a:cs typeface="Noto Sans SC"/>
                <a:sym typeface="Noto Sans SC"/>
              </a:rPr>
              <a:t>THANKS FOR LISTENING</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1755</Words>
  <Application>Microsoft Office PowerPoint</Application>
  <PresentationFormat>宽屏</PresentationFormat>
  <Paragraphs>285</Paragraphs>
  <Slides>20</Slides>
  <Notes>20</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20</vt:i4>
      </vt:variant>
    </vt:vector>
  </HeadingPairs>
  <TitlesOfParts>
    <vt:vector size="26" baseType="lpstr">
      <vt:lpstr>Noto Sans SC</vt:lpstr>
      <vt:lpstr>Roboto Mono</vt:lpstr>
      <vt:lpstr>Source Code Pro</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KYTSJ-0043</cp:lastModifiedBy>
  <cp:revision>1</cp:revision>
  <dcterms:modified xsi:type="dcterms:W3CDTF">2026-05-12T06:46:20Z</dcterms:modified>
</cp:coreProperties>
</file>